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5143500" cx="9144000"/>
  <p:notesSz cx="5143500" cy="9144000"/>
  <p:embeddedFontLst>
    <p:embeddedFont>
      <p:font typeface="Neuton"/>
      <p:regular r:id="rId18"/>
      <p:bold r:id="rId19"/>
      <p:italic r:id="rId20"/>
    </p:embeddedFont>
    <p:embeddedFont>
      <p:font typeface="Open Sans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ieXDL1erOY+9mdRpisdytoS+oyK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font" Target="fonts/Neuton-regular.fntdata"/><Relationship Id="rId19" Type="http://schemas.openxmlformats.org/officeDocument/2006/relationships/font" Target="fonts/Neuton-bold.fntdata"/><Relationship Id="rId20" Type="http://schemas.openxmlformats.org/officeDocument/2006/relationships/font" Target="fonts/Neuton-italic.fntdata"/><Relationship Id="rId21" Type="http://schemas.openxmlformats.org/officeDocument/2006/relationships/font" Target="fonts/OpenSans-regular.fntdata"/><Relationship Id="rId22" Type="http://schemas.openxmlformats.org/officeDocument/2006/relationships/font" Target="fonts/OpenSans-bold.fntdata"/><Relationship Id="rId23" Type="http://schemas.openxmlformats.org/officeDocument/2006/relationships/font" Target="fonts/OpenSans-italic.fntdata"/><Relationship Id="rId24" Type="http://schemas.openxmlformats.org/officeDocument/2006/relationships/font" Target="fonts/OpenSans-boldItalic.fntdata"/><Relationship Id="rId25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" name="Google Shape;4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7" name="Google Shape;31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1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2.png"/><Relationship Id="rId4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Relationship Id="rId4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1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image" Target="../media/image23.png"/><Relationship Id="rId5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9F5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7796212" y="3762375"/>
            <a:ext cx="2171700" cy="2171700"/>
          </a:xfrm>
          <a:prstGeom prst="ellipse">
            <a:avLst/>
          </a:prstGeom>
          <a:solidFill>
            <a:srgbClr val="FFC5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-471487" y="2185988"/>
            <a:ext cx="1895475" cy="1895475"/>
          </a:xfrm>
          <a:prstGeom prst="ellipse">
            <a:avLst/>
          </a:prstGeom>
          <a:solidFill>
            <a:srgbClr val="2DABC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476250" y="1166813"/>
            <a:ext cx="8191500" cy="2571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999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88"/>
              <a:buFont typeface="Neuton"/>
              <a:buNone/>
            </a:pPr>
            <a:r>
              <a:rPr b="0" i="0" lang="en-US" sz="10688" u="none" cap="none" strike="noStrike">
                <a:solidFill>
                  <a:srgbClr val="000000"/>
                </a:solidFill>
                <a:latin typeface="Neuton"/>
                <a:ea typeface="Neuton"/>
                <a:cs typeface="Neuton"/>
                <a:sym typeface="Neuton"/>
              </a:rPr>
              <a:t>Liminal Space
x EverMemOS</a:t>
            </a:r>
            <a:endParaRPr b="0" i="0" sz="106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8999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88"/>
              <a:buFont typeface="Neuton"/>
              <a:buNone/>
            </a:pPr>
            <a:r>
              <a:rPr b="0" i="0" lang="en-US" sz="10688" u="none" cap="none" strike="noStrike">
                <a:solidFill>
                  <a:srgbClr val="000000"/>
                </a:solidFill>
                <a:latin typeface="Neuton"/>
                <a:ea typeface="Neuton"/>
                <a:cs typeface="Neuton"/>
                <a:sym typeface="Neuton"/>
              </a:rPr>
              <a:t>Template</a:t>
            </a:r>
            <a:endParaRPr b="0" i="0" sz="106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3990975" y="-933450"/>
            <a:ext cx="1866900" cy="1866900"/>
          </a:xfrm>
          <a:prstGeom prst="ellipse">
            <a:avLst/>
          </a:prstGeom>
          <a:solidFill>
            <a:srgbClr val="FFC5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476250" y="219075"/>
            <a:ext cx="6288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3"/>
              <a:buFont typeface="Open Sans"/>
              <a:buNone/>
            </a:pPr>
            <a:r>
              <a:rPr b="1" lang="en-US" sz="713">
                <a:latin typeface="Open Sans"/>
                <a:ea typeface="Open Sans"/>
                <a:cs typeface="Open Sans"/>
                <a:sym typeface="Open Sans"/>
              </a:rPr>
              <a:t>Memory Genesis 2026</a:t>
            </a:r>
            <a:endParaRPr b="0" i="0" sz="7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476250" y="4595813"/>
            <a:ext cx="62865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3"/>
              <a:buFont typeface="Open Sans"/>
              <a:buNone/>
            </a:pPr>
            <a:r>
              <a:rPr b="1" i="0" lang="en-US" sz="713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EVERMIND.AI</a:t>
            </a:r>
            <a:endParaRPr b="0" i="0" sz="7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8181975" y="219075"/>
            <a:ext cx="471488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99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3"/>
              <a:buFont typeface="Open Sans"/>
              <a:buNone/>
            </a:pPr>
            <a:r>
              <a:rPr b="1" i="0" lang="en-US" sz="713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APR 2026</a:t>
            </a:r>
            <a:endParaRPr b="0" i="0" sz="7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" name="Google Shape;2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56765" y="4538663"/>
            <a:ext cx="1197293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9F5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"/>
          <p:cNvSpPr/>
          <p:nvPr/>
        </p:nvSpPr>
        <p:spPr>
          <a:xfrm>
            <a:off x="314325" y="409575"/>
            <a:ext cx="8191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25"/>
              <a:buFont typeface="Neuton"/>
              <a:buNone/>
            </a:pPr>
            <a:r>
              <a:rPr b="0" i="0" lang="en-US" sz="7125" u="none" cap="none" strike="noStrike">
                <a:solidFill>
                  <a:srgbClr val="000000"/>
                </a:solidFill>
                <a:latin typeface="Neuton"/>
                <a:ea typeface="Neuton"/>
                <a:cs typeface="Neuton"/>
                <a:sym typeface="Neuton"/>
              </a:rPr>
              <a:t>Memory for who you're becoming</a:t>
            </a:r>
            <a:endParaRPr b="0" i="0" sz="7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476250" y="4267200"/>
            <a:ext cx="2633663" cy="352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476250" y="4267200"/>
            <a:ext cx="2633663" cy="2047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53"/>
              </a:lnSpc>
              <a:spcBef>
                <a:spcPts val="0"/>
              </a:spcBef>
              <a:spcAft>
                <a:spcPts val="0"/>
              </a:spcAft>
              <a:buClr>
                <a:srgbClr val="2DABC2"/>
              </a:buClr>
              <a:buSzPts val="1283"/>
              <a:buFont typeface="Open Sans"/>
              <a:buNone/>
            </a:pPr>
            <a:r>
              <a:rPr lang="en-US" sz="1283">
                <a:solidFill>
                  <a:srgbClr val="2DABC2"/>
                </a:solidFill>
                <a:latin typeface="Open Sans"/>
                <a:ea typeface="Open Sans"/>
                <a:cs typeface="Open Sans"/>
                <a:sym typeface="Open Sans"/>
              </a:rPr>
              <a:t>Grand Finale</a:t>
            </a:r>
            <a:endParaRPr b="0" i="0" sz="12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476250" y="4471988"/>
            <a:ext cx="2633663" cy="147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94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5"/>
              <a:buFont typeface="Open Sans"/>
              <a:buNone/>
            </a:pPr>
            <a:r>
              <a:rPr b="0" i="0" lang="en-US" sz="855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Structured Confrontation Engine</a:t>
            </a:r>
            <a:endParaRPr b="0" i="0" sz="8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3252788" y="4267200"/>
            <a:ext cx="2605088" cy="352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3252788" y="4267200"/>
            <a:ext cx="2605088" cy="2047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53"/>
              </a:lnSpc>
              <a:spcBef>
                <a:spcPts val="0"/>
              </a:spcBef>
              <a:spcAft>
                <a:spcPts val="0"/>
              </a:spcAft>
              <a:buClr>
                <a:srgbClr val="2DABC2"/>
              </a:buClr>
              <a:buSzPts val="1283"/>
              <a:buFont typeface="Open Sans"/>
              <a:buNone/>
            </a:pPr>
            <a:r>
              <a:rPr lang="en-US" sz="1283">
                <a:solidFill>
                  <a:srgbClr val="2DABC2"/>
                </a:solidFill>
                <a:latin typeface="Open Sans"/>
                <a:ea typeface="Open Sans"/>
                <a:cs typeface="Open Sans"/>
                <a:sym typeface="Open Sans"/>
              </a:rPr>
              <a:t>Shruti Rajagopal</a:t>
            </a:r>
            <a:endParaRPr b="0" i="0" sz="12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3252788" y="4471988"/>
            <a:ext cx="2605088" cy="147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94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5"/>
              <a:buFont typeface="Open Sans"/>
              <a:buNone/>
            </a:pPr>
            <a:r>
              <a:rPr lang="en-US" sz="855">
                <a:latin typeface="Open Sans"/>
                <a:ea typeface="Open Sans"/>
                <a:cs typeface="Open Sans"/>
                <a:sym typeface="Open Sans"/>
              </a:rPr>
              <a:t>Founder &amp; CEO</a:t>
            </a:r>
            <a:endParaRPr b="0" i="0" sz="8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" name="Google Shape;36;p2"/>
          <p:cNvCxnSpPr/>
          <p:nvPr/>
        </p:nvCxnSpPr>
        <p:spPr>
          <a:xfrm>
            <a:off x="476250" y="4124324"/>
            <a:ext cx="81915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preencoded.png" id="37" name="Google Shape;3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72263" y="4281488"/>
            <a:ext cx="1995487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8" name="Google Shape;38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57875" y="409575"/>
            <a:ext cx="2809875" cy="25669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E8D8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"/>
          <p:cNvSpPr/>
          <p:nvPr/>
        </p:nvSpPr>
        <p:spPr>
          <a:xfrm>
            <a:off x="476250" y="2071688"/>
            <a:ext cx="3948112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ABC2"/>
              </a:buClr>
              <a:buSzPts val="7125"/>
              <a:buFont typeface="Neuton"/>
              <a:buNone/>
            </a:pPr>
            <a:r>
              <a:rPr b="0" i="0" lang="en-US" sz="7125" u="none" cap="none" strike="noStrike">
                <a:solidFill>
                  <a:srgbClr val="2DABC2"/>
                </a:solidFill>
                <a:latin typeface="Neuton"/>
                <a:ea typeface="Neuton"/>
                <a:cs typeface="Neuton"/>
                <a:sym typeface="Neuton"/>
              </a:rPr>
              <a:t>Agenda</a:t>
            </a:r>
            <a:endParaRPr b="0" i="0" sz="7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476250" y="219075"/>
            <a:ext cx="542925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3"/>
              <a:buFont typeface="Open Sans"/>
              <a:buNone/>
            </a:pPr>
            <a:r>
              <a:rPr b="1" i="0" lang="en-US" sz="713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SLIDE TITLE</a:t>
            </a:r>
            <a:endParaRPr b="0" i="0" sz="7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5324475" y="1562100"/>
            <a:ext cx="3328988" cy="2466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3"/>
          <p:cNvSpPr/>
          <p:nvPr/>
        </p:nvSpPr>
        <p:spPr>
          <a:xfrm>
            <a:off x="5324475" y="1562100"/>
            <a:ext cx="3328988" cy="2047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5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83"/>
              <a:buFont typeface="Open Sans"/>
              <a:buNone/>
            </a:pPr>
            <a:r>
              <a:rPr b="0" i="0" lang="en-US" sz="1283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The Problem: AI Amnesia → Confrontation</a:t>
            </a:r>
            <a:endParaRPr b="0" i="0" sz="12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" name="Google Shape;48;p3"/>
          <p:cNvCxnSpPr/>
          <p:nvPr/>
        </p:nvCxnSpPr>
        <p:spPr>
          <a:xfrm>
            <a:off x="5324475" y="1890713"/>
            <a:ext cx="3328988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" name="Google Shape;49;p3"/>
          <p:cNvSpPr/>
          <p:nvPr/>
        </p:nvSpPr>
        <p:spPr>
          <a:xfrm>
            <a:off x="5324475" y="2014538"/>
            <a:ext cx="3328988" cy="2047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5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83"/>
              <a:buFont typeface="Open Sans"/>
              <a:buNone/>
            </a:pPr>
            <a:r>
              <a:rPr b="0" i="0" lang="en-US" sz="1283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Live Demo: Day 1 → Day 90</a:t>
            </a:r>
            <a:endParaRPr b="0" i="0" sz="12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" name="Google Shape;50;p3"/>
          <p:cNvCxnSpPr/>
          <p:nvPr/>
        </p:nvCxnSpPr>
        <p:spPr>
          <a:xfrm>
            <a:off x="5324475" y="2343150"/>
            <a:ext cx="3328988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3"/>
          <p:cNvSpPr/>
          <p:nvPr/>
        </p:nvSpPr>
        <p:spPr>
          <a:xfrm>
            <a:off x="5324475" y="2466975"/>
            <a:ext cx="3328988" cy="2047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5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83"/>
              <a:buFont typeface="Open Sans"/>
              <a:buNone/>
            </a:pPr>
            <a:r>
              <a:rPr b="0" i="0" lang="en-US" sz="1283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The Flywheel: Claim → Response → Correction</a:t>
            </a:r>
            <a:endParaRPr b="0" i="0" sz="12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" name="Google Shape;52;p3"/>
          <p:cNvCxnSpPr/>
          <p:nvPr/>
        </p:nvCxnSpPr>
        <p:spPr>
          <a:xfrm>
            <a:off x="5324475" y="2795588"/>
            <a:ext cx="3328988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" name="Google Shape;53;p3"/>
          <p:cNvSpPr/>
          <p:nvPr/>
        </p:nvSpPr>
        <p:spPr>
          <a:xfrm>
            <a:off x="5324475" y="2919413"/>
            <a:ext cx="3328988" cy="2047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5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83"/>
              <a:buFont typeface="Open Sans"/>
              <a:buNone/>
            </a:pPr>
            <a:r>
              <a:rPr b="0" i="0" lang="en-US" sz="1283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Architecture: 3 Channels, 16th Handler</a:t>
            </a:r>
            <a:endParaRPr b="0" i="0" sz="12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" name="Google Shape;54;p3"/>
          <p:cNvCxnSpPr/>
          <p:nvPr/>
        </p:nvCxnSpPr>
        <p:spPr>
          <a:xfrm>
            <a:off x="5324475" y="3248025"/>
            <a:ext cx="3328988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" name="Google Shape;55;p3"/>
          <p:cNvSpPr/>
          <p:nvPr/>
        </p:nvSpPr>
        <p:spPr>
          <a:xfrm>
            <a:off x="5324475" y="3371850"/>
            <a:ext cx="3328988" cy="2047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5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83"/>
              <a:buFont typeface="Open Sans"/>
              <a:buNone/>
            </a:pPr>
            <a:r>
              <a:rPr b="0" i="0" lang="en-US" sz="1283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Why This Is a Category of One</a:t>
            </a:r>
            <a:endParaRPr b="0" i="0" sz="12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" name="Google Shape;56;p3"/>
          <p:cNvCxnSpPr/>
          <p:nvPr/>
        </p:nvCxnSpPr>
        <p:spPr>
          <a:xfrm>
            <a:off x="5324475" y="3700463"/>
            <a:ext cx="3328988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" name="Google Shape;57;p3"/>
          <p:cNvSpPr/>
          <p:nvPr/>
        </p:nvSpPr>
        <p:spPr>
          <a:xfrm>
            <a:off x="5324475" y="3824288"/>
            <a:ext cx="3328988" cy="2047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5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83"/>
              <a:buFont typeface="Open Sans"/>
              <a:buNone/>
            </a:pPr>
            <a:r>
              <a:rPr b="0" i="0" lang="en-US" sz="1283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Q&amp;A</a:t>
            </a:r>
            <a:endParaRPr b="0" i="0" sz="12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" name="Google Shape;58;p3"/>
          <p:cNvCxnSpPr/>
          <p:nvPr/>
        </p:nvCxnSpPr>
        <p:spPr>
          <a:xfrm>
            <a:off x="476250" y="476250"/>
            <a:ext cx="8177213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preencoded.png" id="59" name="Google Shape;5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05750" y="204788"/>
            <a:ext cx="748308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"/>
          <p:cNvSpPr/>
          <p:nvPr/>
        </p:nvSpPr>
        <p:spPr>
          <a:xfrm>
            <a:off x="476250" y="1019175"/>
            <a:ext cx="4024313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50"/>
              <a:buFont typeface="Neuton"/>
              <a:buNone/>
            </a:pPr>
            <a:r>
              <a:rPr b="0" i="0" lang="en-US" sz="2850" u="none" cap="none" strike="noStrike">
                <a:solidFill>
                  <a:srgbClr val="FFFFFF"/>
                </a:solidFill>
                <a:latin typeface="Neuton"/>
                <a:ea typeface="Neuton"/>
                <a:cs typeface="Neuton"/>
                <a:sym typeface="Neuton"/>
              </a:rPr>
              <a:t>The Problem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476250" y="219075"/>
            <a:ext cx="542925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13"/>
              <a:buFont typeface="Open Sans"/>
              <a:buNone/>
            </a:pPr>
            <a:r>
              <a:rPr b="1" i="0" lang="en-US" sz="713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SLIDE TITLE</a:t>
            </a:r>
            <a:endParaRPr b="0" i="0" sz="7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7" name="Google Shape;67;p4"/>
          <p:cNvCxnSpPr/>
          <p:nvPr/>
        </p:nvCxnSpPr>
        <p:spPr>
          <a:xfrm>
            <a:off x="476250" y="476250"/>
            <a:ext cx="8177213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" name="Google Shape;68;p4"/>
          <p:cNvCxnSpPr/>
          <p:nvPr/>
        </p:nvCxnSpPr>
        <p:spPr>
          <a:xfrm>
            <a:off x="476250" y="476250"/>
            <a:ext cx="8177213" cy="0"/>
          </a:xfrm>
          <a:prstGeom prst="straightConnector1">
            <a:avLst/>
          </a:prstGeom>
          <a:noFill/>
          <a:ln cap="flat" cmpd="sng" w="9525">
            <a:solidFill>
              <a:srgbClr val="7A7A7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" name="Google Shape;69;p4"/>
          <p:cNvSpPr/>
          <p:nvPr/>
        </p:nvSpPr>
        <p:spPr>
          <a:xfrm>
            <a:off x="476250" y="2414588"/>
            <a:ext cx="4024313" cy="17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92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83"/>
              <a:buFont typeface="Open Sans"/>
              <a:buNone/>
            </a:pPr>
            <a:r>
              <a:rPr b="0" i="0" lang="en-US" sz="1283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Every app that touches inner life has the same gap: amnesia. You reflect, you check in — and next session, it's gone.
Apps that add memory use it to show you a summary. A chart. A narrative. That's a report. Reports are passive.
We built something different: a system that holds claims about who you've been, specific enough to argue with.</a:t>
            </a:r>
            <a:endParaRPr b="0" i="0" sz="12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992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83"/>
              <a:buFont typeface="Open Sans"/>
              <a:buNone/>
            </a:pPr>
            <a:r>
              <a:rPr b="0" i="0" lang="en-US" sz="1283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/>
            </a:r>
            <a:endParaRPr b="0" i="0" sz="12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5338763" y="1195388"/>
            <a:ext cx="3328988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13"/>
              <a:buFont typeface="Open Sans"/>
              <a:buNone/>
            </a:pPr>
            <a:r>
              <a:rPr b="1" i="0" lang="en-US" sz="713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MEMORY ENABLES STANDING</a:t>
            </a:r>
            <a:endParaRPr b="0" i="0" sz="7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5338763" y="2414588"/>
            <a:ext cx="1371600" cy="1466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4"/>
          <p:cNvSpPr/>
          <p:nvPr/>
        </p:nvSpPr>
        <p:spPr>
          <a:xfrm>
            <a:off x="5338763" y="2414588"/>
            <a:ext cx="1371600" cy="390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5338763" y="2414588"/>
            <a:ext cx="1371600" cy="2047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5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83"/>
              <a:buFont typeface="Open Sans"/>
              <a:buNone/>
            </a:pPr>
            <a:r>
              <a:rPr b="0" i="0" lang="en-US" sz="1283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Shruti Rajagopal</a:t>
            </a:r>
            <a:endParaRPr b="0" i="0" sz="12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5338763" y="2657475"/>
            <a:ext cx="1371600" cy="147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941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855"/>
              <a:buFont typeface="Open Sans"/>
              <a:buNone/>
            </a:pPr>
            <a:r>
              <a:rPr b="0" i="0" lang="en-US" sz="855" u="none" cap="none" strike="noStrike">
                <a:solidFill>
                  <a:srgbClr val="7A7A7A"/>
                </a:solidFill>
                <a:latin typeface="Open Sans"/>
                <a:ea typeface="Open Sans"/>
                <a:cs typeface="Open Sans"/>
                <a:sym typeface="Open Sans"/>
              </a:rPr>
              <a:t>Founder &amp; CEO</a:t>
            </a:r>
            <a:endParaRPr b="0" i="0" sz="8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5338763" y="2952750"/>
            <a:ext cx="1371600" cy="390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"/>
          <p:cNvSpPr/>
          <p:nvPr/>
        </p:nvSpPr>
        <p:spPr>
          <a:xfrm>
            <a:off x="5338763" y="2952750"/>
            <a:ext cx="1371600" cy="2047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5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83"/>
              <a:buFont typeface="Open Sans"/>
              <a:buNone/>
            </a:pPr>
            <a:r>
              <a:rPr b="0" i="0" lang="en-US" sz="1283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Shayaun Nejad</a:t>
            </a:r>
            <a:endParaRPr b="0" i="0" sz="12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5338763" y="3195638"/>
            <a:ext cx="1371600" cy="147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941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855"/>
              <a:buFont typeface="Open Sans"/>
              <a:buNone/>
            </a:pPr>
            <a:r>
              <a:rPr b="0" i="0" lang="en-US" sz="855" u="none" cap="none" strike="noStrike">
                <a:solidFill>
                  <a:srgbClr val="7A7A7A"/>
                </a:solidFill>
                <a:latin typeface="Open Sans"/>
                <a:ea typeface="Open Sans"/>
                <a:cs typeface="Open Sans"/>
                <a:sym typeface="Open Sans"/>
              </a:rPr>
              <a:t>Co-Builder</a:t>
            </a:r>
            <a:endParaRPr b="0" i="0" sz="8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5338763" y="3490913"/>
            <a:ext cx="1371600" cy="390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5338763" y="3490913"/>
            <a:ext cx="1371600" cy="2047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5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83"/>
              <a:buFont typeface="Open Sans"/>
              <a:buNone/>
            </a:pPr>
            <a:r>
              <a:rPr b="0" i="0" lang="en-US" sz="1283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/>
            </a:r>
            <a:endParaRPr b="0" i="0" sz="12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5338763" y="3733800"/>
            <a:ext cx="1371600" cy="147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941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855"/>
              <a:buFont typeface="Open Sans"/>
              <a:buNone/>
            </a:pPr>
            <a:r>
              <a:rPr b="0" i="0" lang="en-US" sz="855" u="none" cap="none" strike="noStrike">
                <a:solidFill>
                  <a:srgbClr val="7A7A7A"/>
                </a:solidFill>
                <a:latin typeface="Open Sans"/>
                <a:ea typeface="Open Sans"/>
                <a:cs typeface="Open Sans"/>
                <a:sym typeface="Open Sans"/>
              </a:rPr>
              <a:t/>
            </a:r>
            <a:endParaRPr b="0" i="0" sz="8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7391400" y="2414588"/>
            <a:ext cx="1262063" cy="1466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4"/>
          <p:cNvSpPr/>
          <p:nvPr/>
        </p:nvSpPr>
        <p:spPr>
          <a:xfrm>
            <a:off x="7391400" y="2414588"/>
            <a:ext cx="1262063" cy="390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7391400" y="2414588"/>
            <a:ext cx="1262063" cy="2047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5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83"/>
              <a:buFont typeface="Open Sans"/>
              <a:buNone/>
            </a:pPr>
            <a:r>
              <a:rPr b="0" i="0" lang="en-US" sz="1283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/>
            </a:r>
            <a:endParaRPr b="0" i="0" sz="12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7391400" y="2657475"/>
            <a:ext cx="1262063" cy="147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941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855"/>
              <a:buFont typeface="Open Sans"/>
              <a:buNone/>
            </a:pPr>
            <a:r>
              <a:rPr b="0" i="0" lang="en-US" sz="855" u="none" cap="none" strike="noStrike">
                <a:solidFill>
                  <a:srgbClr val="7A7A7A"/>
                </a:solidFill>
                <a:latin typeface="Open Sans"/>
                <a:ea typeface="Open Sans"/>
                <a:cs typeface="Open Sans"/>
                <a:sym typeface="Open Sans"/>
              </a:rPr>
              <a:t/>
            </a:r>
            <a:endParaRPr b="0" i="0" sz="8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7391400" y="2952750"/>
            <a:ext cx="1262063" cy="390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"/>
          <p:cNvSpPr/>
          <p:nvPr/>
        </p:nvSpPr>
        <p:spPr>
          <a:xfrm>
            <a:off x="7391400" y="2952750"/>
            <a:ext cx="1262063" cy="2047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5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83"/>
              <a:buFont typeface="Open Sans"/>
              <a:buNone/>
            </a:pPr>
            <a:r>
              <a:rPr b="0" i="0" lang="en-US" sz="1283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/>
            </a:r>
            <a:endParaRPr b="0" i="0" sz="12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7391400" y="3195638"/>
            <a:ext cx="1262063" cy="147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941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855"/>
              <a:buFont typeface="Open Sans"/>
              <a:buNone/>
            </a:pPr>
            <a:r>
              <a:rPr b="0" i="0" lang="en-US" sz="855" u="none" cap="none" strike="noStrike">
                <a:solidFill>
                  <a:srgbClr val="7A7A7A"/>
                </a:solidFill>
                <a:latin typeface="Open Sans"/>
                <a:ea typeface="Open Sans"/>
                <a:cs typeface="Open Sans"/>
                <a:sym typeface="Open Sans"/>
              </a:rPr>
              <a:t/>
            </a:r>
            <a:endParaRPr b="0" i="0" sz="8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7391400" y="3490913"/>
            <a:ext cx="1262063" cy="390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4"/>
          <p:cNvSpPr/>
          <p:nvPr/>
        </p:nvSpPr>
        <p:spPr>
          <a:xfrm>
            <a:off x="7391400" y="3490913"/>
            <a:ext cx="1262063" cy="2047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5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83"/>
              <a:buFont typeface="Open Sans"/>
              <a:buNone/>
            </a:pPr>
            <a:r>
              <a:rPr b="0" i="0" lang="en-US" sz="1283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/>
            </a:r>
            <a:endParaRPr b="0" i="0" sz="12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7391400" y="3733800"/>
            <a:ext cx="1262063" cy="147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941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855"/>
              <a:buFont typeface="Open Sans"/>
              <a:buNone/>
            </a:pPr>
            <a:r>
              <a:rPr b="0" i="0" lang="en-US" sz="855" u="none" cap="none" strike="noStrike">
                <a:solidFill>
                  <a:srgbClr val="7A7A7A"/>
                </a:solidFill>
                <a:latin typeface="Open Sans"/>
                <a:ea typeface="Open Sans"/>
                <a:cs typeface="Open Sans"/>
                <a:sym typeface="Open Sans"/>
              </a:rPr>
              <a:t/>
            </a:r>
            <a:endParaRPr b="0" i="0" sz="8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1" name="Google Shape;9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15275" y="200025"/>
            <a:ext cx="752475" cy="1476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"/>
          <p:cNvSpPr/>
          <p:nvPr/>
        </p:nvSpPr>
        <p:spPr>
          <a:xfrm>
            <a:off x="385763" y="3157538"/>
            <a:ext cx="2690813" cy="1433513"/>
          </a:xfrm>
          <a:prstGeom prst="rect">
            <a:avLst/>
          </a:prstGeom>
          <a:solidFill>
            <a:srgbClr val="EDE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5"/>
          <p:cNvSpPr/>
          <p:nvPr/>
        </p:nvSpPr>
        <p:spPr>
          <a:xfrm>
            <a:off x="3186113" y="3157538"/>
            <a:ext cx="2690813" cy="1433513"/>
          </a:xfrm>
          <a:prstGeom prst="rect">
            <a:avLst/>
          </a:prstGeom>
          <a:solidFill>
            <a:srgbClr val="EDE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5"/>
          <p:cNvSpPr/>
          <p:nvPr/>
        </p:nvSpPr>
        <p:spPr>
          <a:xfrm>
            <a:off x="5967413" y="3157538"/>
            <a:ext cx="2690813" cy="1433513"/>
          </a:xfrm>
          <a:prstGeom prst="rect">
            <a:avLst/>
          </a:prstGeom>
          <a:solidFill>
            <a:srgbClr val="EDE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5"/>
          <p:cNvSpPr/>
          <p:nvPr/>
        </p:nvSpPr>
        <p:spPr>
          <a:xfrm>
            <a:off x="476250" y="1019175"/>
            <a:ext cx="8177213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Neuton"/>
              <a:buNone/>
            </a:pPr>
            <a:r>
              <a:rPr b="0" i="0" lang="en-US" sz="2850" u="none" cap="none" strike="noStrike">
                <a:solidFill>
                  <a:srgbClr val="000000"/>
                </a:solidFill>
                <a:latin typeface="Neuton"/>
                <a:ea typeface="Neuton"/>
                <a:cs typeface="Neuton"/>
                <a:sym typeface="Neuton"/>
              </a:rPr>
              <a:t>Three Data Channels → EverMemOS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476250" y="219075"/>
            <a:ext cx="542925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15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713"/>
              <a:buFont typeface="Open Sans"/>
              <a:buNone/>
            </a:pPr>
            <a:r>
              <a:rPr b="1" i="0" lang="en-US" sz="713" u="none" cap="none" strike="noStrike">
                <a:solidFill>
                  <a:srgbClr val="7A7A7A"/>
                </a:solidFill>
                <a:latin typeface="Open Sans"/>
                <a:ea typeface="Open Sans"/>
                <a:cs typeface="Open Sans"/>
                <a:sym typeface="Open Sans"/>
              </a:rPr>
              <a:t>SLIDE TITLE</a:t>
            </a:r>
            <a:endParaRPr b="0" i="0" sz="7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" name="Google Shape;102;p5"/>
          <p:cNvCxnSpPr/>
          <p:nvPr/>
        </p:nvCxnSpPr>
        <p:spPr>
          <a:xfrm>
            <a:off x="476250" y="476250"/>
            <a:ext cx="8177213" cy="0"/>
          </a:xfrm>
          <a:prstGeom prst="straightConnector1">
            <a:avLst/>
          </a:prstGeom>
          <a:noFill/>
          <a:ln cap="flat" cmpd="sng" w="9525">
            <a:solidFill>
              <a:srgbClr val="7A7A7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5"/>
          <p:cNvSpPr/>
          <p:nvPr/>
        </p:nvSpPr>
        <p:spPr>
          <a:xfrm>
            <a:off x="481012" y="2019300"/>
            <a:ext cx="2633663" cy="2428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"/>
          <p:cNvSpPr/>
          <p:nvPr/>
        </p:nvSpPr>
        <p:spPr>
          <a:xfrm>
            <a:off x="481012" y="2019300"/>
            <a:ext cx="2633663" cy="766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"/>
          <p:cNvSpPr/>
          <p:nvPr/>
        </p:nvSpPr>
        <p:spPr>
          <a:xfrm>
            <a:off x="481012" y="2019300"/>
            <a:ext cx="2609850" cy="2047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5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83"/>
              <a:buFont typeface="Open Sans"/>
              <a:buNone/>
            </a:pPr>
            <a:r>
              <a:rPr b="0" i="0" lang="en-US" sz="1283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Coherence Checks</a:t>
            </a:r>
            <a:endParaRPr b="0" i="0" sz="12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481012" y="2343150"/>
            <a:ext cx="2633663" cy="4429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941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855"/>
              <a:buFont typeface="Open Sans"/>
              <a:buNone/>
            </a:pPr>
            <a:r>
              <a:rPr b="0" i="0" lang="en-US" sz="855" u="none" cap="none" strike="noStrike">
                <a:solidFill>
                  <a:srgbClr val="7A7A7A"/>
                </a:solidFill>
                <a:latin typeface="Open Sans"/>
                <a:ea typeface="Open Sans"/>
                <a:cs typeface="Open Sans"/>
                <a:sym typeface="Open Sans"/>
              </a:rPr>
              <a:t>Seven dimensions of psychological state. Each check becomes a MemCell — an episodic trace the system can cite by date.</a:t>
            </a:r>
            <a:endParaRPr b="0" i="0" sz="8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481012" y="3262313"/>
            <a:ext cx="2633663" cy="11858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"/>
          <p:cNvSpPr/>
          <p:nvPr/>
        </p:nvSpPr>
        <p:spPr>
          <a:xfrm>
            <a:off x="481012" y="3262313"/>
            <a:ext cx="260985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3"/>
              <a:buFont typeface="Open Sans"/>
              <a:buNone/>
            </a:pPr>
            <a:r>
              <a:rPr b="1" i="0" lang="en-US" sz="713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CHANNEL 1: EVENTBUS</a:t>
            </a:r>
            <a:endParaRPr b="0" i="0" sz="7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481012" y="3495675"/>
            <a:ext cx="2633663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ABC2"/>
              </a:buClr>
              <a:buSzPts val="7125"/>
              <a:buFont typeface="Neuton"/>
              <a:buNone/>
            </a:pPr>
            <a:r>
              <a:rPr b="0" i="0" lang="en-US" sz="7125" u="none" cap="none" strike="noStrike">
                <a:solidFill>
                  <a:srgbClr val="2DABC2"/>
                </a:solidFill>
                <a:latin typeface="Neuton"/>
                <a:ea typeface="Neuton"/>
                <a:cs typeface="Neuton"/>
                <a:sym typeface="Neuton"/>
              </a:rPr>
              <a:t>7</a:t>
            </a:r>
            <a:endParaRPr b="0" i="0" sz="7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3257550" y="2019300"/>
            <a:ext cx="2638425" cy="2428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"/>
          <p:cNvSpPr/>
          <p:nvPr/>
        </p:nvSpPr>
        <p:spPr>
          <a:xfrm>
            <a:off x="3257550" y="2019300"/>
            <a:ext cx="2638425" cy="766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"/>
          <p:cNvSpPr/>
          <p:nvPr/>
        </p:nvSpPr>
        <p:spPr>
          <a:xfrm>
            <a:off x="3257550" y="2019300"/>
            <a:ext cx="2638425" cy="2047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5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83"/>
              <a:buFont typeface="Open Sans"/>
              <a:buNone/>
            </a:pPr>
            <a:r>
              <a:rPr b="0" i="0" lang="en-US" sz="1283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Council Deliberations</a:t>
            </a:r>
            <a:endParaRPr b="0" i="0" sz="12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3257550" y="2343150"/>
            <a:ext cx="2638425" cy="4429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941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855"/>
              <a:buFont typeface="Open Sans"/>
              <a:buNone/>
            </a:pPr>
            <a:r>
              <a:rPr b="0" i="0" lang="en-US" sz="855" u="none" cap="none" strike="noStrike">
                <a:solidFill>
                  <a:srgbClr val="7A7A7A"/>
                </a:solidFill>
                <a:latin typeface="Open Sans"/>
                <a:ea typeface="Open Sans"/>
                <a:cs typeface="Open Sans"/>
                <a:sym typeface="Open Sans"/>
              </a:rPr>
              <a:t>Warrior, Sage, Sovereign speak with memory. They reference past dialogues. They hold you accountable.</a:t>
            </a:r>
            <a:endParaRPr b="0" i="0" sz="8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3257550" y="3262313"/>
            <a:ext cx="2638425" cy="11858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"/>
          <p:cNvSpPr/>
          <p:nvPr/>
        </p:nvSpPr>
        <p:spPr>
          <a:xfrm>
            <a:off x="3257550" y="3262313"/>
            <a:ext cx="2614613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3"/>
              <a:buFont typeface="Open Sans"/>
              <a:buNone/>
            </a:pPr>
            <a:r>
              <a:rPr b="1" i="0" lang="en-US" sz="713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CHANNEL 2: PER-ROUTE</a:t>
            </a:r>
            <a:endParaRPr b="0" i="0" sz="7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3257550" y="3495675"/>
            <a:ext cx="2638425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ABC2"/>
              </a:buClr>
              <a:buSzPts val="7125"/>
              <a:buFont typeface="Neuton"/>
              <a:buNone/>
            </a:pPr>
            <a:r>
              <a:rPr b="0" i="0" lang="en-US" sz="7125" u="none" cap="none" strike="noStrike">
                <a:solidFill>
                  <a:srgbClr val="2DABC2"/>
                </a:solidFill>
                <a:latin typeface="Neuton"/>
                <a:ea typeface="Neuton"/>
                <a:cs typeface="Neuton"/>
                <a:sym typeface="Neuton"/>
              </a:rPr>
              <a:t>12</a:t>
            </a:r>
            <a:endParaRPr b="0" i="0" sz="7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6038850" y="2019300"/>
            <a:ext cx="2619375" cy="2428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"/>
          <p:cNvSpPr/>
          <p:nvPr/>
        </p:nvSpPr>
        <p:spPr>
          <a:xfrm>
            <a:off x="6038850" y="2019300"/>
            <a:ext cx="2619375" cy="766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"/>
          <p:cNvSpPr/>
          <p:nvPr/>
        </p:nvSpPr>
        <p:spPr>
          <a:xfrm>
            <a:off x="6038850" y="2019300"/>
            <a:ext cx="2619375" cy="2047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5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83"/>
              <a:buFont typeface="Open Sans"/>
              <a:buNone/>
            </a:pPr>
            <a:r>
              <a:rPr b="0" i="0" lang="en-US" sz="1283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Threshold Moments</a:t>
            </a:r>
            <a:endParaRPr b="0" i="0" sz="12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6038850" y="2343150"/>
            <a:ext cx="2600325" cy="4429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941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855"/>
              <a:buFont typeface="Open Sans"/>
              <a:buNone/>
            </a:pPr>
            <a:r>
              <a:rPr b="0" i="0" lang="en-US" sz="855" u="none" cap="none" strike="noStrike">
                <a:solidFill>
                  <a:srgbClr val="7A7A7A"/>
                </a:solidFill>
                <a:latin typeface="Open Sans"/>
                <a:ea typeface="Open Sans"/>
                <a:cs typeface="Open Sans"/>
                <a:sym typeface="Open Sans"/>
              </a:rPr>
              <a:t>The moments where something shifts. Named before or after — the raw material for the system's claims.</a:t>
            </a:r>
            <a:endParaRPr b="0" i="0" sz="8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6038850" y="3262313"/>
            <a:ext cx="2576513" cy="11858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"/>
          <p:cNvSpPr/>
          <p:nvPr/>
        </p:nvSpPr>
        <p:spPr>
          <a:xfrm>
            <a:off x="6038850" y="3262313"/>
            <a:ext cx="2576513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3"/>
              <a:buFont typeface="Open Sans"/>
              <a:buNone/>
            </a:pPr>
            <a:r>
              <a:rPr b="1" i="0" lang="en-US" sz="713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CHANNEL 3: PER-ROUTE</a:t>
            </a:r>
            <a:endParaRPr b="0" i="0" sz="7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6038850" y="3495675"/>
            <a:ext cx="2576513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ABC2"/>
              </a:buClr>
              <a:buSzPts val="7125"/>
              <a:buFont typeface="Neuton"/>
              <a:buNone/>
            </a:pPr>
            <a:r>
              <a:rPr b="0" i="0" lang="en-US" sz="7125" u="none" cap="none" strike="noStrike">
                <a:solidFill>
                  <a:srgbClr val="2DABC2"/>
                </a:solidFill>
                <a:latin typeface="Neuton"/>
                <a:ea typeface="Neuton"/>
                <a:cs typeface="Neuton"/>
                <a:sym typeface="Neuton"/>
              </a:rPr>
              <a:t>∞</a:t>
            </a:r>
            <a:endParaRPr b="0" i="0" sz="7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4" name="Google Shape;12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05750" y="204788"/>
            <a:ext cx="748308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E8D8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"/>
          <p:cNvSpPr/>
          <p:nvPr/>
        </p:nvSpPr>
        <p:spPr>
          <a:xfrm>
            <a:off x="476250" y="1019175"/>
            <a:ext cx="161925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Neuton"/>
              <a:buNone/>
            </a:pPr>
            <a:r>
              <a:rPr b="0" i="0" lang="en-US" sz="2850" u="none" cap="none" strike="noStrike">
                <a:solidFill>
                  <a:srgbClr val="000000"/>
                </a:solidFill>
                <a:latin typeface="Neuton"/>
                <a:ea typeface="Neuton"/>
                <a:cs typeface="Neuton"/>
                <a:sym typeface="Neuton"/>
              </a:rPr>
              <a:t>The Confrontation
Live Demo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476250" y="219075"/>
            <a:ext cx="542925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3"/>
              <a:buFont typeface="Open Sans"/>
              <a:buNone/>
            </a:pPr>
            <a:r>
              <a:rPr b="1" i="0" lang="en-US" sz="713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SLIDE TITLE</a:t>
            </a:r>
            <a:endParaRPr b="0" i="0" sz="7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2" name="Google Shape;132;p6"/>
          <p:cNvCxnSpPr/>
          <p:nvPr/>
        </p:nvCxnSpPr>
        <p:spPr>
          <a:xfrm>
            <a:off x="476250" y="476250"/>
            <a:ext cx="8177213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preencoded.png" id="133" name="Google Shape;13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62225" y="1019175"/>
            <a:ext cx="1938337" cy="25669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4" name="Google Shape;13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48200" y="1019175"/>
            <a:ext cx="1938337" cy="25669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5" name="Google Shape;13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4175" y="1019175"/>
            <a:ext cx="1938337" cy="2566988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6"/>
          <p:cNvSpPr/>
          <p:nvPr/>
        </p:nvSpPr>
        <p:spPr>
          <a:xfrm>
            <a:off x="2562225" y="3743325"/>
            <a:ext cx="1938337" cy="676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"/>
          <p:cNvSpPr/>
          <p:nvPr/>
        </p:nvSpPr>
        <p:spPr>
          <a:xfrm>
            <a:off x="2562225" y="3743325"/>
            <a:ext cx="1938337" cy="676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"/>
          <p:cNvSpPr/>
          <p:nvPr/>
        </p:nvSpPr>
        <p:spPr>
          <a:xfrm>
            <a:off x="2562225" y="3743325"/>
            <a:ext cx="1938337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15"/>
              </a:lnSpc>
              <a:spcBef>
                <a:spcPts val="0"/>
              </a:spcBef>
              <a:spcAft>
                <a:spcPts val="0"/>
              </a:spcAft>
              <a:buClr>
                <a:srgbClr val="003310"/>
              </a:buClr>
              <a:buSzPts val="713"/>
              <a:buFont typeface="Open Sans"/>
              <a:buNone/>
            </a:pPr>
            <a:r>
              <a:rPr b="1" i="0" lang="en-US" sz="713" u="none" cap="none" strike="noStrike">
                <a:solidFill>
                  <a:srgbClr val="003310"/>
                </a:solidFill>
                <a:latin typeface="Open Sans"/>
                <a:ea typeface="Open Sans"/>
                <a:cs typeface="Open Sans"/>
                <a:sym typeface="Open Sans"/>
              </a:rPr>
              <a:t>EPISODIC TRACE</a:t>
            </a:r>
            <a:endParaRPr b="0" i="0" sz="7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2562225" y="3976687"/>
            <a:ext cx="1938337" cy="4429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941"/>
              </a:lnSpc>
              <a:spcBef>
                <a:spcPts val="0"/>
              </a:spcBef>
              <a:spcAft>
                <a:spcPts val="0"/>
              </a:spcAft>
              <a:buClr>
                <a:srgbClr val="003310"/>
              </a:buClr>
              <a:buSzPts val="855"/>
              <a:buFont typeface="Open Sans"/>
              <a:buNone/>
            </a:pPr>
            <a:r>
              <a:rPr b="0" i="0" lang="en-US" sz="855" u="none" cap="none" strike="noStrike">
                <a:solidFill>
                  <a:srgbClr val="003310"/>
                </a:solidFill>
                <a:latin typeface="Open Sans"/>
                <a:ea typeface="Open Sans"/>
                <a:cs typeface="Open Sans"/>
                <a:sym typeface="Open Sans"/>
              </a:rPr>
              <a:t>Every check, every dialogue, every threshold → a timestamped MemCell the system can cite.</a:t>
            </a:r>
            <a:endParaRPr b="0" i="0" sz="8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4648200" y="3743325"/>
            <a:ext cx="1938337" cy="676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"/>
          <p:cNvSpPr/>
          <p:nvPr/>
        </p:nvSpPr>
        <p:spPr>
          <a:xfrm>
            <a:off x="4648200" y="3743325"/>
            <a:ext cx="1938337" cy="676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"/>
          <p:cNvSpPr/>
          <p:nvPr/>
        </p:nvSpPr>
        <p:spPr>
          <a:xfrm>
            <a:off x="4648200" y="3743325"/>
            <a:ext cx="1938337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15"/>
              </a:lnSpc>
              <a:spcBef>
                <a:spcPts val="0"/>
              </a:spcBef>
              <a:spcAft>
                <a:spcPts val="0"/>
              </a:spcAft>
              <a:buClr>
                <a:srgbClr val="003310"/>
              </a:buClr>
              <a:buSzPts val="713"/>
              <a:buFont typeface="Open Sans"/>
              <a:buNone/>
            </a:pPr>
            <a:r>
              <a:rPr b="1" i="0" lang="en-US" sz="713" u="none" cap="none" strike="noStrike">
                <a:solidFill>
                  <a:srgbClr val="003310"/>
                </a:solidFill>
                <a:latin typeface="Open Sans"/>
                <a:ea typeface="Open Sans"/>
                <a:cs typeface="Open Sans"/>
                <a:sym typeface="Open Sans"/>
              </a:rPr>
              <a:t>SEMANTIC CONSOLIDATION</a:t>
            </a:r>
            <a:endParaRPr b="0" i="0" sz="7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4648200" y="3976687"/>
            <a:ext cx="1938337" cy="4429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941"/>
              </a:lnSpc>
              <a:spcBef>
                <a:spcPts val="0"/>
              </a:spcBef>
              <a:spcAft>
                <a:spcPts val="0"/>
              </a:spcAft>
              <a:buClr>
                <a:srgbClr val="003310"/>
              </a:buClr>
              <a:buSzPts val="855"/>
              <a:buFont typeface="Open Sans"/>
              <a:buNone/>
            </a:pPr>
            <a:r>
              <a:rPr b="0" i="0" lang="en-US" sz="855" u="none" cap="none" strike="noStrike">
                <a:solidFill>
                  <a:srgbClr val="003310"/>
                </a:solidFill>
                <a:latin typeface="Open Sans"/>
                <a:ea typeface="Open Sans"/>
                <a:cs typeface="Open Sans"/>
                <a:sym typeface="Open Sans"/>
              </a:rPr>
              <a:t>The system detects: sovereignty appeared 4× in 8 weeks. Connection drops when agency rises.</a:t>
            </a:r>
            <a:endParaRPr b="0" i="0" sz="8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6734175" y="3743325"/>
            <a:ext cx="1938337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"/>
          <p:cNvSpPr/>
          <p:nvPr/>
        </p:nvSpPr>
        <p:spPr>
          <a:xfrm>
            <a:off x="6734175" y="3743325"/>
            <a:ext cx="1938337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"/>
          <p:cNvSpPr/>
          <p:nvPr/>
        </p:nvSpPr>
        <p:spPr>
          <a:xfrm>
            <a:off x="6734175" y="3743325"/>
            <a:ext cx="1938337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15"/>
              </a:lnSpc>
              <a:spcBef>
                <a:spcPts val="0"/>
              </a:spcBef>
              <a:spcAft>
                <a:spcPts val="0"/>
              </a:spcAft>
              <a:buClr>
                <a:srgbClr val="003310"/>
              </a:buClr>
              <a:buSzPts val="713"/>
              <a:buFont typeface="Open Sans"/>
              <a:buNone/>
            </a:pPr>
            <a:r>
              <a:rPr b="1" i="0" lang="en-US" sz="713" u="none" cap="none" strike="noStrike">
                <a:solidFill>
                  <a:srgbClr val="003310"/>
                </a:solidFill>
                <a:latin typeface="Open Sans"/>
                <a:ea typeface="Open Sans"/>
                <a:cs typeface="Open Sans"/>
                <a:sym typeface="Open Sans"/>
              </a:rPr>
              <a:t>RECONSTRUCTIVE RECOLLECTION</a:t>
            </a:r>
            <a:endParaRPr b="0" i="0" sz="7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6734175" y="3976687"/>
            <a:ext cx="1938337" cy="6810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94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5"/>
              <a:buFont typeface="Open Sans"/>
              <a:buNone/>
            </a:pPr>
            <a:r>
              <a:rPr b="0" i="0" lang="en-US" sz="855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The system reconstructs your arc — not as a story to read, but as an account to argue with.</a:t>
            </a:r>
            <a:endParaRPr b="0" i="0" sz="8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8" name="Google Shape;14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05750" y="204788"/>
            <a:ext cx="748308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"/>
          <p:cNvSpPr/>
          <p:nvPr/>
        </p:nvSpPr>
        <p:spPr>
          <a:xfrm>
            <a:off x="476250" y="4638675"/>
            <a:ext cx="8191500" cy="152400"/>
          </a:xfrm>
          <a:prstGeom prst="rect">
            <a:avLst/>
          </a:prstGeom>
          <a:solidFill>
            <a:srgbClr val="FFC53D"/>
          </a:solidFill>
          <a:ln cap="flat" cmpd="sng" w="12700">
            <a:solidFill>
              <a:srgbClr val="2DAB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476250" y="1019175"/>
            <a:ext cx="2709863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Neuton"/>
              <a:buNone/>
            </a:pPr>
            <a:r>
              <a:rPr b="0" i="0" lang="en-US" sz="2850" u="none" cap="none" strike="noStrike">
                <a:solidFill>
                  <a:srgbClr val="000000"/>
                </a:solidFill>
                <a:latin typeface="Neuton"/>
                <a:ea typeface="Neuton"/>
                <a:cs typeface="Neuton"/>
                <a:sym typeface="Neuton"/>
              </a:rPr>
              <a:t>Architecture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3333750" y="1323975"/>
            <a:ext cx="695325" cy="204788"/>
          </a:xfrm>
          <a:prstGeom prst="roundRect">
            <a:avLst>
              <a:gd fmla="val 178604" name="adj"/>
            </a:avLst>
          </a:prstGeom>
          <a:solidFill>
            <a:srgbClr val="FFC5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"/>
          <p:cNvSpPr/>
          <p:nvPr/>
        </p:nvSpPr>
        <p:spPr>
          <a:xfrm>
            <a:off x="3486150" y="1371600"/>
            <a:ext cx="390525" cy="109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1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1"/>
              <a:buFont typeface="Open Sans"/>
              <a:buNone/>
            </a:pPr>
            <a:r>
              <a:rPr b="0" i="0" lang="en-US" sz="641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Complete</a:t>
            </a:r>
            <a:endParaRPr b="0" i="0" sz="6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3333750" y="2414588"/>
            <a:ext cx="695325" cy="204788"/>
          </a:xfrm>
          <a:prstGeom prst="roundRect">
            <a:avLst>
              <a:gd fmla="val 178604" name="adj"/>
            </a:avLst>
          </a:prstGeom>
          <a:solidFill>
            <a:srgbClr val="2DAB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"/>
          <p:cNvSpPr/>
          <p:nvPr/>
        </p:nvSpPr>
        <p:spPr>
          <a:xfrm>
            <a:off x="3455194" y="2462213"/>
            <a:ext cx="452438" cy="109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10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1"/>
              <a:buFont typeface="Open Sans"/>
              <a:buNone/>
            </a:pPr>
            <a:r>
              <a:rPr b="0" i="0" lang="en-US" sz="641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 Progress</a:t>
            </a:r>
            <a:endParaRPr b="0" i="0" sz="6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3333750" y="1614488"/>
            <a:ext cx="695325" cy="204788"/>
          </a:xfrm>
          <a:prstGeom prst="roundRect">
            <a:avLst>
              <a:gd fmla="val 178604" name="adj"/>
            </a:avLst>
          </a:prstGeom>
          <a:solidFill>
            <a:srgbClr val="2DAB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"/>
          <p:cNvSpPr/>
          <p:nvPr/>
        </p:nvSpPr>
        <p:spPr>
          <a:xfrm>
            <a:off x="3455194" y="1662113"/>
            <a:ext cx="452438" cy="109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10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1"/>
              <a:buFont typeface="Open Sans"/>
              <a:buNone/>
            </a:pPr>
            <a:r>
              <a:rPr b="0" i="0" lang="en-US" sz="641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 Progress</a:t>
            </a:r>
            <a:endParaRPr b="0" i="0" sz="6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3333750" y="3795713"/>
            <a:ext cx="695325" cy="204788"/>
          </a:xfrm>
          <a:prstGeom prst="roundRect">
            <a:avLst>
              <a:gd fmla="val 178604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7"/>
          <p:cNvSpPr/>
          <p:nvPr/>
        </p:nvSpPr>
        <p:spPr>
          <a:xfrm>
            <a:off x="3450431" y="3843338"/>
            <a:ext cx="461963" cy="109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10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1"/>
              <a:buFont typeface="Open Sans"/>
              <a:buNone/>
            </a:pPr>
            <a:r>
              <a:rPr b="0" i="0" lang="en-US" sz="641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Not Started</a:t>
            </a:r>
            <a:endParaRPr b="0" i="0" sz="6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3333750" y="2676525"/>
            <a:ext cx="695325" cy="204788"/>
          </a:xfrm>
          <a:prstGeom prst="roundRect">
            <a:avLst>
              <a:gd fmla="val 178604" name="adj"/>
            </a:avLst>
          </a:prstGeom>
          <a:solidFill>
            <a:srgbClr val="2DAB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"/>
          <p:cNvSpPr/>
          <p:nvPr/>
        </p:nvSpPr>
        <p:spPr>
          <a:xfrm>
            <a:off x="3455194" y="2724150"/>
            <a:ext cx="452438" cy="109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10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1"/>
              <a:buFont typeface="Open Sans"/>
              <a:buNone/>
            </a:pPr>
            <a:r>
              <a:rPr b="0" i="0" lang="en-US" sz="641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 Progress</a:t>
            </a:r>
            <a:endParaRPr b="0" i="0" sz="6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3333750" y="3505200"/>
            <a:ext cx="695325" cy="204788"/>
          </a:xfrm>
          <a:prstGeom prst="roundRect">
            <a:avLst>
              <a:gd fmla="val 178604" name="adj"/>
            </a:avLst>
          </a:prstGeom>
          <a:solidFill>
            <a:srgbClr val="2DAB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7"/>
          <p:cNvSpPr/>
          <p:nvPr/>
        </p:nvSpPr>
        <p:spPr>
          <a:xfrm>
            <a:off x="3455194" y="3552825"/>
            <a:ext cx="452438" cy="109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10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1"/>
              <a:buFont typeface="Open Sans"/>
              <a:buNone/>
            </a:pPr>
            <a:r>
              <a:rPr b="0" i="0" lang="en-US" sz="641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 Progress</a:t>
            </a:r>
            <a:endParaRPr b="0" i="0" sz="6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476250" y="4638675"/>
            <a:ext cx="6110288" cy="152400"/>
          </a:xfrm>
          <a:prstGeom prst="rect">
            <a:avLst/>
          </a:prstGeom>
          <a:solidFill>
            <a:srgbClr val="2DAB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"/>
          <p:cNvSpPr/>
          <p:nvPr/>
        </p:nvSpPr>
        <p:spPr>
          <a:xfrm>
            <a:off x="476250" y="4381500"/>
            <a:ext cx="904875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3"/>
              <a:buFont typeface="Open Sans"/>
              <a:buNone/>
            </a:pPr>
            <a:r>
              <a:rPr b="1" i="0" lang="en-US" sz="713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LAYER 1</a:t>
            </a:r>
            <a:endParaRPr b="0" i="0" sz="7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7762875" y="4381500"/>
            <a:ext cx="904875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99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3"/>
              <a:buFont typeface="Open Sans"/>
              <a:buNone/>
            </a:pPr>
            <a:r>
              <a:rPr b="1" i="0" lang="en-US" sz="713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LAYER 3</a:t>
            </a:r>
            <a:endParaRPr b="0" i="0" sz="7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6134100" y="4381500"/>
            <a:ext cx="904875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99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3"/>
              <a:buFont typeface="Open Sans"/>
              <a:buNone/>
            </a:pPr>
            <a:r>
              <a:rPr b="1" i="0" lang="en-US" sz="713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LAYER 2</a:t>
            </a:r>
            <a:endParaRPr b="0" i="0" sz="7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3333750" y="1062038"/>
            <a:ext cx="1495425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3"/>
              <a:buFont typeface="Open Sans"/>
              <a:buNone/>
            </a:pPr>
            <a:r>
              <a:rPr b="1" i="0" lang="en-US" sz="713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EVERMEMOS CLIENT</a:t>
            </a:r>
            <a:endParaRPr b="0" i="0" sz="7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3333750" y="2162175"/>
            <a:ext cx="1243013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3"/>
              <a:buFont typeface="Open Sans"/>
              <a:buNone/>
            </a:pPr>
            <a:r>
              <a:rPr b="1" i="0" lang="en-US" sz="713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3-CHANNEL INGESTION</a:t>
            </a:r>
            <a:endParaRPr b="0" i="0" sz="7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3333750" y="3224213"/>
            <a:ext cx="1095375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3"/>
              <a:buFont typeface="Open Sans"/>
              <a:buNone/>
            </a:pPr>
            <a:r>
              <a:rPr b="1" i="0" lang="en-US" sz="713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ARC MEMORY AGENT</a:t>
            </a:r>
            <a:endParaRPr b="0" i="0" sz="7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4181475" y="1352550"/>
            <a:ext cx="4471988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"/>
          <p:cNvSpPr/>
          <p:nvPr/>
        </p:nvSpPr>
        <p:spPr>
          <a:xfrm>
            <a:off x="4181475" y="1352550"/>
            <a:ext cx="4471988" cy="147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941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855"/>
              <a:buFont typeface="Open Sans"/>
              <a:buNone/>
            </a:pPr>
            <a:r>
              <a:rPr b="0" i="0" lang="en-US" sz="855" u="none" cap="none" strike="noStrike">
                <a:solidFill>
                  <a:srgbClr val="7A7A7A"/>
                </a:solidFill>
                <a:latin typeface="Open Sans"/>
                <a:ea typeface="Open Sans"/>
                <a:cs typeface="Open Sans"/>
                <a:sym typeface="Open Sans"/>
              </a:rPr>
              <a:t>Typed API wrapper. 10s timeout + graceful fallback. The app works identically without EverMemOS.</a:t>
            </a:r>
            <a:endParaRPr b="0" i="0" sz="8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4181475" y="1643063"/>
            <a:ext cx="4471988" cy="147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941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855"/>
              <a:buFont typeface="Open Sans"/>
              <a:buNone/>
            </a:pPr>
            <a:r>
              <a:rPr b="0" i="0" lang="en-US" sz="855" u="none" cap="none" strike="noStrike">
                <a:solidFill>
                  <a:srgbClr val="7A7A7A"/>
                </a:solidFill>
                <a:latin typeface="Open Sans"/>
                <a:ea typeface="Open Sans"/>
                <a:cs typeface="Open Sans"/>
                <a:sym typeface="Open Sans"/>
              </a:rPr>
              <a:t>Fire-and-forget. App works identically with or without EverMemOS.</a:t>
            </a:r>
            <a:endParaRPr b="0" i="0" sz="8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4181475" y="2414588"/>
            <a:ext cx="4471988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7"/>
          <p:cNvSpPr/>
          <p:nvPr/>
        </p:nvSpPr>
        <p:spPr>
          <a:xfrm>
            <a:off x="4181475" y="2414588"/>
            <a:ext cx="4471988" cy="147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941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855"/>
              <a:buFont typeface="Open Sans"/>
              <a:buNone/>
            </a:pPr>
            <a:r>
              <a:rPr b="0" i="0" lang="en-US" sz="855" u="none" cap="none" strike="noStrike">
                <a:solidFill>
                  <a:srgbClr val="7A7A7A"/>
                </a:solidFill>
                <a:latin typeface="Open Sans"/>
                <a:ea typeface="Open Sans"/>
                <a:cs typeface="Open Sans"/>
                <a:sym typeface="Open Sans"/>
              </a:rPr>
              <a:t>16th handler on a 15-handler EventBus. One file, three lines, zero response time impact.</a:t>
            </a:r>
            <a:endParaRPr b="0" i="0" sz="8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4181475" y="2705100"/>
            <a:ext cx="4471988" cy="147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941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855"/>
              <a:buFont typeface="Open Sans"/>
              <a:buNone/>
            </a:pPr>
            <a:r>
              <a:rPr b="0" i="0" lang="en-US" sz="855" u="none" cap="none" strike="noStrike">
                <a:solidFill>
                  <a:srgbClr val="7A7A7A"/>
                </a:solidFill>
                <a:latin typeface="Open Sans"/>
                <a:ea typeface="Open Sans"/>
                <a:cs typeface="Open Sans"/>
                <a:sym typeface="Open Sans"/>
              </a:rPr>
              <a:t>Every MemCell tagged: phase, tier, dominant factor, motifs, archetypes. Richest metadata in the competition.</a:t>
            </a:r>
            <a:endParaRPr b="0" i="0" sz="8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4181475" y="3533775"/>
            <a:ext cx="4471988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7"/>
          <p:cNvSpPr/>
          <p:nvPr/>
        </p:nvSpPr>
        <p:spPr>
          <a:xfrm>
            <a:off x="4181475" y="3533775"/>
            <a:ext cx="4471988" cy="147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941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855"/>
              <a:buFont typeface="Open Sans"/>
              <a:buNone/>
            </a:pPr>
            <a:r>
              <a:rPr b="0" i="0" lang="en-US" sz="855" u="none" cap="none" strike="noStrike">
                <a:solidFill>
                  <a:srgbClr val="7A7A7A"/>
                </a:solidFill>
                <a:latin typeface="Open Sans"/>
                <a:ea typeface="Open Sans"/>
                <a:cs typeface="Open Sans"/>
                <a:sym typeface="Open Sans"/>
              </a:rPr>
              <a:t>Agentic retrieval across full MemScene. Claims grounded in months of evidence — disputable by design.</a:t>
            </a:r>
            <a:endParaRPr b="0" i="0" sz="8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4181475" y="3824288"/>
            <a:ext cx="4471988" cy="147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941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855"/>
              <a:buFont typeface="Open Sans"/>
              <a:buNone/>
            </a:pPr>
            <a:r>
              <a:rPr b="0" i="0" lang="en-US" sz="855" u="none" cap="none" strike="noStrike">
                <a:solidFill>
                  <a:srgbClr val="7A7A7A"/>
                </a:solidFill>
                <a:latin typeface="Open Sans"/>
                <a:ea typeface="Open Sans"/>
                <a:cs typeface="Open Sans"/>
                <a:sym typeface="Open Sans"/>
              </a:rPr>
              <a:t>Demo: 7 seeded MemCells across 3 months. No auth needed. Try it live.</a:t>
            </a:r>
            <a:endParaRPr b="0" i="0" sz="8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476250" y="219075"/>
            <a:ext cx="542925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15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713"/>
              <a:buFont typeface="Open Sans"/>
              <a:buNone/>
            </a:pPr>
            <a:r>
              <a:rPr b="1" i="0" lang="en-US" sz="713" u="none" cap="none" strike="noStrike">
                <a:solidFill>
                  <a:srgbClr val="7A7A7A"/>
                </a:solidFill>
                <a:latin typeface="Open Sans"/>
                <a:ea typeface="Open Sans"/>
                <a:cs typeface="Open Sans"/>
                <a:sym typeface="Open Sans"/>
              </a:rPr>
              <a:t>SLIDE TITLE</a:t>
            </a:r>
            <a:endParaRPr b="0" i="0" sz="7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5" name="Google Shape;185;p7"/>
          <p:cNvCxnSpPr/>
          <p:nvPr/>
        </p:nvCxnSpPr>
        <p:spPr>
          <a:xfrm>
            <a:off x="476250" y="476250"/>
            <a:ext cx="8177213" cy="0"/>
          </a:xfrm>
          <a:prstGeom prst="straightConnector1">
            <a:avLst/>
          </a:prstGeom>
          <a:noFill/>
          <a:ln cap="flat" cmpd="sng" w="9525">
            <a:solidFill>
              <a:srgbClr val="7A7A7A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preencoded.png" id="186" name="Google Shape;18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05750" y="204788"/>
            <a:ext cx="748308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"/>
          <p:cNvSpPr/>
          <p:nvPr/>
        </p:nvSpPr>
        <p:spPr>
          <a:xfrm>
            <a:off x="476250" y="914400"/>
            <a:ext cx="5414963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Neuton"/>
              <a:buNone/>
            </a:pPr>
            <a:r>
              <a:rPr b="0" i="0" lang="en-US" sz="2850" u="none" cap="none" strike="noStrike">
                <a:solidFill>
                  <a:srgbClr val="000000"/>
                </a:solidFill>
                <a:latin typeface="Neuton"/>
                <a:ea typeface="Neuton"/>
                <a:cs typeface="Neuton"/>
                <a:sym typeface="Neuton"/>
              </a:rPr>
              <a:t>EverMemOS Memory Lifecycle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3" name="Google Shape;193;p8"/>
          <p:cNvCxnSpPr/>
          <p:nvPr/>
        </p:nvCxnSpPr>
        <p:spPr>
          <a:xfrm>
            <a:off x="476250" y="2662238"/>
            <a:ext cx="8667750" cy="0"/>
          </a:xfrm>
          <a:prstGeom prst="straightConnector1">
            <a:avLst/>
          </a:prstGeom>
          <a:noFill/>
          <a:ln cap="flat" cmpd="sng" w="9525">
            <a:solidFill>
              <a:srgbClr val="00331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4" name="Google Shape;194;p8"/>
          <p:cNvSpPr/>
          <p:nvPr/>
        </p:nvSpPr>
        <p:spPr>
          <a:xfrm>
            <a:off x="476250" y="2028825"/>
            <a:ext cx="962025" cy="242888"/>
          </a:xfrm>
          <a:prstGeom prst="roundRect">
            <a:avLst>
              <a:gd fmla="val 150588" name="adj"/>
            </a:avLst>
          </a:prstGeom>
          <a:solidFill>
            <a:srgbClr val="FFC5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8"/>
          <p:cNvSpPr/>
          <p:nvPr/>
        </p:nvSpPr>
        <p:spPr>
          <a:xfrm>
            <a:off x="733425" y="2076450"/>
            <a:ext cx="447675" cy="147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94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5"/>
              <a:buFont typeface="Open Sans"/>
              <a:buNone/>
            </a:pPr>
            <a:r>
              <a:rPr b="0" i="0" lang="en-US" sz="855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CAPTURE</a:t>
            </a:r>
            <a:endParaRPr b="0" i="0" sz="8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2562225" y="2028825"/>
            <a:ext cx="962025" cy="242888"/>
          </a:xfrm>
          <a:prstGeom prst="roundRect">
            <a:avLst>
              <a:gd fmla="val 150588" name="adj"/>
            </a:avLst>
          </a:prstGeom>
          <a:solidFill>
            <a:srgbClr val="FFC5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"/>
          <p:cNvSpPr/>
          <p:nvPr/>
        </p:nvSpPr>
        <p:spPr>
          <a:xfrm>
            <a:off x="2819400" y="2076450"/>
            <a:ext cx="447675" cy="147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94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5"/>
              <a:buFont typeface="Open Sans"/>
              <a:buNone/>
            </a:pPr>
            <a:r>
              <a:rPr b="0" i="0" lang="en-US" sz="855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STORE</a:t>
            </a:r>
            <a:endParaRPr b="0" i="0" sz="8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4648200" y="2028825"/>
            <a:ext cx="962025" cy="242888"/>
          </a:xfrm>
          <a:prstGeom prst="roundRect">
            <a:avLst>
              <a:gd fmla="val 150588" name="adj"/>
            </a:avLst>
          </a:prstGeom>
          <a:solidFill>
            <a:srgbClr val="FFC5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8"/>
          <p:cNvSpPr/>
          <p:nvPr/>
        </p:nvSpPr>
        <p:spPr>
          <a:xfrm>
            <a:off x="4905375" y="2076450"/>
            <a:ext cx="447675" cy="147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94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5"/>
              <a:buFont typeface="Open Sans"/>
              <a:buNone/>
            </a:pPr>
            <a:r>
              <a:rPr b="0" i="0" lang="en-US" sz="855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CONSOLIDATE</a:t>
            </a:r>
            <a:endParaRPr b="0" i="0" sz="8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6757988" y="2028825"/>
            <a:ext cx="962025" cy="242888"/>
          </a:xfrm>
          <a:prstGeom prst="roundRect">
            <a:avLst>
              <a:gd fmla="val 150588" name="adj"/>
            </a:avLst>
          </a:prstGeom>
          <a:solidFill>
            <a:srgbClr val="FFC5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8"/>
          <p:cNvSpPr/>
          <p:nvPr/>
        </p:nvSpPr>
        <p:spPr>
          <a:xfrm>
            <a:off x="7015163" y="2076450"/>
            <a:ext cx="447675" cy="147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94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5"/>
              <a:buFont typeface="Open Sans"/>
              <a:buNone/>
            </a:pPr>
            <a:r>
              <a:rPr b="0" i="0" lang="en-US" sz="855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RECONSTRUCT</a:t>
            </a:r>
            <a:endParaRPr b="0" i="0" sz="8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476250" y="2633663"/>
            <a:ext cx="57150" cy="57150"/>
          </a:xfrm>
          <a:prstGeom prst="ellipse">
            <a:avLst/>
          </a:prstGeom>
          <a:solidFill>
            <a:srgbClr val="0033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8"/>
          <p:cNvSpPr/>
          <p:nvPr/>
        </p:nvSpPr>
        <p:spPr>
          <a:xfrm>
            <a:off x="2562225" y="2633663"/>
            <a:ext cx="57150" cy="57150"/>
          </a:xfrm>
          <a:prstGeom prst="ellipse">
            <a:avLst/>
          </a:prstGeom>
          <a:solidFill>
            <a:srgbClr val="0033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8"/>
          <p:cNvSpPr/>
          <p:nvPr/>
        </p:nvSpPr>
        <p:spPr>
          <a:xfrm>
            <a:off x="4643438" y="2633663"/>
            <a:ext cx="57150" cy="57150"/>
          </a:xfrm>
          <a:prstGeom prst="ellipse">
            <a:avLst/>
          </a:prstGeom>
          <a:solidFill>
            <a:srgbClr val="0033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8"/>
          <p:cNvSpPr/>
          <p:nvPr/>
        </p:nvSpPr>
        <p:spPr>
          <a:xfrm>
            <a:off x="6729413" y="2633663"/>
            <a:ext cx="57150" cy="57150"/>
          </a:xfrm>
          <a:prstGeom prst="ellipse">
            <a:avLst/>
          </a:prstGeom>
          <a:solidFill>
            <a:srgbClr val="0033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8"/>
          <p:cNvSpPr/>
          <p:nvPr/>
        </p:nvSpPr>
        <p:spPr>
          <a:xfrm>
            <a:off x="476250" y="2971800"/>
            <a:ext cx="1833563" cy="1624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29941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855"/>
              <a:buFont typeface="Open Sans"/>
              <a:buChar char="•"/>
            </a:pPr>
            <a:r>
              <a:rPr b="0" i="0" lang="en-US" sz="855" u="none" cap="none" strike="noStrike">
                <a:solidFill>
                  <a:srgbClr val="7A7A7A"/>
                </a:solidFill>
                <a:latin typeface="Open Sans"/>
                <a:ea typeface="Open Sans"/>
                <a:cs typeface="Open Sans"/>
                <a:sym typeface="Open Sans"/>
              </a:rPr>
              <a:t>User completes a coherence check, council dialogue, or threshold capture. Raw data with motifs, factors, and phase.</a:t>
            </a:r>
            <a:endParaRPr b="0" i="0" sz="8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9941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855"/>
              <a:buFont typeface="Open Sans"/>
              <a:buChar char="•"/>
            </a:pPr>
            <a:r>
              <a:rPr b="0" i="0" lang="en-US" sz="855" u="none" cap="none" strike="noStrike">
                <a:solidFill>
                  <a:srgbClr val="7A7A7A"/>
                </a:solidFill>
                <a:latin typeface="Open Sans"/>
                <a:ea typeface="Open Sans"/>
                <a:cs typeface="Open Sans"/>
                <a:sym typeface="Open Sans"/>
              </a:rPr>
              <a:t/>
            </a:r>
            <a:endParaRPr b="0" i="0" sz="8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9941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855"/>
              <a:buFont typeface="Open Sans"/>
              <a:buChar char="•"/>
            </a:pPr>
            <a:r>
              <a:rPr b="0" i="0" lang="en-US" sz="855" u="none" cap="none" strike="noStrike">
                <a:solidFill>
                  <a:srgbClr val="7A7A7A"/>
                </a:solidFill>
                <a:latin typeface="Open Sans"/>
                <a:ea typeface="Open Sans"/>
                <a:cs typeface="Open Sans"/>
                <a:sym typeface="Open Sans"/>
              </a:rPr>
              <a:t/>
            </a:r>
            <a:endParaRPr b="0" i="0" sz="8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2571750" y="2971800"/>
            <a:ext cx="1833563" cy="1624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29941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855"/>
              <a:buFont typeface="Open Sans"/>
              <a:buChar char="•"/>
            </a:pPr>
            <a:r>
              <a:rPr b="0" i="0" lang="en-US" sz="855" u="none" cap="none" strike="noStrike">
                <a:solidFill>
                  <a:srgbClr val="7A7A7A"/>
                </a:solidFill>
                <a:latin typeface="Open Sans"/>
                <a:ea typeface="Open Sans"/>
                <a:cs typeface="Open Sans"/>
                <a:sym typeface="Open Sans"/>
              </a:rPr>
              <a:t>Formatted as MemCell with rich tags. Fire-and-forget into EverMemOS. Zero latency impact.</a:t>
            </a:r>
            <a:endParaRPr b="0" i="0" sz="8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9941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855"/>
              <a:buFont typeface="Open Sans"/>
              <a:buChar char="•"/>
            </a:pPr>
            <a:r>
              <a:rPr b="0" i="0" lang="en-US" sz="855" u="none" cap="none" strike="noStrike">
                <a:solidFill>
                  <a:srgbClr val="7A7A7A"/>
                </a:solidFill>
                <a:latin typeface="Open Sans"/>
                <a:ea typeface="Open Sans"/>
                <a:cs typeface="Open Sans"/>
                <a:sym typeface="Open Sans"/>
              </a:rPr>
              <a:t/>
            </a:r>
            <a:endParaRPr b="0" i="0" sz="8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9941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855"/>
              <a:buFont typeface="Open Sans"/>
              <a:buChar char="•"/>
            </a:pPr>
            <a:r>
              <a:rPr b="0" i="0" lang="en-US" sz="855" u="none" cap="none" strike="noStrike">
                <a:solidFill>
                  <a:srgbClr val="7A7A7A"/>
                </a:solidFill>
                <a:latin typeface="Open Sans"/>
                <a:ea typeface="Open Sans"/>
                <a:cs typeface="Open Sans"/>
                <a:sym typeface="Open Sans"/>
              </a:rPr>
              <a:t/>
            </a:r>
            <a:endParaRPr b="0" i="0" sz="8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4667250" y="2971800"/>
            <a:ext cx="1833563" cy="1624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29941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855"/>
              <a:buFont typeface="Open Sans"/>
              <a:buChar char="•"/>
            </a:pPr>
            <a:r>
              <a:rPr b="0" i="0" lang="en-US" sz="855" u="none" cap="none" strike="noStrike">
                <a:solidFill>
                  <a:srgbClr val="7A7A7A"/>
                </a:solidFill>
                <a:latin typeface="Open Sans"/>
                <a:ea typeface="Open Sans"/>
                <a:cs typeface="Open Sans"/>
                <a:sym typeface="Open Sans"/>
              </a:rPr>
              <a:t>EverMemOS detects patterns: sovereignty 4×, Sage correlates with clarity. The system earns standing.</a:t>
            </a:r>
            <a:endParaRPr b="0" i="0" sz="8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9941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855"/>
              <a:buFont typeface="Open Sans"/>
              <a:buChar char="•"/>
            </a:pPr>
            <a:r>
              <a:rPr b="0" i="0" lang="en-US" sz="855" u="none" cap="none" strike="noStrike">
                <a:solidFill>
                  <a:srgbClr val="7A7A7A"/>
                </a:solidFill>
                <a:latin typeface="Open Sans"/>
                <a:ea typeface="Open Sans"/>
                <a:cs typeface="Open Sans"/>
                <a:sym typeface="Open Sans"/>
              </a:rPr>
              <a:t/>
            </a:r>
            <a:endParaRPr b="0" i="0" sz="8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9941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855"/>
              <a:buFont typeface="Open Sans"/>
              <a:buChar char="•"/>
            </a:pPr>
            <a:r>
              <a:rPr b="0" i="0" lang="en-US" sz="855" u="none" cap="none" strike="noStrike">
                <a:solidFill>
                  <a:srgbClr val="7A7A7A"/>
                </a:solidFill>
                <a:latin typeface="Open Sans"/>
                <a:ea typeface="Open Sans"/>
                <a:cs typeface="Open Sans"/>
                <a:sym typeface="Open Sans"/>
              </a:rPr>
              <a:t/>
            </a:r>
            <a:endParaRPr b="0" i="0" sz="8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6762750" y="2971800"/>
            <a:ext cx="1833563" cy="1624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29941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855"/>
              <a:buFont typeface="Open Sans"/>
              <a:buChar char="•"/>
            </a:pPr>
            <a:r>
              <a:rPr b="0" i="0" lang="en-US" sz="855" u="none" cap="none" strike="noStrike">
                <a:solidFill>
                  <a:srgbClr val="7A7A7A"/>
                </a:solidFill>
                <a:latin typeface="Open Sans"/>
                <a:ea typeface="Open Sans"/>
                <a:cs typeface="Open Sans"/>
                <a:sym typeface="Open Sans"/>
              </a:rPr>
              <a:t>Agentic retrieval rebuilds the arc as a disputable account. The user argues. The correction IS the product.</a:t>
            </a:r>
            <a:endParaRPr b="0" i="0" sz="8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9941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855"/>
              <a:buFont typeface="Open Sans"/>
              <a:buChar char="•"/>
            </a:pPr>
            <a:r>
              <a:rPr b="0" i="0" lang="en-US" sz="855" u="none" cap="none" strike="noStrike">
                <a:solidFill>
                  <a:srgbClr val="7A7A7A"/>
                </a:solidFill>
                <a:latin typeface="Open Sans"/>
                <a:ea typeface="Open Sans"/>
                <a:cs typeface="Open Sans"/>
                <a:sym typeface="Open Sans"/>
              </a:rPr>
              <a:t/>
            </a:r>
            <a:endParaRPr b="0" i="0" sz="8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9941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855"/>
              <a:buFont typeface="Open Sans"/>
              <a:buChar char="•"/>
            </a:pPr>
            <a:r>
              <a:rPr b="0" i="0" lang="en-US" sz="855" u="none" cap="none" strike="noStrike">
                <a:solidFill>
                  <a:srgbClr val="7A7A7A"/>
                </a:solidFill>
                <a:latin typeface="Open Sans"/>
                <a:ea typeface="Open Sans"/>
                <a:cs typeface="Open Sans"/>
                <a:sym typeface="Open Sans"/>
              </a:rPr>
              <a:t/>
            </a:r>
            <a:endParaRPr b="0" i="0" sz="8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476250" y="219075"/>
            <a:ext cx="542925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15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713"/>
              <a:buFont typeface="Open Sans"/>
              <a:buNone/>
            </a:pPr>
            <a:r>
              <a:rPr b="1" i="0" lang="en-US" sz="713" u="none" cap="none" strike="noStrike">
                <a:solidFill>
                  <a:srgbClr val="7A7A7A"/>
                </a:solidFill>
                <a:latin typeface="Open Sans"/>
                <a:ea typeface="Open Sans"/>
                <a:cs typeface="Open Sans"/>
                <a:sym typeface="Open Sans"/>
              </a:rPr>
              <a:t>SLIDE TITLE</a:t>
            </a:r>
            <a:endParaRPr b="0" i="0" sz="7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1" name="Google Shape;211;p8"/>
          <p:cNvCxnSpPr/>
          <p:nvPr/>
        </p:nvCxnSpPr>
        <p:spPr>
          <a:xfrm>
            <a:off x="476250" y="476250"/>
            <a:ext cx="8177213" cy="0"/>
          </a:xfrm>
          <a:prstGeom prst="straightConnector1">
            <a:avLst/>
          </a:prstGeom>
          <a:noFill/>
          <a:ln cap="flat" cmpd="sng" w="9525">
            <a:solidFill>
              <a:srgbClr val="7A7A7A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preencoded.png" id="212" name="Google Shape;21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05750" y="204788"/>
            <a:ext cx="748308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9"/>
          <p:cNvSpPr/>
          <p:nvPr/>
        </p:nvSpPr>
        <p:spPr>
          <a:xfrm>
            <a:off x="476250" y="914400"/>
            <a:ext cx="5414963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Neuton"/>
              <a:buNone/>
            </a:pPr>
            <a:r>
              <a:rPr b="0" i="0" lang="en-US" sz="2850" u="none" cap="none" strike="noStrike">
                <a:solidFill>
                  <a:srgbClr val="000000"/>
                </a:solidFill>
                <a:latin typeface="Neuton"/>
                <a:ea typeface="Neuton"/>
                <a:cs typeface="Neuton"/>
                <a:sym typeface="Neuton"/>
              </a:rPr>
              <a:t>Why Liminal Space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6729413" y="1562100"/>
            <a:ext cx="1938337" cy="3033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9"/>
          <p:cNvSpPr/>
          <p:nvPr/>
        </p:nvSpPr>
        <p:spPr>
          <a:xfrm>
            <a:off x="6729413" y="1562100"/>
            <a:ext cx="1938337" cy="766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9"/>
          <p:cNvSpPr/>
          <p:nvPr/>
        </p:nvSpPr>
        <p:spPr>
          <a:xfrm>
            <a:off x="6729413" y="1562100"/>
            <a:ext cx="1938337" cy="5762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30"/>
              </a:lnSpc>
              <a:spcBef>
                <a:spcPts val="0"/>
              </a:spcBef>
              <a:spcAft>
                <a:spcPts val="0"/>
              </a:spcAft>
              <a:buClr>
                <a:srgbClr val="2DABC2"/>
              </a:buClr>
              <a:buSzPts val="3918"/>
              <a:buFont typeface="Neuton"/>
              <a:buNone/>
            </a:pPr>
            <a:r>
              <a:rPr b="0" i="0" lang="en-US" sz="3918" u="none" cap="none" strike="noStrike">
                <a:solidFill>
                  <a:srgbClr val="2DABC2"/>
                </a:solidFill>
                <a:latin typeface="Neuton"/>
                <a:ea typeface="Neuton"/>
                <a:cs typeface="Neuton"/>
                <a:sym typeface="Neuton"/>
              </a:rPr>
              <a:t>271</a:t>
            </a:r>
            <a:endParaRPr b="0" i="0" sz="391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6729413" y="2214563"/>
            <a:ext cx="1914525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3"/>
              <a:buFont typeface="Open Sans"/>
              <a:buNone/>
            </a:pPr>
            <a:r>
              <a:rPr b="1" i="0" lang="en-US" sz="713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API ROUTES</a:t>
            </a:r>
            <a:endParaRPr b="0" i="0" sz="7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6729413" y="2705100"/>
            <a:ext cx="1938337" cy="747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9"/>
          <p:cNvSpPr/>
          <p:nvPr/>
        </p:nvSpPr>
        <p:spPr>
          <a:xfrm>
            <a:off x="6729413" y="2705100"/>
            <a:ext cx="1938337" cy="5762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30"/>
              </a:lnSpc>
              <a:spcBef>
                <a:spcPts val="0"/>
              </a:spcBef>
              <a:spcAft>
                <a:spcPts val="0"/>
              </a:spcAft>
              <a:buClr>
                <a:srgbClr val="2DABC2"/>
              </a:buClr>
              <a:buSzPts val="3918"/>
              <a:buFont typeface="Neuton"/>
              <a:buNone/>
            </a:pPr>
            <a:r>
              <a:rPr b="0" i="0" lang="en-US" sz="3918" u="none" cap="none" strike="noStrike">
                <a:solidFill>
                  <a:srgbClr val="2DABC2"/>
                </a:solidFill>
                <a:latin typeface="Neuton"/>
                <a:ea typeface="Neuton"/>
                <a:cs typeface="Neuton"/>
                <a:sym typeface="Neuton"/>
              </a:rPr>
              <a:t>125</a:t>
            </a:r>
            <a:endParaRPr b="0" i="0" sz="391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6729413" y="3338513"/>
            <a:ext cx="1914525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3"/>
              <a:buFont typeface="Open Sans"/>
              <a:buNone/>
            </a:pPr>
            <a:r>
              <a:rPr b="1" i="0" lang="en-US" sz="713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DB MIGRATIONS</a:t>
            </a:r>
            <a:endParaRPr b="0" i="0" sz="7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6729413" y="3829050"/>
            <a:ext cx="1938337" cy="766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9"/>
          <p:cNvSpPr/>
          <p:nvPr/>
        </p:nvSpPr>
        <p:spPr>
          <a:xfrm>
            <a:off x="6729413" y="3829050"/>
            <a:ext cx="1938337" cy="5762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30"/>
              </a:lnSpc>
              <a:spcBef>
                <a:spcPts val="0"/>
              </a:spcBef>
              <a:spcAft>
                <a:spcPts val="0"/>
              </a:spcAft>
              <a:buClr>
                <a:srgbClr val="2DABC2"/>
              </a:buClr>
              <a:buSzPts val="3918"/>
              <a:buFont typeface="Neuton"/>
              <a:buNone/>
            </a:pPr>
            <a:r>
              <a:rPr b="0" i="0" lang="en-US" sz="3918" u="none" cap="none" strike="noStrike">
                <a:solidFill>
                  <a:srgbClr val="2DABC2"/>
                </a:solidFill>
                <a:latin typeface="Neuton"/>
                <a:ea typeface="Neuton"/>
                <a:cs typeface="Neuton"/>
                <a:sym typeface="Neuton"/>
              </a:rPr>
              <a:t>66</a:t>
            </a:r>
            <a:endParaRPr b="0" i="0" sz="391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6729413" y="4481513"/>
            <a:ext cx="1914525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3"/>
              <a:buFont typeface="Open Sans"/>
              <a:buNone/>
            </a:pPr>
            <a:r>
              <a:rPr b="1" i="0" lang="en-US" sz="713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SOURCE FILES IN THIS REPO</a:t>
            </a:r>
            <a:endParaRPr b="0" i="0" sz="7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9" name="Google Shape;22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5775" y="1562100"/>
            <a:ext cx="5405438" cy="310515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9"/>
          <p:cNvSpPr/>
          <p:nvPr/>
        </p:nvSpPr>
        <p:spPr>
          <a:xfrm>
            <a:off x="619125" y="1690688"/>
            <a:ext cx="1862138" cy="8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1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1"/>
              <a:buFont typeface="Open Sans"/>
              <a:buNone/>
            </a:pPr>
            <a:r>
              <a:rPr b="0" i="0" lang="en-US" sz="641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Our ontology maps to cognitive science. 7 coherence factors → psychological state dimensions. 12 archetypes → personality psychology. EverMemOS didn't add memory to a prototype — it gave standing to a system already tracking the right data.</a:t>
            </a:r>
            <a:endParaRPr b="0" i="0" sz="6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1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1"/>
              <a:buFont typeface="Open Sans"/>
              <a:buNone/>
            </a:pPr>
            <a:r>
              <a:rPr b="0" i="0" lang="en-US" sz="641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/>
            </a:r>
            <a:endParaRPr b="0" i="0" sz="6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9"/>
          <p:cNvSpPr/>
          <p:nvPr/>
        </p:nvSpPr>
        <p:spPr>
          <a:xfrm>
            <a:off x="476250" y="219075"/>
            <a:ext cx="542925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15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713"/>
              <a:buFont typeface="Open Sans"/>
              <a:buNone/>
            </a:pPr>
            <a:r>
              <a:rPr b="1" i="0" lang="en-US" sz="713" u="none" cap="none" strike="noStrike">
                <a:solidFill>
                  <a:srgbClr val="7A7A7A"/>
                </a:solidFill>
                <a:latin typeface="Open Sans"/>
                <a:ea typeface="Open Sans"/>
                <a:cs typeface="Open Sans"/>
                <a:sym typeface="Open Sans"/>
              </a:rPr>
              <a:t>SLIDE TITLE</a:t>
            </a:r>
            <a:endParaRPr b="0" i="0" sz="7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2" name="Google Shape;232;p9"/>
          <p:cNvCxnSpPr/>
          <p:nvPr/>
        </p:nvCxnSpPr>
        <p:spPr>
          <a:xfrm>
            <a:off x="476250" y="476250"/>
            <a:ext cx="8177213" cy="0"/>
          </a:xfrm>
          <a:prstGeom prst="straightConnector1">
            <a:avLst/>
          </a:prstGeom>
          <a:noFill/>
          <a:ln cap="flat" cmpd="sng" w="9525">
            <a:solidFill>
              <a:srgbClr val="7A7A7A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preencoded.png" id="233" name="Google Shape;233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05750" y="204788"/>
            <a:ext cx="748308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0"/>
          <p:cNvSpPr/>
          <p:nvPr/>
        </p:nvSpPr>
        <p:spPr>
          <a:xfrm>
            <a:off x="476250" y="914400"/>
            <a:ext cx="5414963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50"/>
              <a:buFont typeface="Neuton"/>
              <a:buNone/>
            </a:pPr>
            <a:r>
              <a:rPr b="0" i="0" lang="en-US" sz="2850" u="none" cap="none" strike="noStrike">
                <a:solidFill>
                  <a:srgbClr val="FFFFFF"/>
                </a:solidFill>
                <a:latin typeface="Neuton"/>
                <a:ea typeface="Neuton"/>
                <a:cs typeface="Neuton"/>
                <a:sym typeface="Neuton"/>
              </a:rPr>
              <a:t>Why This Integration Works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0"/>
          <p:cNvSpPr/>
          <p:nvPr/>
        </p:nvSpPr>
        <p:spPr>
          <a:xfrm>
            <a:off x="476250" y="1638300"/>
            <a:ext cx="8177213" cy="3028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0"/>
          <p:cNvSpPr/>
          <p:nvPr/>
        </p:nvSpPr>
        <p:spPr>
          <a:xfrm>
            <a:off x="485775" y="1638300"/>
            <a:ext cx="8158163" cy="542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0"/>
          <p:cNvSpPr/>
          <p:nvPr/>
        </p:nvSpPr>
        <p:spPr>
          <a:xfrm>
            <a:off x="485775" y="1638300"/>
            <a:ext cx="34480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0"/>
          <p:cNvSpPr/>
          <p:nvPr/>
        </p:nvSpPr>
        <p:spPr>
          <a:xfrm>
            <a:off x="485775" y="1638300"/>
            <a:ext cx="3448050" cy="128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53"/>
              </a:lnSpc>
              <a:spcBef>
                <a:spcPts val="0"/>
              </a:spcBef>
              <a:spcAft>
                <a:spcPts val="0"/>
              </a:spcAft>
              <a:buClr>
                <a:srgbClr val="FFC53D"/>
              </a:buClr>
              <a:buSzPts val="1283"/>
              <a:buFont typeface="Open Sans"/>
              <a:buNone/>
            </a:pPr>
            <a:r>
              <a:rPr b="0" i="0" lang="en-US" sz="1283" u="none" cap="none" strike="noStrike">
                <a:solidFill>
                  <a:srgbClr val="FFC53D"/>
                </a:solidFill>
                <a:latin typeface="Open Sans"/>
                <a:ea typeface="Open Sans"/>
                <a:cs typeface="Open Sans"/>
                <a:sym typeface="Open Sans"/>
              </a:rPr>
              <a:t>Production app, not a prototype</a:t>
            </a:r>
            <a:endParaRPr b="0" i="0" sz="12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0"/>
          <p:cNvSpPr/>
          <p:nvPr/>
        </p:nvSpPr>
        <p:spPr>
          <a:xfrm>
            <a:off x="485775" y="1885950"/>
            <a:ext cx="34480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94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5"/>
              <a:buFont typeface="Open Sans"/>
              <a:buNone/>
            </a:pPr>
            <a:r>
              <a:rPr b="0" i="0" lang="en-US" sz="855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271 API routes, 125 DB migrations. Deployed at theliminalspace.io. Real users, real data.</a:t>
            </a:r>
            <a:endParaRPr b="0" i="0" sz="8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0"/>
          <p:cNvSpPr/>
          <p:nvPr/>
        </p:nvSpPr>
        <p:spPr>
          <a:xfrm>
            <a:off x="5467350" y="1885950"/>
            <a:ext cx="3176588" cy="295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94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5"/>
              <a:buFont typeface="Open Sans"/>
              <a:buNone/>
            </a:pPr>
            <a:r>
              <a:rPr b="0" i="0" lang="en-US" sz="855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EverMemOS didn't add memory to a prototype. It gave standing to a production system already tracking the right data.</a:t>
            </a:r>
            <a:endParaRPr b="0" i="0" sz="8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0"/>
          <p:cNvSpPr/>
          <p:nvPr/>
        </p:nvSpPr>
        <p:spPr>
          <a:xfrm>
            <a:off x="485775" y="2466975"/>
            <a:ext cx="8158163" cy="542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0"/>
          <p:cNvSpPr/>
          <p:nvPr/>
        </p:nvSpPr>
        <p:spPr>
          <a:xfrm>
            <a:off x="485775" y="2466975"/>
            <a:ext cx="34480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0"/>
          <p:cNvSpPr/>
          <p:nvPr/>
        </p:nvSpPr>
        <p:spPr>
          <a:xfrm>
            <a:off x="485775" y="2466975"/>
            <a:ext cx="34480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0"/>
          <p:cNvSpPr/>
          <p:nvPr/>
        </p:nvSpPr>
        <p:spPr>
          <a:xfrm>
            <a:off x="485775" y="2466975"/>
            <a:ext cx="3448050" cy="128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53"/>
              </a:lnSpc>
              <a:spcBef>
                <a:spcPts val="0"/>
              </a:spcBef>
              <a:spcAft>
                <a:spcPts val="0"/>
              </a:spcAft>
              <a:buClr>
                <a:srgbClr val="FFC53D"/>
              </a:buClr>
              <a:buSzPts val="1283"/>
              <a:buFont typeface="Open Sans"/>
              <a:buNone/>
            </a:pPr>
            <a:r>
              <a:rPr b="0" i="0" lang="en-US" sz="1283" u="none" cap="none" strike="noStrike">
                <a:solidFill>
                  <a:srgbClr val="FFC53D"/>
                </a:solidFill>
                <a:latin typeface="Open Sans"/>
                <a:ea typeface="Open Sans"/>
                <a:cs typeface="Open Sans"/>
                <a:sym typeface="Open Sans"/>
              </a:rPr>
              <a:t>Full EverMemOS lifecycle used</a:t>
            </a:r>
            <a:endParaRPr b="0" i="0" sz="12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0"/>
          <p:cNvSpPr/>
          <p:nvPr/>
        </p:nvSpPr>
        <p:spPr>
          <a:xfrm>
            <a:off x="485775" y="2714625"/>
            <a:ext cx="34480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94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5"/>
              <a:buFont typeface="Open Sans"/>
              <a:buNone/>
            </a:pPr>
            <a:r>
              <a:rPr b="0" i="0" lang="en-US" sz="855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Episodic trace → semantic consolidation → reconstructive recollection. All 3 phases demonstrated.</a:t>
            </a:r>
            <a:endParaRPr b="0" i="0" sz="8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0"/>
          <p:cNvSpPr/>
          <p:nvPr/>
        </p:nvSpPr>
        <p:spPr>
          <a:xfrm>
            <a:off x="5467350" y="2714625"/>
            <a:ext cx="3176588" cy="295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94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5"/>
              <a:buFont typeface="Open Sans"/>
              <a:buNone/>
            </a:pPr>
            <a:r>
              <a:rPr b="0" i="0" lang="en-US" sz="855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Most competitors use episodic trace only. We demonstrate the full loop: Memory → Reasoning → Action → Correction.</a:t>
            </a:r>
            <a:endParaRPr b="0" i="0" sz="8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0"/>
          <p:cNvSpPr/>
          <p:nvPr/>
        </p:nvSpPr>
        <p:spPr>
          <a:xfrm>
            <a:off x="485775" y="3295650"/>
            <a:ext cx="8158163" cy="542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0"/>
          <p:cNvSpPr/>
          <p:nvPr/>
        </p:nvSpPr>
        <p:spPr>
          <a:xfrm>
            <a:off x="485775" y="3295650"/>
            <a:ext cx="34480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0"/>
          <p:cNvSpPr/>
          <p:nvPr/>
        </p:nvSpPr>
        <p:spPr>
          <a:xfrm>
            <a:off x="485775" y="3295650"/>
            <a:ext cx="34480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0"/>
          <p:cNvSpPr/>
          <p:nvPr/>
        </p:nvSpPr>
        <p:spPr>
          <a:xfrm>
            <a:off x="485775" y="3295650"/>
            <a:ext cx="3448050" cy="128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53"/>
              </a:lnSpc>
              <a:spcBef>
                <a:spcPts val="0"/>
              </a:spcBef>
              <a:spcAft>
                <a:spcPts val="0"/>
              </a:spcAft>
              <a:buClr>
                <a:srgbClr val="FFC53D"/>
              </a:buClr>
              <a:buSzPts val="1283"/>
              <a:buFont typeface="Open Sans"/>
              <a:buNone/>
            </a:pPr>
            <a:r>
              <a:rPr b="0" i="0" lang="en-US" sz="1283" u="none" cap="none" strike="noStrike">
                <a:solidFill>
                  <a:srgbClr val="FFC53D"/>
                </a:solidFill>
                <a:latin typeface="Open Sans"/>
                <a:ea typeface="Open Sans"/>
                <a:cs typeface="Open Sans"/>
                <a:sym typeface="Open Sans"/>
              </a:rPr>
              <a:t>Graceful degradation by design</a:t>
            </a:r>
            <a:endParaRPr b="0" i="0" sz="12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0"/>
          <p:cNvSpPr/>
          <p:nvPr/>
        </p:nvSpPr>
        <p:spPr>
          <a:xfrm>
            <a:off x="485775" y="3543300"/>
            <a:ext cx="34480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94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5"/>
              <a:buFont typeface="Open Sans"/>
              <a:buNone/>
            </a:pPr>
            <a:r>
              <a:rPr b="0" i="0" lang="en-US" sz="855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All channels fire-and-forget. App works identically without EverMemOS. It just accumulates when memory is available.</a:t>
            </a:r>
            <a:endParaRPr b="0" i="0" sz="8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0"/>
          <p:cNvSpPr/>
          <p:nvPr/>
        </p:nvSpPr>
        <p:spPr>
          <a:xfrm>
            <a:off x="5467350" y="3543300"/>
            <a:ext cx="3176588" cy="295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94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5"/>
              <a:buFont typeface="Open Sans"/>
              <a:buNone/>
            </a:pPr>
            <a:r>
              <a:rPr b="0" i="0" lang="en-US" sz="855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The correction loop IS the product. Every disagreement is data. Every argument is self-knowledge.</a:t>
            </a:r>
            <a:endParaRPr b="0" i="0" sz="8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0"/>
          <p:cNvSpPr/>
          <p:nvPr/>
        </p:nvSpPr>
        <p:spPr>
          <a:xfrm>
            <a:off x="476250" y="4124325"/>
            <a:ext cx="8177213" cy="542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0"/>
          <p:cNvSpPr/>
          <p:nvPr/>
        </p:nvSpPr>
        <p:spPr>
          <a:xfrm>
            <a:off x="476250" y="4124325"/>
            <a:ext cx="34480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0"/>
          <p:cNvSpPr/>
          <p:nvPr/>
        </p:nvSpPr>
        <p:spPr>
          <a:xfrm>
            <a:off x="476250" y="4124325"/>
            <a:ext cx="34480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0"/>
          <p:cNvSpPr/>
          <p:nvPr/>
        </p:nvSpPr>
        <p:spPr>
          <a:xfrm>
            <a:off x="476250" y="4124325"/>
            <a:ext cx="3448050" cy="128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53"/>
              </a:lnSpc>
              <a:spcBef>
                <a:spcPts val="0"/>
              </a:spcBef>
              <a:spcAft>
                <a:spcPts val="0"/>
              </a:spcAft>
              <a:buClr>
                <a:srgbClr val="FFC53D"/>
              </a:buClr>
              <a:buSzPts val="1283"/>
              <a:buFont typeface="Open Sans"/>
              <a:buNone/>
            </a:pPr>
            <a:r>
              <a:rPr b="0" i="0" lang="en-US" sz="1283" u="none" cap="none" strike="noStrike">
                <a:solidFill>
                  <a:srgbClr val="FFC53D"/>
                </a:solidFill>
                <a:latin typeface="Open Sans"/>
                <a:ea typeface="Open Sans"/>
                <a:cs typeface="Open Sans"/>
                <a:sym typeface="Open Sans"/>
              </a:rPr>
              <a:t>Category of one</a:t>
            </a:r>
            <a:endParaRPr b="0" i="0" sz="12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0"/>
          <p:cNvSpPr/>
          <p:nvPr/>
        </p:nvSpPr>
        <p:spPr>
          <a:xfrm>
            <a:off x="476250" y="4371975"/>
            <a:ext cx="34480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94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5"/>
              <a:buFont typeface="Open Sans"/>
              <a:buNone/>
            </a:pPr>
            <a:r>
              <a:rPr b="0" i="0" lang="en-US" sz="855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Nobody else is using EverMemOS for psychological transformation tracking. The ontology is genuinely novel.</a:t>
            </a:r>
            <a:endParaRPr b="0" i="0" sz="8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0"/>
          <p:cNvSpPr/>
          <p:nvPr/>
        </p:nvSpPr>
        <p:spPr>
          <a:xfrm>
            <a:off x="5476875" y="4371975"/>
            <a:ext cx="3176588" cy="295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94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5"/>
              <a:buFont typeface="Open Sans"/>
              <a:buNone/>
            </a:pPr>
            <a:r>
              <a:rPr b="0" i="0" lang="en-US" sz="855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An interlocutor that holds the record of who you've been and confronts you with it. Not a chatbot. Not a mirror.</a:t>
            </a:r>
            <a:endParaRPr b="0" i="0" sz="8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4" name="Google Shape;26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19588" y="2033588"/>
            <a:ext cx="731044" cy="1052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5" name="Google Shape;26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19588" y="2833688"/>
            <a:ext cx="731044" cy="1052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6" name="Google Shape;26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19588" y="3662362"/>
            <a:ext cx="731044" cy="1052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7" name="Google Shape;26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19588" y="4519613"/>
            <a:ext cx="731044" cy="105212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10"/>
          <p:cNvSpPr/>
          <p:nvPr/>
        </p:nvSpPr>
        <p:spPr>
          <a:xfrm>
            <a:off x="476250" y="219075"/>
            <a:ext cx="542925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13"/>
              <a:buFont typeface="Open Sans"/>
              <a:buNone/>
            </a:pPr>
            <a:r>
              <a:rPr b="1" i="0" lang="en-US" sz="713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SLIDE TITLE</a:t>
            </a:r>
            <a:endParaRPr b="0" i="0" sz="7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9" name="Google Shape;269;p10"/>
          <p:cNvCxnSpPr/>
          <p:nvPr/>
        </p:nvCxnSpPr>
        <p:spPr>
          <a:xfrm>
            <a:off x="476250" y="476250"/>
            <a:ext cx="8177213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0" name="Google Shape;270;p10"/>
          <p:cNvCxnSpPr/>
          <p:nvPr/>
        </p:nvCxnSpPr>
        <p:spPr>
          <a:xfrm>
            <a:off x="476250" y="476250"/>
            <a:ext cx="8177213" cy="0"/>
          </a:xfrm>
          <a:prstGeom prst="straightConnector1">
            <a:avLst/>
          </a:prstGeom>
          <a:noFill/>
          <a:ln cap="flat" cmpd="sng" w="9525">
            <a:solidFill>
              <a:srgbClr val="7A7A7A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preencoded.png" id="271" name="Google Shape;271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15275" y="200025"/>
            <a:ext cx="752475" cy="1476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E8D8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1"/>
          <p:cNvSpPr/>
          <p:nvPr/>
        </p:nvSpPr>
        <p:spPr>
          <a:xfrm>
            <a:off x="476250" y="914400"/>
            <a:ext cx="5414963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Neuton"/>
              <a:buNone/>
            </a:pPr>
            <a:r>
              <a:rPr b="0" i="0" lang="en-US" sz="2850" u="none" cap="none" strike="noStrike">
                <a:solidFill>
                  <a:srgbClr val="000000"/>
                </a:solidFill>
                <a:latin typeface="Neuton"/>
                <a:ea typeface="Neuton"/>
                <a:cs typeface="Neuton"/>
                <a:sym typeface="Neuton"/>
              </a:rPr>
              <a:t>Next Steps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1"/>
          <p:cNvSpPr/>
          <p:nvPr/>
        </p:nvSpPr>
        <p:spPr>
          <a:xfrm>
            <a:off x="476250" y="219075"/>
            <a:ext cx="719138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3"/>
              <a:buFont typeface="Open Sans"/>
              <a:buNone/>
            </a:pPr>
            <a:r>
              <a:rPr b="1" i="0" lang="en-US" sz="713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PROJECT NAME</a:t>
            </a:r>
            <a:endParaRPr b="0" i="0" sz="7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9" name="Google Shape;279;p11"/>
          <p:cNvCxnSpPr/>
          <p:nvPr/>
        </p:nvCxnSpPr>
        <p:spPr>
          <a:xfrm>
            <a:off x="476250" y="476250"/>
            <a:ext cx="8177213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0" name="Google Shape;280;p11"/>
          <p:cNvCxnSpPr/>
          <p:nvPr/>
        </p:nvCxnSpPr>
        <p:spPr>
          <a:xfrm rot="5400000">
            <a:off x="-533400" y="3109913"/>
            <a:ext cx="2019300" cy="0"/>
          </a:xfrm>
          <a:prstGeom prst="straightConnector1">
            <a:avLst/>
          </a:prstGeom>
          <a:noFill/>
          <a:ln cap="flat" cmpd="sng" w="9525">
            <a:solidFill>
              <a:srgbClr val="7A7A7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1" name="Google Shape;281;p11"/>
          <p:cNvCxnSpPr/>
          <p:nvPr/>
        </p:nvCxnSpPr>
        <p:spPr>
          <a:xfrm rot="5400000">
            <a:off x="240506" y="2336006"/>
            <a:ext cx="471488" cy="0"/>
          </a:xfrm>
          <a:prstGeom prst="straightConnector1">
            <a:avLst/>
          </a:prstGeom>
          <a:noFill/>
          <a:ln cap="flat" cmpd="sng" w="135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2" name="Google Shape;282;p11"/>
          <p:cNvCxnSpPr/>
          <p:nvPr/>
        </p:nvCxnSpPr>
        <p:spPr>
          <a:xfrm rot="5400000">
            <a:off x="2321719" y="2807494"/>
            <a:ext cx="471488" cy="0"/>
          </a:xfrm>
          <a:prstGeom prst="straightConnector1">
            <a:avLst/>
          </a:prstGeom>
          <a:noFill/>
          <a:ln cap="flat" cmpd="sng" w="135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3" name="Google Shape;283;p11"/>
          <p:cNvCxnSpPr/>
          <p:nvPr/>
        </p:nvCxnSpPr>
        <p:spPr>
          <a:xfrm rot="5400000">
            <a:off x="4402931" y="3350419"/>
            <a:ext cx="471488" cy="0"/>
          </a:xfrm>
          <a:prstGeom prst="straightConnector1">
            <a:avLst/>
          </a:prstGeom>
          <a:noFill/>
          <a:ln cap="flat" cmpd="sng" w="135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4" name="Google Shape;284;p11"/>
          <p:cNvCxnSpPr/>
          <p:nvPr/>
        </p:nvCxnSpPr>
        <p:spPr>
          <a:xfrm rot="5400000">
            <a:off x="6488906" y="3888581"/>
            <a:ext cx="471488" cy="0"/>
          </a:xfrm>
          <a:prstGeom prst="straightConnector1">
            <a:avLst/>
          </a:prstGeom>
          <a:noFill/>
          <a:ln cap="flat" cmpd="sng" w="135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5" name="Google Shape;285;p11"/>
          <p:cNvCxnSpPr/>
          <p:nvPr/>
        </p:nvCxnSpPr>
        <p:spPr>
          <a:xfrm rot="5400000">
            <a:off x="1552575" y="3109913"/>
            <a:ext cx="2019300" cy="0"/>
          </a:xfrm>
          <a:prstGeom prst="straightConnector1">
            <a:avLst/>
          </a:prstGeom>
          <a:noFill/>
          <a:ln cap="flat" cmpd="sng" w="9525">
            <a:solidFill>
              <a:srgbClr val="7A7A7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6" name="Google Shape;286;p11"/>
          <p:cNvCxnSpPr/>
          <p:nvPr/>
        </p:nvCxnSpPr>
        <p:spPr>
          <a:xfrm rot="5400000">
            <a:off x="3633788" y="3109913"/>
            <a:ext cx="2019300" cy="0"/>
          </a:xfrm>
          <a:prstGeom prst="straightConnector1">
            <a:avLst/>
          </a:prstGeom>
          <a:noFill/>
          <a:ln cap="flat" cmpd="sng" w="9525">
            <a:solidFill>
              <a:srgbClr val="7A7A7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7" name="Google Shape;287;p11"/>
          <p:cNvCxnSpPr/>
          <p:nvPr/>
        </p:nvCxnSpPr>
        <p:spPr>
          <a:xfrm rot="5400000">
            <a:off x="5719763" y="3109913"/>
            <a:ext cx="2019300" cy="0"/>
          </a:xfrm>
          <a:prstGeom prst="straightConnector1">
            <a:avLst/>
          </a:prstGeom>
          <a:noFill/>
          <a:ln cap="flat" cmpd="sng" w="9525">
            <a:solidFill>
              <a:srgbClr val="7A7A7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8" name="Google Shape;288;p11"/>
          <p:cNvSpPr/>
          <p:nvPr/>
        </p:nvSpPr>
        <p:spPr>
          <a:xfrm>
            <a:off x="609600" y="2100263"/>
            <a:ext cx="1809750" cy="1743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1"/>
          <p:cNvSpPr/>
          <p:nvPr/>
        </p:nvSpPr>
        <p:spPr>
          <a:xfrm>
            <a:off x="609600" y="2100263"/>
            <a:ext cx="1809750" cy="1743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1"/>
          <p:cNvSpPr/>
          <p:nvPr/>
        </p:nvSpPr>
        <p:spPr>
          <a:xfrm>
            <a:off x="609600" y="2100263"/>
            <a:ext cx="1809750" cy="6143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53"/>
              </a:lnSpc>
              <a:spcBef>
                <a:spcPts val="0"/>
              </a:spcBef>
              <a:spcAft>
                <a:spcPts val="0"/>
              </a:spcAft>
              <a:buClr>
                <a:srgbClr val="01879F"/>
              </a:buClr>
              <a:buSzPts val="1283"/>
              <a:buFont typeface="Open Sans"/>
              <a:buNone/>
            </a:pPr>
            <a:r>
              <a:rPr b="0" i="0" lang="en-US" sz="1283" u="none" cap="none" strike="noStrike">
                <a:solidFill>
                  <a:srgbClr val="01879F"/>
                </a:solidFill>
                <a:latin typeface="Open Sans"/>
                <a:ea typeface="Open Sans"/>
                <a:cs typeface="Open Sans"/>
                <a:sym typeface="Open Sans"/>
              </a:rPr>
              <a:t>Shadow Memory</a:t>
            </a:r>
            <a:endParaRPr b="0" i="0" sz="12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1"/>
          <p:cNvSpPr/>
          <p:nvPr/>
        </p:nvSpPr>
        <p:spPr>
          <a:xfrm>
            <a:off x="609600" y="3105150"/>
            <a:ext cx="1809750" cy="738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94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5"/>
              <a:buFont typeface="Open Sans"/>
              <a:buNone/>
            </a:pPr>
            <a:r>
              <a:rPr b="0" i="0" lang="en-US" sz="855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Shadow dialogue retrieves past encounters. 'This is the second time you've met this fear.' Inquiry deepens instead of resetting.</a:t>
            </a:r>
            <a:endParaRPr b="0" i="0" sz="8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1"/>
          <p:cNvSpPr/>
          <p:nvPr/>
        </p:nvSpPr>
        <p:spPr>
          <a:xfrm>
            <a:off x="2695575" y="2100263"/>
            <a:ext cx="1804988" cy="1743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1"/>
          <p:cNvSpPr/>
          <p:nvPr/>
        </p:nvSpPr>
        <p:spPr>
          <a:xfrm>
            <a:off x="2695575" y="2100263"/>
            <a:ext cx="1804988" cy="1743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1"/>
          <p:cNvSpPr/>
          <p:nvPr/>
        </p:nvSpPr>
        <p:spPr>
          <a:xfrm>
            <a:off x="2695575" y="2100263"/>
            <a:ext cx="1804988" cy="6143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53"/>
              </a:lnSpc>
              <a:spcBef>
                <a:spcPts val="0"/>
              </a:spcBef>
              <a:spcAft>
                <a:spcPts val="0"/>
              </a:spcAft>
              <a:buClr>
                <a:srgbClr val="01879F"/>
              </a:buClr>
              <a:buSzPts val="1283"/>
              <a:buFont typeface="Open Sans"/>
              <a:buNone/>
            </a:pPr>
            <a:r>
              <a:rPr b="0" i="0" lang="en-US" sz="1283" u="none" cap="none" strike="noStrike">
                <a:solidFill>
                  <a:srgbClr val="01879F"/>
                </a:solidFill>
                <a:latin typeface="Open Sans"/>
                <a:ea typeface="Open Sans"/>
                <a:cs typeface="Open Sans"/>
                <a:sym typeface="Open Sans"/>
              </a:rPr>
              <a:t>Imprint Continuity</a:t>
            </a:r>
            <a:endParaRPr b="0" i="0" sz="12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1"/>
          <p:cNvSpPr/>
          <p:nvPr/>
        </p:nvSpPr>
        <p:spPr>
          <a:xfrm>
            <a:off x="2695575" y="3105150"/>
            <a:ext cx="1804988" cy="738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94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5"/>
              <a:buFont typeface="Open Sans"/>
              <a:buNone/>
            </a:pPr>
            <a:r>
              <a:rPr b="0" i="0" lang="en-US" sz="855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The semiotic compiler queries recurring motifs from EverMemOS. New Imprints become visual evidence of change over time.</a:t>
            </a:r>
            <a:endParaRPr b="0" i="0" sz="8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1"/>
          <p:cNvSpPr/>
          <p:nvPr/>
        </p:nvSpPr>
        <p:spPr>
          <a:xfrm>
            <a:off x="4776788" y="2100263"/>
            <a:ext cx="1809750" cy="1743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1"/>
          <p:cNvSpPr/>
          <p:nvPr/>
        </p:nvSpPr>
        <p:spPr>
          <a:xfrm>
            <a:off x="4776788" y="2100263"/>
            <a:ext cx="1809750" cy="1743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1"/>
          <p:cNvSpPr/>
          <p:nvPr/>
        </p:nvSpPr>
        <p:spPr>
          <a:xfrm>
            <a:off x="4776788" y="2100263"/>
            <a:ext cx="1809750" cy="6143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53"/>
              </a:lnSpc>
              <a:spcBef>
                <a:spcPts val="0"/>
              </a:spcBef>
              <a:spcAft>
                <a:spcPts val="0"/>
              </a:spcAft>
              <a:buClr>
                <a:srgbClr val="01879F"/>
              </a:buClr>
              <a:buSzPts val="1283"/>
              <a:buFont typeface="Open Sans"/>
              <a:buNone/>
            </a:pPr>
            <a:r>
              <a:rPr b="0" i="0" lang="en-US" sz="1283" u="none" cap="none" strike="noStrike">
                <a:solidFill>
                  <a:srgbClr val="01879F"/>
                </a:solidFill>
                <a:latin typeface="Open Sans"/>
                <a:ea typeface="Open Sans"/>
                <a:cs typeface="Open Sans"/>
                <a:sym typeface="Open Sans"/>
              </a:rPr>
              <a:t>Temporal Correlation</a:t>
            </a:r>
            <a:endParaRPr b="0" i="0" sz="12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1"/>
          <p:cNvSpPr/>
          <p:nvPr/>
        </p:nvSpPr>
        <p:spPr>
          <a:xfrm>
            <a:off x="4776788" y="3105150"/>
            <a:ext cx="1809750" cy="738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94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5"/>
              <a:buFont typeface="Open Sans"/>
              <a:buNone/>
            </a:pPr>
            <a:r>
              <a:rPr b="0" i="0" lang="en-US" sz="855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Which archetypes help in which states? Which practices move coherence? Months of confrontation data make this answerable.</a:t>
            </a:r>
            <a:endParaRPr b="0" i="0" sz="8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1"/>
          <p:cNvSpPr/>
          <p:nvPr/>
        </p:nvSpPr>
        <p:spPr>
          <a:xfrm>
            <a:off x="6862763" y="2100263"/>
            <a:ext cx="1790700" cy="1743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1"/>
          <p:cNvSpPr/>
          <p:nvPr/>
        </p:nvSpPr>
        <p:spPr>
          <a:xfrm>
            <a:off x="6862763" y="2100263"/>
            <a:ext cx="1790700" cy="1743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1"/>
          <p:cNvSpPr/>
          <p:nvPr/>
        </p:nvSpPr>
        <p:spPr>
          <a:xfrm>
            <a:off x="6862763" y="2100263"/>
            <a:ext cx="1790700" cy="6143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53"/>
              </a:lnSpc>
              <a:spcBef>
                <a:spcPts val="0"/>
              </a:spcBef>
              <a:spcAft>
                <a:spcPts val="0"/>
              </a:spcAft>
              <a:buClr>
                <a:srgbClr val="01879F"/>
              </a:buClr>
              <a:buSzPts val="1283"/>
              <a:buFont typeface="Open Sans"/>
              <a:buNone/>
            </a:pPr>
            <a:r>
              <a:rPr b="0" i="0" lang="en-US" sz="1283" u="none" cap="none" strike="noStrike">
                <a:solidFill>
                  <a:srgbClr val="01879F"/>
                </a:solidFill>
                <a:latin typeface="Open Sans"/>
                <a:ea typeface="Open Sans"/>
                <a:cs typeface="Open Sans"/>
                <a:sym typeface="Open Sans"/>
              </a:rPr>
              <a:t>Open Source</a:t>
            </a:r>
            <a:endParaRPr b="0" i="0" sz="12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1"/>
          <p:cNvSpPr/>
          <p:nvPr/>
        </p:nvSpPr>
        <p:spPr>
          <a:xfrm>
            <a:off x="6862763" y="3105150"/>
            <a:ext cx="1790700" cy="738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94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5"/>
              <a:buFont typeface="Open Sans"/>
              <a:buNone/>
            </a:pPr>
            <a:r>
              <a:rPr b="0" i="0" lang="en-US" sz="855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This repo shows how to integrate EverMemOS into a production EventBus architecture. One file, three lines.</a:t>
            </a:r>
            <a:endParaRPr b="0" i="0" sz="8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4" name="Google Shape;30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05750" y="204788"/>
            <a:ext cx="748308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9F5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2"/>
          <p:cNvSpPr/>
          <p:nvPr/>
        </p:nvSpPr>
        <p:spPr>
          <a:xfrm>
            <a:off x="1171575" y="2095500"/>
            <a:ext cx="2757488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ABC2"/>
              </a:buClr>
              <a:buSzPts val="7125"/>
              <a:buFont typeface="Neuton"/>
              <a:buNone/>
            </a:pPr>
            <a:r>
              <a:rPr b="0" i="0" lang="en-US" sz="7125" u="none" cap="none" strike="noStrike">
                <a:solidFill>
                  <a:srgbClr val="2DABC2"/>
                </a:solidFill>
                <a:latin typeface="Neuton"/>
                <a:ea typeface="Neuton"/>
                <a:cs typeface="Neuton"/>
                <a:sym typeface="Neuton"/>
              </a:rPr>
              <a:t>Q&amp;A</a:t>
            </a:r>
            <a:endParaRPr b="0" i="0" sz="7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2"/>
          <p:cNvSpPr/>
          <p:nvPr/>
        </p:nvSpPr>
        <p:spPr>
          <a:xfrm>
            <a:off x="4643438" y="2266950"/>
            <a:ext cx="781050" cy="2047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53"/>
              </a:lnSpc>
              <a:spcBef>
                <a:spcPts val="0"/>
              </a:spcBef>
              <a:spcAft>
                <a:spcPts val="0"/>
              </a:spcAft>
              <a:buClr>
                <a:srgbClr val="2DABC2"/>
              </a:buClr>
              <a:buSzPts val="1283"/>
              <a:buFont typeface="Open Sans"/>
              <a:buNone/>
            </a:pPr>
            <a:r>
              <a:rPr lang="en-US" sz="1283">
                <a:solidFill>
                  <a:srgbClr val="2DABC2"/>
                </a:solidFill>
                <a:latin typeface="Open Sans"/>
                <a:ea typeface="Open Sans"/>
                <a:cs typeface="Open Sans"/>
                <a:sym typeface="Open Sans"/>
              </a:rPr>
              <a:t>Shruti Rajagopal</a:t>
            </a:r>
            <a:endParaRPr b="0" i="0" sz="12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2"/>
          <p:cNvSpPr/>
          <p:nvPr/>
        </p:nvSpPr>
        <p:spPr>
          <a:xfrm>
            <a:off x="6729413" y="2271713"/>
            <a:ext cx="942975" cy="2047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53"/>
              </a:lnSpc>
              <a:spcBef>
                <a:spcPts val="0"/>
              </a:spcBef>
              <a:spcAft>
                <a:spcPts val="0"/>
              </a:spcAft>
              <a:buClr>
                <a:srgbClr val="2DABC2"/>
              </a:buClr>
              <a:buSzPts val="1283"/>
              <a:buFont typeface="Open Sans"/>
              <a:buNone/>
            </a:pPr>
            <a:r>
              <a:rPr lang="en-US" sz="1283">
                <a:solidFill>
                  <a:srgbClr val="2DABC2"/>
                </a:solidFill>
                <a:latin typeface="Open Sans"/>
                <a:ea typeface="Open Sans"/>
                <a:cs typeface="Open Sans"/>
                <a:sym typeface="Open Sans"/>
              </a:rPr>
              <a:t>Shayaun Nejad</a:t>
            </a:r>
            <a:endParaRPr b="0" i="0" sz="12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2"/>
          <p:cNvSpPr/>
          <p:nvPr/>
        </p:nvSpPr>
        <p:spPr>
          <a:xfrm>
            <a:off x="4643438" y="2576513"/>
            <a:ext cx="1209675" cy="385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94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5"/>
              <a:buFont typeface="Open Sans"/>
              <a:buNone/>
            </a:pPr>
            <a:r>
              <a:rPr b="1" lang="en-US" sz="855">
                <a:latin typeface="Open Sans"/>
                <a:ea typeface="Open Sans"/>
                <a:cs typeface="Open Sans"/>
                <a:sym typeface="Open Sans"/>
              </a:rPr>
              <a:t>shruti@theliminalspace.io
Founder &amp; CEO</a:t>
            </a:r>
            <a:r>
              <a:rPr b="1" i="0" lang="en-US" sz="855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/>
            </a:r>
            <a:endParaRPr b="0" i="0" sz="8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994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5"/>
              <a:buFont typeface="Open Sans"/>
              <a:buNone/>
            </a:pPr>
            <a:r>
              <a:rPr lang="en-US" sz="855">
                <a:latin typeface="Open Sans"/>
                <a:ea typeface="Open Sans"/>
                <a:cs typeface="Open Sans"/>
                <a:sym typeface="Open Sans"/>
              </a:rPr>
              <a:t/>
            </a:r>
            <a:endParaRPr b="0" i="0" sz="8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2"/>
          <p:cNvSpPr/>
          <p:nvPr/>
        </p:nvSpPr>
        <p:spPr>
          <a:xfrm>
            <a:off x="6729413" y="2581275"/>
            <a:ext cx="1223963" cy="385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94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5"/>
              <a:buFont typeface="Open Sans"/>
              <a:buNone/>
            </a:pPr>
            <a:r>
              <a:rPr b="1" lang="en-US" sz="855">
                <a:latin typeface="Open Sans"/>
                <a:ea typeface="Open Sans"/>
                <a:cs typeface="Open Sans"/>
                <a:sym typeface="Open Sans"/>
              </a:rPr>
              <a:t>github.com/allsmog
Co-Builder</a:t>
            </a:r>
            <a:r>
              <a:rPr b="1" i="0" lang="en-US" sz="855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/>
            </a:r>
            <a:endParaRPr b="0" i="0" sz="8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994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5"/>
              <a:buFont typeface="Open Sans"/>
              <a:buNone/>
            </a:pPr>
            <a:r>
              <a:rPr lang="en-US" sz="855">
                <a:latin typeface="Open Sans"/>
                <a:ea typeface="Open Sans"/>
                <a:cs typeface="Open Sans"/>
                <a:sym typeface="Open Sans"/>
              </a:rPr>
              <a:t/>
            </a:r>
            <a:endParaRPr b="0" i="0" sz="8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9F5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3"/>
          <p:cNvSpPr/>
          <p:nvPr/>
        </p:nvSpPr>
        <p:spPr>
          <a:xfrm>
            <a:off x="476250" y="219075"/>
            <a:ext cx="604838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3"/>
              <a:buFont typeface="Open Sans"/>
              <a:buNone/>
            </a:pPr>
            <a:r>
              <a:rPr b="1" i="0" lang="en-US" sz="713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STYLE GUIDE</a:t>
            </a:r>
            <a:endParaRPr b="0" i="0" sz="7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1" name="Google Shape;321;p13"/>
          <p:cNvCxnSpPr/>
          <p:nvPr/>
        </p:nvCxnSpPr>
        <p:spPr>
          <a:xfrm>
            <a:off x="476250" y="552450"/>
            <a:ext cx="8177213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preencoded.png" id="322" name="Google Shape;32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05750" y="204788"/>
            <a:ext cx="748308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23" name="Google Shape;323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34175" y="1452563"/>
            <a:ext cx="1591866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13"/>
          <p:cNvSpPr/>
          <p:nvPr/>
        </p:nvSpPr>
        <p:spPr>
          <a:xfrm>
            <a:off x="476250" y="709613"/>
            <a:ext cx="17430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Neuton"/>
              <a:buNone/>
            </a:pPr>
            <a:r>
              <a:rPr b="0" i="0" lang="en-US" sz="2850" u="none" cap="none" strike="noStrike">
                <a:solidFill>
                  <a:srgbClr val="000000"/>
                </a:solidFill>
                <a:latin typeface="Neuton"/>
                <a:ea typeface="Neuton"/>
                <a:cs typeface="Neuton"/>
                <a:sym typeface="Neuton"/>
              </a:rPr>
              <a:t>Typography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3"/>
          <p:cNvSpPr/>
          <p:nvPr/>
        </p:nvSpPr>
        <p:spPr>
          <a:xfrm>
            <a:off x="3852863" y="709613"/>
            <a:ext cx="17430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Neuton"/>
              <a:buNone/>
            </a:pPr>
            <a:r>
              <a:rPr b="0" i="0" lang="en-US" sz="2850" u="none" cap="none" strike="noStrike">
                <a:solidFill>
                  <a:srgbClr val="000000"/>
                </a:solidFill>
                <a:latin typeface="Neuton"/>
                <a:ea typeface="Neuton"/>
                <a:cs typeface="Neuton"/>
                <a:sym typeface="Neuton"/>
              </a:rPr>
              <a:t>Colors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3"/>
          <p:cNvSpPr/>
          <p:nvPr/>
        </p:nvSpPr>
        <p:spPr>
          <a:xfrm>
            <a:off x="6729413" y="709613"/>
            <a:ext cx="1743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Neuton"/>
              <a:buNone/>
            </a:pPr>
            <a:r>
              <a:rPr b="0" i="0" lang="en-US" sz="2850" u="none" cap="none" strike="noStrike">
                <a:solidFill>
                  <a:srgbClr val="000000"/>
                </a:solidFill>
                <a:latin typeface="Neuton"/>
                <a:ea typeface="Neuton"/>
                <a:cs typeface="Neuton"/>
                <a:sym typeface="Neuton"/>
              </a:rPr>
              <a:t>Logos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3"/>
          <p:cNvSpPr/>
          <p:nvPr/>
        </p:nvSpPr>
        <p:spPr>
          <a:xfrm>
            <a:off x="476250" y="1285875"/>
            <a:ext cx="2633663" cy="346233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3"/>
          <p:cNvSpPr/>
          <p:nvPr/>
        </p:nvSpPr>
        <p:spPr>
          <a:xfrm>
            <a:off x="476250" y="1285875"/>
            <a:ext cx="2633663" cy="1085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3"/>
          <p:cNvSpPr/>
          <p:nvPr/>
        </p:nvSpPr>
        <p:spPr>
          <a:xfrm>
            <a:off x="476250" y="1285875"/>
            <a:ext cx="2633663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25"/>
              <a:buFont typeface="Neuton"/>
              <a:buNone/>
            </a:pPr>
            <a:r>
              <a:rPr b="0" i="0" lang="en-US" sz="7125" u="none" cap="none" strike="noStrike">
                <a:solidFill>
                  <a:srgbClr val="000000"/>
                </a:solidFill>
                <a:latin typeface="Neuton"/>
                <a:ea typeface="Neuton"/>
                <a:cs typeface="Neuton"/>
                <a:sym typeface="Neuton"/>
              </a:rPr>
              <a:t>Header</a:t>
            </a:r>
            <a:endParaRPr b="0" i="0" sz="7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3"/>
          <p:cNvSpPr/>
          <p:nvPr/>
        </p:nvSpPr>
        <p:spPr>
          <a:xfrm>
            <a:off x="476250" y="2266950"/>
            <a:ext cx="2633663" cy="104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124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641"/>
              <a:buFont typeface="Open Sans"/>
              <a:buNone/>
            </a:pPr>
            <a:r>
              <a:rPr b="0" i="0" lang="en-US" sz="641" u="none" cap="none" strike="noStrike">
                <a:solidFill>
                  <a:srgbClr val="7A7A7A"/>
                </a:solidFill>
                <a:latin typeface="Open Sans"/>
                <a:ea typeface="Open Sans"/>
                <a:cs typeface="Open Sans"/>
                <a:sym typeface="Open Sans"/>
              </a:rPr>
              <a:t>NEUTON, LIGHT</a:t>
            </a:r>
            <a:endParaRPr b="0" i="0" sz="6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3"/>
          <p:cNvSpPr/>
          <p:nvPr/>
        </p:nvSpPr>
        <p:spPr>
          <a:xfrm>
            <a:off x="476250" y="2514600"/>
            <a:ext cx="1171575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3"/>
          <p:cNvSpPr/>
          <p:nvPr/>
        </p:nvSpPr>
        <p:spPr>
          <a:xfrm>
            <a:off x="476250" y="2514600"/>
            <a:ext cx="11715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Neuton"/>
              <a:buNone/>
            </a:pPr>
            <a:r>
              <a:rPr b="0" i="0" lang="en-US" sz="2850" u="none" cap="none" strike="noStrike">
                <a:solidFill>
                  <a:srgbClr val="000000"/>
                </a:solidFill>
                <a:latin typeface="Neuton"/>
                <a:ea typeface="Neuton"/>
                <a:cs typeface="Neuton"/>
                <a:sym typeface="Neuton"/>
              </a:rPr>
              <a:t>Title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3"/>
          <p:cNvSpPr/>
          <p:nvPr/>
        </p:nvSpPr>
        <p:spPr>
          <a:xfrm>
            <a:off x="476250" y="2962275"/>
            <a:ext cx="1171575" cy="104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124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641"/>
              <a:buFont typeface="Open Sans"/>
              <a:buNone/>
            </a:pPr>
            <a:r>
              <a:rPr b="0" i="0" lang="en-US" sz="641" u="none" cap="none" strike="noStrike">
                <a:solidFill>
                  <a:srgbClr val="7A7A7A"/>
                </a:solidFill>
                <a:latin typeface="Open Sans"/>
                <a:ea typeface="Open Sans"/>
                <a:cs typeface="Open Sans"/>
                <a:sym typeface="Open Sans"/>
              </a:rPr>
              <a:t>NEUTON, LIGHT</a:t>
            </a:r>
            <a:endParaRPr b="0" i="0" sz="6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3"/>
          <p:cNvSpPr/>
          <p:nvPr/>
        </p:nvSpPr>
        <p:spPr>
          <a:xfrm>
            <a:off x="476250" y="3209925"/>
            <a:ext cx="1400175" cy="33813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3"/>
          <p:cNvSpPr/>
          <p:nvPr/>
        </p:nvSpPr>
        <p:spPr>
          <a:xfrm>
            <a:off x="476250" y="3209925"/>
            <a:ext cx="1400175" cy="2047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5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83"/>
              <a:buFont typeface="Open Sans"/>
              <a:buNone/>
            </a:pPr>
            <a:r>
              <a:rPr b="0" i="0" lang="en-US" sz="1283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Body Large</a:t>
            </a:r>
            <a:endParaRPr b="0" i="0" sz="12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3"/>
          <p:cNvSpPr/>
          <p:nvPr/>
        </p:nvSpPr>
        <p:spPr>
          <a:xfrm>
            <a:off x="476250" y="3443288"/>
            <a:ext cx="1400175" cy="104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124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641"/>
              <a:buFont typeface="Open Sans"/>
              <a:buNone/>
            </a:pPr>
            <a:r>
              <a:rPr b="0" i="0" lang="en-US" sz="641" u="none" cap="none" strike="noStrike">
                <a:solidFill>
                  <a:srgbClr val="7A7A7A"/>
                </a:solidFill>
                <a:latin typeface="Open Sans"/>
                <a:ea typeface="Open Sans"/>
                <a:cs typeface="Open Sans"/>
                <a:sym typeface="Open Sans"/>
              </a:rPr>
              <a:t>OPEN SANS, REGULAR</a:t>
            </a:r>
            <a:endParaRPr b="0" i="0" sz="6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3"/>
          <p:cNvSpPr/>
          <p:nvPr/>
        </p:nvSpPr>
        <p:spPr>
          <a:xfrm>
            <a:off x="476250" y="3690937"/>
            <a:ext cx="1400175" cy="2809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3"/>
          <p:cNvSpPr/>
          <p:nvPr/>
        </p:nvSpPr>
        <p:spPr>
          <a:xfrm>
            <a:off x="476250" y="3690937"/>
            <a:ext cx="1400175" cy="147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94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5"/>
              <a:buFont typeface="Open Sans"/>
              <a:buNone/>
            </a:pPr>
            <a:r>
              <a:rPr b="0" i="0" lang="en-US" sz="855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Body Medium</a:t>
            </a:r>
            <a:endParaRPr b="0" i="0" sz="8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3"/>
          <p:cNvSpPr/>
          <p:nvPr/>
        </p:nvSpPr>
        <p:spPr>
          <a:xfrm>
            <a:off x="476250" y="3867150"/>
            <a:ext cx="1400175" cy="104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124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641"/>
              <a:buFont typeface="Open Sans"/>
              <a:buNone/>
            </a:pPr>
            <a:r>
              <a:rPr b="0" i="0" lang="en-US" sz="641" u="none" cap="none" strike="noStrike">
                <a:solidFill>
                  <a:srgbClr val="7A7A7A"/>
                </a:solidFill>
                <a:latin typeface="Open Sans"/>
                <a:ea typeface="Open Sans"/>
                <a:cs typeface="Open Sans"/>
                <a:sym typeface="Open Sans"/>
              </a:rPr>
              <a:t>OPEN SANS, REGULAR</a:t>
            </a:r>
            <a:endParaRPr b="0" i="0" sz="6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3"/>
          <p:cNvSpPr/>
          <p:nvPr/>
        </p:nvSpPr>
        <p:spPr>
          <a:xfrm>
            <a:off x="476250" y="4114800"/>
            <a:ext cx="1400175" cy="242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3"/>
          <p:cNvSpPr/>
          <p:nvPr/>
        </p:nvSpPr>
        <p:spPr>
          <a:xfrm>
            <a:off x="476250" y="4114800"/>
            <a:ext cx="1400175" cy="109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1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1"/>
              <a:buFont typeface="Open Sans"/>
              <a:buNone/>
            </a:pPr>
            <a:r>
              <a:rPr b="0" i="0" lang="en-US" sz="641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Body Small</a:t>
            </a:r>
            <a:endParaRPr b="0" i="0" sz="6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3"/>
          <p:cNvSpPr/>
          <p:nvPr/>
        </p:nvSpPr>
        <p:spPr>
          <a:xfrm>
            <a:off x="476250" y="4252913"/>
            <a:ext cx="1400175" cy="104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124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641"/>
              <a:buFont typeface="Open Sans"/>
              <a:buNone/>
            </a:pPr>
            <a:r>
              <a:rPr b="0" i="0" lang="en-US" sz="641" u="none" cap="none" strike="noStrike">
                <a:solidFill>
                  <a:srgbClr val="7A7A7A"/>
                </a:solidFill>
                <a:latin typeface="Open Sans"/>
                <a:ea typeface="Open Sans"/>
                <a:cs typeface="Open Sans"/>
                <a:sym typeface="Open Sans"/>
              </a:rPr>
              <a:t>OPEN SANS, REGULAR</a:t>
            </a:r>
            <a:endParaRPr b="0" i="0" sz="6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3"/>
          <p:cNvSpPr/>
          <p:nvPr/>
        </p:nvSpPr>
        <p:spPr>
          <a:xfrm>
            <a:off x="476250" y="4500563"/>
            <a:ext cx="14001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3"/>
          <p:cNvSpPr/>
          <p:nvPr/>
        </p:nvSpPr>
        <p:spPr>
          <a:xfrm>
            <a:off x="476250" y="4500563"/>
            <a:ext cx="1400175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3"/>
              <a:buFont typeface="Open Sans"/>
              <a:buNone/>
            </a:pPr>
            <a:r>
              <a:rPr b="1" i="0" lang="en-US" sz="713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LABEL</a:t>
            </a:r>
            <a:endParaRPr b="1" i="0" sz="713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5" name="Google Shape;345;p13"/>
          <p:cNvSpPr/>
          <p:nvPr/>
        </p:nvSpPr>
        <p:spPr>
          <a:xfrm>
            <a:off x="476250" y="4643438"/>
            <a:ext cx="1400175" cy="104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124"/>
              </a:lnSpc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641"/>
              <a:buFont typeface="Open Sans"/>
              <a:buNone/>
            </a:pPr>
            <a:r>
              <a:rPr b="0" i="0" lang="en-US" sz="641" u="none" cap="none" strike="noStrike">
                <a:solidFill>
                  <a:srgbClr val="7A7A7A"/>
                </a:solidFill>
                <a:latin typeface="Open Sans"/>
                <a:ea typeface="Open Sans"/>
                <a:cs typeface="Open Sans"/>
                <a:sym typeface="Open Sans"/>
              </a:rPr>
              <a:t>OPEN SANS, BOLD</a:t>
            </a:r>
            <a:endParaRPr b="0" i="0" sz="6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3"/>
          <p:cNvSpPr/>
          <p:nvPr/>
        </p:nvSpPr>
        <p:spPr>
          <a:xfrm>
            <a:off x="3852863" y="2124075"/>
            <a:ext cx="581025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3"/>
              <a:buFont typeface="Open Sans"/>
              <a:buNone/>
            </a:pPr>
            <a:r>
              <a:rPr b="1" i="0" lang="en-US" sz="713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Brand Blue</a:t>
            </a:r>
            <a:endParaRPr b="0" i="0" sz="7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3"/>
          <p:cNvSpPr/>
          <p:nvPr/>
        </p:nvSpPr>
        <p:spPr>
          <a:xfrm>
            <a:off x="4648200" y="2124075"/>
            <a:ext cx="709613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3"/>
              <a:buFont typeface="Open Sans"/>
              <a:buNone/>
            </a:pPr>
            <a:r>
              <a:rPr b="1" i="0" lang="en-US" sz="713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Brand Yellow</a:t>
            </a:r>
            <a:endParaRPr b="0" i="0" sz="7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3"/>
          <p:cNvSpPr/>
          <p:nvPr/>
        </p:nvSpPr>
        <p:spPr>
          <a:xfrm>
            <a:off x="3829050" y="3114675"/>
            <a:ext cx="709613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3"/>
              <a:buFont typeface="Open Sans"/>
              <a:buNone/>
            </a:pPr>
            <a:r>
              <a:rPr b="1" i="0" lang="en-US" sz="713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Text Primary</a:t>
            </a:r>
            <a:endParaRPr b="0" i="0" sz="7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3"/>
          <p:cNvSpPr/>
          <p:nvPr/>
        </p:nvSpPr>
        <p:spPr>
          <a:xfrm>
            <a:off x="3867150" y="4057650"/>
            <a:ext cx="709613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3"/>
              <a:buFont typeface="Open Sans"/>
              <a:buNone/>
            </a:pPr>
            <a:r>
              <a:rPr b="1" i="0" lang="en-US" sz="713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Bg Primary</a:t>
            </a:r>
            <a:endParaRPr b="0" i="0" sz="7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3"/>
          <p:cNvSpPr/>
          <p:nvPr/>
        </p:nvSpPr>
        <p:spPr>
          <a:xfrm>
            <a:off x="4643438" y="4057650"/>
            <a:ext cx="709613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3"/>
              <a:buFont typeface="Open Sans"/>
              <a:buNone/>
            </a:pPr>
            <a:r>
              <a:rPr b="1" i="0" lang="en-US" sz="713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Bg Secondary</a:t>
            </a:r>
            <a:endParaRPr b="0" i="0" sz="7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3"/>
          <p:cNvSpPr/>
          <p:nvPr/>
        </p:nvSpPr>
        <p:spPr>
          <a:xfrm>
            <a:off x="4610100" y="3114675"/>
            <a:ext cx="842963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3"/>
              <a:buFont typeface="Open Sans"/>
              <a:buNone/>
            </a:pPr>
            <a:r>
              <a:rPr b="1" i="0" lang="en-US" sz="713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Text Secondary</a:t>
            </a:r>
            <a:endParaRPr b="0" i="0" sz="7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3"/>
          <p:cNvSpPr/>
          <p:nvPr/>
        </p:nvSpPr>
        <p:spPr>
          <a:xfrm>
            <a:off x="5505450" y="3114675"/>
            <a:ext cx="842963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3"/>
              <a:buFont typeface="Open Sans"/>
              <a:buNone/>
            </a:pPr>
            <a:r>
              <a:rPr b="1" i="0" lang="en-US" sz="713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Text Inverse</a:t>
            </a:r>
            <a:endParaRPr b="0" i="0" sz="7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3"/>
          <p:cNvSpPr/>
          <p:nvPr/>
        </p:nvSpPr>
        <p:spPr>
          <a:xfrm>
            <a:off x="3852863" y="1500188"/>
            <a:ext cx="571500" cy="571500"/>
          </a:xfrm>
          <a:prstGeom prst="rect">
            <a:avLst/>
          </a:prstGeom>
          <a:solidFill>
            <a:srgbClr val="2DAB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3"/>
          <p:cNvSpPr/>
          <p:nvPr/>
        </p:nvSpPr>
        <p:spPr>
          <a:xfrm>
            <a:off x="4662488" y="1500188"/>
            <a:ext cx="571500" cy="571500"/>
          </a:xfrm>
          <a:prstGeom prst="rect">
            <a:avLst/>
          </a:prstGeom>
          <a:solidFill>
            <a:srgbClr val="FFC5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3"/>
          <p:cNvSpPr/>
          <p:nvPr/>
        </p:nvSpPr>
        <p:spPr>
          <a:xfrm>
            <a:off x="3852863" y="2476500"/>
            <a:ext cx="571500" cy="571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3"/>
          <p:cNvSpPr/>
          <p:nvPr/>
        </p:nvSpPr>
        <p:spPr>
          <a:xfrm>
            <a:off x="5500688" y="2476500"/>
            <a:ext cx="571500" cy="571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3"/>
          <p:cNvSpPr/>
          <p:nvPr/>
        </p:nvSpPr>
        <p:spPr>
          <a:xfrm>
            <a:off x="4667250" y="2476500"/>
            <a:ext cx="571500" cy="57150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3"/>
          <p:cNvSpPr/>
          <p:nvPr/>
        </p:nvSpPr>
        <p:spPr>
          <a:xfrm>
            <a:off x="4667250" y="3443288"/>
            <a:ext cx="571500" cy="571500"/>
          </a:xfrm>
          <a:prstGeom prst="rect">
            <a:avLst/>
          </a:prstGeom>
          <a:solidFill>
            <a:srgbClr val="EDE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3"/>
          <p:cNvSpPr/>
          <p:nvPr/>
        </p:nvSpPr>
        <p:spPr>
          <a:xfrm>
            <a:off x="3852863" y="3443288"/>
            <a:ext cx="571500" cy="571500"/>
          </a:xfrm>
          <a:prstGeom prst="rect">
            <a:avLst/>
          </a:prstGeom>
          <a:solidFill>
            <a:srgbClr val="FAF9F5"/>
          </a:solidFill>
          <a:ln cap="flat" cmpd="sng" w="9525">
            <a:solidFill>
              <a:srgbClr val="BBBB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0" name="Google Shape;360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34175" y="1990725"/>
            <a:ext cx="1600200" cy="39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2026-02-20T19:38:20Z</dcterms:created>
  <dc:creator>PptxGenJS</dc:creator>
</cp:coreProperties>
</file>