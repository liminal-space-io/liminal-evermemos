
<file path=[Content_Types].xml><?xml version="1.0" encoding="utf-8"?>
<Types xmlns="http://schemas.openxmlformats.org/package/2006/content-types">
  <Default ContentType="application/x-fontdata" Extension="fntdata"/>
  <Default ContentType="image/jpeg" Extension="jpe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Radley" charset="1" panose="00000500000000000000"/>
      <p:regular r:id="rId16"/>
    </p:embeddedFont>
    <p:embeddedFont>
      <p:font typeface="Carlito" charset="1" panose="020F0502020204030204"/>
      <p:regular r:id="rId17"/>
    </p:embeddedFont>
    <p:embeddedFont>
      <p:font typeface="Radley Italics" charset="1" panose="00000500000000000000"/>
      <p:regular r:id="rId18"/>
    </p:embeddedFont>
    <p:embeddedFont>
      <p:font typeface="Carlito Bold" charset="1" panose="020F0502020204030204"/>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4981575" y="3352800"/>
            <a:ext cx="8324850" cy="6934200"/>
            <a:chOff x="0" y="0"/>
            <a:chExt cx="1289737" cy="1074289"/>
          </a:xfrm>
        </p:grpSpPr>
        <p:sp>
          <p:nvSpPr>
            <p:cNvPr name="Freeform 3" id="3"/>
            <p:cNvSpPr/>
            <p:nvPr/>
          </p:nvSpPr>
          <p:spPr>
            <a:xfrm flipH="false" flipV="false" rot="0">
              <a:off x="0" y="0"/>
              <a:ext cx="1289737" cy="1074289"/>
            </a:xfrm>
            <a:custGeom>
              <a:avLst/>
              <a:gdLst/>
              <a:ahLst/>
              <a:cxnLst/>
              <a:rect r="r" b="b" t="t" l="l"/>
              <a:pathLst>
                <a:path h="1074289" w="1289737">
                  <a:moveTo>
                    <a:pt x="0" y="0"/>
                  </a:moveTo>
                  <a:lnTo>
                    <a:pt x="1289737" y="0"/>
                  </a:lnTo>
                  <a:lnTo>
                    <a:pt x="1289737" y="1074289"/>
                  </a:lnTo>
                  <a:lnTo>
                    <a:pt x="0" y="1074289"/>
                  </a:lnTo>
                  <a:close/>
                </a:path>
              </a:pathLst>
            </a:custGeom>
            <a:blipFill>
              <a:blip r:embed="rId2"/>
              <a:stretch>
                <a:fillRect l="-102" t="0" r="-102" b="0"/>
              </a:stretch>
            </a:blipFill>
          </p:spPr>
        </p:sp>
      </p:grpSp>
      <p:grpSp>
        <p:nvGrpSpPr>
          <p:cNvPr name="Group 4" id="4"/>
          <p:cNvGrpSpPr/>
          <p:nvPr/>
        </p:nvGrpSpPr>
        <p:grpSpPr>
          <a:xfrm rot="0">
            <a:off x="666750" y="666750"/>
            <a:ext cx="16954500" cy="2172955"/>
            <a:chOff x="0" y="0"/>
            <a:chExt cx="22606000" cy="2897274"/>
          </a:xfrm>
        </p:grpSpPr>
        <p:sp>
          <p:nvSpPr>
            <p:cNvPr name="AutoShape 5" id="5"/>
            <p:cNvSpPr/>
            <p:nvPr/>
          </p:nvSpPr>
          <p:spPr>
            <a:xfrm>
              <a:off x="0" y="2884574"/>
              <a:ext cx="22606000" cy="0"/>
            </a:xfrm>
            <a:prstGeom prst="line">
              <a:avLst/>
            </a:prstGeom>
            <a:ln cap="flat" w="25400">
              <a:solidFill>
                <a:srgbClr val="F3F1EF"/>
              </a:solidFill>
              <a:prstDash val="solid"/>
              <a:headEnd type="none" len="sm" w="sm"/>
              <a:tailEnd type="none" len="sm" w="sm"/>
            </a:ln>
          </p:spPr>
        </p:sp>
        <p:sp>
          <p:nvSpPr>
            <p:cNvPr name="TextBox 6" id="6"/>
            <p:cNvSpPr txBox="true"/>
            <p:nvPr/>
          </p:nvSpPr>
          <p:spPr>
            <a:xfrm rot="0">
              <a:off x="0" y="171450"/>
              <a:ext cx="22606000" cy="1583474"/>
            </a:xfrm>
            <a:prstGeom prst="rect">
              <a:avLst/>
            </a:prstGeom>
          </p:spPr>
          <p:txBody>
            <a:bodyPr anchor="t" rtlCol="false" tIns="0" lIns="0" bIns="0" rIns="0">
              <a:spAutoFit/>
            </a:bodyPr>
            <a:lstStyle/>
            <a:p>
              <a:pPr algn="ctr" marL="0" indent="0" lvl="0">
                <a:lnSpc>
                  <a:spcPts val="8693"/>
                </a:lnSpc>
              </a:pPr>
              <a:r>
                <a:rPr lang="en-US" sz="8693" spc="-173" u="none">
                  <a:solidFill>
                    <a:srgbClr val="F3F1EF"/>
                  </a:solidFill>
                  <a:latin typeface="Radley"/>
                  <a:ea typeface="Radley"/>
                  <a:cs typeface="Radley"/>
                  <a:sym typeface="Radley"/>
                </a:rPr>
                <a:t>LIMINAL SPACE × EVERMEMOS</a:t>
              </a:r>
            </a:p>
          </p:txBody>
        </p:sp>
      </p:grpSp>
      <p:sp>
        <p:nvSpPr>
          <p:cNvPr name="TextBox 7" id="7"/>
          <p:cNvSpPr txBox="true"/>
          <p:nvPr/>
        </p:nvSpPr>
        <p:spPr>
          <a:xfrm rot="0">
            <a:off x="13611225" y="9275446"/>
            <a:ext cx="4010025" cy="344804"/>
          </a:xfrm>
          <a:prstGeom prst="rect">
            <a:avLst/>
          </a:prstGeom>
        </p:spPr>
        <p:txBody>
          <a:bodyPr anchor="t" rtlCol="false" tIns="0" lIns="0" bIns="0" rIns="0">
            <a:spAutoFit/>
          </a:bodyPr>
          <a:lstStyle/>
          <a:p>
            <a:pPr algn="r" marL="0" indent="0" lvl="0">
              <a:lnSpc>
                <a:spcPts val="2520"/>
              </a:lnSpc>
              <a:spcBef>
                <a:spcPct val="0"/>
              </a:spcBef>
            </a:pPr>
            <a:r>
              <a:rPr lang="en-US" sz="1800" spc="239">
                <a:solidFill>
                  <a:srgbClr val="F3F1EF"/>
                </a:solidFill>
                <a:latin typeface="Carlito"/>
                <a:ea typeface="Carlito"/>
                <a:cs typeface="Carlito"/>
                <a:sym typeface="Carlito"/>
              </a:rPr>
              <a:t>MEMORY GENESIS GRAND FINALE</a:t>
            </a:r>
          </a:p>
        </p:txBody>
      </p:sp>
      <p:sp>
        <p:nvSpPr>
          <p:cNvPr name="TextBox 8" id="8"/>
          <p:cNvSpPr txBox="true"/>
          <p:nvPr/>
        </p:nvSpPr>
        <p:spPr>
          <a:xfrm rot="0">
            <a:off x="666750" y="9037955"/>
            <a:ext cx="4010025" cy="582295"/>
          </a:xfrm>
          <a:prstGeom prst="rect">
            <a:avLst/>
          </a:prstGeom>
        </p:spPr>
        <p:txBody>
          <a:bodyPr anchor="t" rtlCol="false" tIns="0" lIns="0" bIns="0" rIns="0">
            <a:spAutoFit/>
          </a:bodyPr>
          <a:lstStyle/>
          <a:p>
            <a:pPr algn="l" marL="0" indent="0" lvl="0">
              <a:lnSpc>
                <a:spcPts val="2299"/>
              </a:lnSpc>
            </a:pPr>
            <a:r>
              <a:rPr lang="en-US" sz="2299" i="true">
                <a:solidFill>
                  <a:srgbClr val="F3F1EF"/>
                </a:solidFill>
                <a:latin typeface="Radley Italics"/>
                <a:ea typeface="Radley Italics"/>
                <a:cs typeface="Radley Italics"/>
                <a:sym typeface="Radley Italics"/>
              </a:rPr>
              <a:t>Shruti Rajagopal</a:t>
            </a:r>
          </a:p>
          <a:p>
            <a:pPr algn="l" marL="0" indent="0" lvl="0">
              <a:lnSpc>
                <a:spcPts val="2299"/>
              </a:lnSpc>
            </a:pPr>
            <a:r>
              <a:rPr lang="en-US" sz="2299" i="true">
                <a:solidFill>
                  <a:srgbClr val="F3F1EF"/>
                </a:solidFill>
                <a:latin typeface="Radley Italics"/>
                <a:ea typeface="Radley Italics"/>
                <a:cs typeface="Radley Italics"/>
                <a:sym typeface="Radley Italics"/>
              </a:rPr>
              <a:t>Shayaun Nejad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10429875" y="0"/>
            <a:ext cx="7858125" cy="10287000"/>
            <a:chOff x="0" y="0"/>
            <a:chExt cx="1217429" cy="1593725"/>
          </a:xfrm>
        </p:grpSpPr>
        <p:sp>
          <p:nvSpPr>
            <p:cNvPr name="Freeform 3" id="3"/>
            <p:cNvSpPr/>
            <p:nvPr/>
          </p:nvSpPr>
          <p:spPr>
            <a:xfrm flipH="false" flipV="false" rot="0">
              <a:off x="0" y="0"/>
              <a:ext cx="1217429" cy="1593725"/>
            </a:xfrm>
            <a:custGeom>
              <a:avLst/>
              <a:gdLst/>
              <a:ahLst/>
              <a:cxnLst/>
              <a:rect r="r" b="b" t="t" l="l"/>
              <a:pathLst>
                <a:path h="1593725" w="1217429">
                  <a:moveTo>
                    <a:pt x="0" y="0"/>
                  </a:moveTo>
                  <a:lnTo>
                    <a:pt x="1217429" y="0"/>
                  </a:lnTo>
                  <a:lnTo>
                    <a:pt x="1217429" y="1593725"/>
                  </a:lnTo>
                  <a:lnTo>
                    <a:pt x="0" y="1593725"/>
                  </a:lnTo>
                  <a:close/>
                </a:path>
              </a:pathLst>
            </a:custGeom>
            <a:blipFill>
              <a:blip r:embed="rId2"/>
              <a:stretch>
                <a:fillRect l="0" t="-421" r="0" b="-421"/>
              </a:stretch>
            </a:blipFill>
          </p:spPr>
        </p:sp>
      </p:grpSp>
      <p:grpSp>
        <p:nvGrpSpPr>
          <p:cNvPr name="Group 4" id="4"/>
          <p:cNvGrpSpPr/>
          <p:nvPr/>
        </p:nvGrpSpPr>
        <p:grpSpPr>
          <a:xfrm rot="0">
            <a:off x="666750" y="666755"/>
            <a:ext cx="7230865" cy="4562475"/>
            <a:chOff x="0" y="0"/>
            <a:chExt cx="9641153" cy="6083300"/>
          </a:xfrm>
        </p:grpSpPr>
        <p:sp>
          <p:nvSpPr>
            <p:cNvPr name="TextBox 5" id="5"/>
            <p:cNvSpPr txBox="true"/>
            <p:nvPr/>
          </p:nvSpPr>
          <p:spPr>
            <a:xfrm rot="0">
              <a:off x="26326" y="57150"/>
              <a:ext cx="9614826" cy="1358479"/>
            </a:xfrm>
            <a:prstGeom prst="rect">
              <a:avLst/>
            </a:prstGeom>
          </p:spPr>
          <p:txBody>
            <a:bodyPr anchor="t" rtlCol="false" tIns="0" lIns="0" bIns="0" rIns="0">
              <a:spAutoFit/>
            </a:bodyPr>
            <a:lstStyle/>
            <a:p>
              <a:pPr algn="l" marL="0" indent="0" lvl="0">
                <a:lnSpc>
                  <a:spcPts val="7840"/>
                </a:lnSpc>
                <a:spcBef>
                  <a:spcPct val="0"/>
                </a:spcBef>
              </a:pPr>
              <a:r>
                <a:rPr lang="en-US" sz="7000" i="true">
                  <a:solidFill>
                    <a:srgbClr val="F3F1EF"/>
                  </a:solidFill>
                  <a:latin typeface="Radley Italics"/>
                  <a:ea typeface="Radley Italics"/>
                  <a:cs typeface="Radley Italics"/>
                  <a:sym typeface="Radley Italics"/>
                </a:rPr>
                <a:t>The Gap</a:t>
              </a:r>
            </a:p>
          </p:txBody>
        </p:sp>
        <p:sp>
          <p:nvSpPr>
            <p:cNvPr name="TextBox 6" id="6"/>
            <p:cNvSpPr txBox="true"/>
            <p:nvPr/>
          </p:nvSpPr>
          <p:spPr>
            <a:xfrm rot="0">
              <a:off x="26326" y="2387600"/>
              <a:ext cx="9614826" cy="1397000"/>
            </a:xfrm>
            <a:prstGeom prst="rect">
              <a:avLst/>
            </a:prstGeom>
          </p:spPr>
          <p:txBody>
            <a:bodyPr anchor="t" rtlCol="false" tIns="0" lIns="0" bIns="0" rIns="0">
              <a:spAutoFit/>
            </a:bodyPr>
            <a:lstStyle/>
            <a:p>
              <a:pPr algn="l" marL="0" indent="0" lvl="0">
                <a:lnSpc>
                  <a:spcPts val="4199"/>
                </a:lnSpc>
                <a:spcBef>
                  <a:spcPct val="0"/>
                </a:spcBef>
              </a:pPr>
              <a:r>
                <a:rPr lang="en-US" sz="3499" strike="noStrike" u="none">
                  <a:solidFill>
                    <a:srgbClr val="F3F1EF"/>
                  </a:solidFill>
                  <a:latin typeface="Radley"/>
                  <a:ea typeface="Radley"/>
                  <a:cs typeface="Radley"/>
                  <a:sym typeface="Radley"/>
                </a:rPr>
                <a:t>Every app that touches inner life has the same problem: amnesia.</a:t>
              </a:r>
            </a:p>
          </p:txBody>
        </p:sp>
        <p:sp>
          <p:nvSpPr>
            <p:cNvPr name="AutoShape 7" id="7"/>
            <p:cNvSpPr/>
            <p:nvPr/>
          </p:nvSpPr>
          <p:spPr>
            <a:xfrm>
              <a:off x="0" y="1901614"/>
              <a:ext cx="9614826" cy="0"/>
            </a:xfrm>
            <a:prstGeom prst="line">
              <a:avLst/>
            </a:prstGeom>
            <a:ln cap="flat" w="25400">
              <a:solidFill>
                <a:srgbClr val="F3F1EF"/>
              </a:solidFill>
              <a:prstDash val="solid"/>
              <a:headEnd type="none" len="sm" w="sm"/>
              <a:tailEnd type="none" len="sm" w="sm"/>
            </a:ln>
          </p:spPr>
        </p:sp>
        <p:sp>
          <p:nvSpPr>
            <p:cNvPr name="TextBox 8" id="8"/>
            <p:cNvSpPr txBox="true"/>
            <p:nvPr/>
          </p:nvSpPr>
          <p:spPr>
            <a:xfrm rot="0">
              <a:off x="26326" y="4419600"/>
              <a:ext cx="9588500" cy="1663700"/>
            </a:xfrm>
            <a:prstGeom prst="rect">
              <a:avLst/>
            </a:prstGeom>
          </p:spPr>
          <p:txBody>
            <a:bodyPr anchor="t" rtlCol="false" tIns="0" lIns="0" bIns="0" rIns="0">
              <a:spAutoFit/>
            </a:bodyPr>
            <a:lstStyle/>
            <a:p>
              <a:pPr algn="l" marL="0" indent="0" lvl="0">
                <a:lnSpc>
                  <a:spcPts val="2400"/>
                </a:lnSpc>
                <a:spcBef>
                  <a:spcPct val="0"/>
                </a:spcBef>
              </a:pPr>
              <a:r>
                <a:rPr lang="en-US" sz="2000" strike="noStrike" u="none">
                  <a:solidFill>
                    <a:srgbClr val="F3F1EF"/>
                  </a:solidFill>
                  <a:latin typeface="Carlito"/>
                  <a:ea typeface="Carlito"/>
                  <a:cs typeface="Carlito"/>
                  <a:sym typeface="Carlito"/>
                </a:rPr>
                <a:t>You reflect. You check in. Next session — gone. Apps that add memory show you summaries. Charts. Reports. That's passive. We built a system that holds claims about who you've been — specific enough to argue with.</a:t>
              </a:r>
            </a:p>
          </p:txBody>
        </p:sp>
      </p:grpSp>
      <p:grpSp>
        <p:nvGrpSpPr>
          <p:cNvPr name="Group 9" id="9"/>
          <p:cNvGrpSpPr/>
          <p:nvPr/>
        </p:nvGrpSpPr>
        <p:grpSpPr>
          <a:xfrm rot="0">
            <a:off x="666750" y="9184102"/>
            <a:ext cx="2171730" cy="2205796"/>
            <a:chOff x="0" y="0"/>
            <a:chExt cx="812800" cy="825500"/>
          </a:xfrm>
        </p:grpSpPr>
        <p:sp>
          <p:nvSpPr>
            <p:cNvPr name="Freeform 10" id="10"/>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1" id="11"/>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10429875" y="0"/>
            <a:ext cx="7858125" cy="10287000"/>
            <a:chOff x="0" y="0"/>
            <a:chExt cx="1217429" cy="1593725"/>
          </a:xfrm>
        </p:grpSpPr>
        <p:sp>
          <p:nvSpPr>
            <p:cNvPr name="Freeform 3" id="3"/>
            <p:cNvSpPr/>
            <p:nvPr/>
          </p:nvSpPr>
          <p:spPr>
            <a:xfrm flipH="false" flipV="false" rot="0">
              <a:off x="0" y="0"/>
              <a:ext cx="1217429" cy="1593725"/>
            </a:xfrm>
            <a:custGeom>
              <a:avLst/>
              <a:gdLst/>
              <a:ahLst/>
              <a:cxnLst/>
              <a:rect r="r" b="b" t="t" l="l"/>
              <a:pathLst>
                <a:path h="1593725" w="1217429">
                  <a:moveTo>
                    <a:pt x="0" y="0"/>
                  </a:moveTo>
                  <a:lnTo>
                    <a:pt x="1217429" y="0"/>
                  </a:lnTo>
                  <a:lnTo>
                    <a:pt x="1217429" y="1593725"/>
                  </a:lnTo>
                  <a:lnTo>
                    <a:pt x="0" y="1593725"/>
                  </a:lnTo>
                  <a:close/>
                </a:path>
              </a:pathLst>
            </a:custGeom>
            <a:blipFill>
              <a:blip r:embed="rId2"/>
              <a:stretch>
                <a:fillRect l="0" t="-421" r="0" b="-421"/>
              </a:stretch>
            </a:blipFill>
          </p:spPr>
        </p:sp>
      </p:grpSp>
      <p:grpSp>
        <p:nvGrpSpPr>
          <p:cNvPr name="Group 4" id="4"/>
          <p:cNvGrpSpPr/>
          <p:nvPr/>
        </p:nvGrpSpPr>
        <p:grpSpPr>
          <a:xfrm rot="0">
            <a:off x="666750" y="666755"/>
            <a:ext cx="7230865" cy="5857875"/>
            <a:chOff x="0" y="0"/>
            <a:chExt cx="9641153" cy="7810500"/>
          </a:xfrm>
        </p:grpSpPr>
        <p:sp>
          <p:nvSpPr>
            <p:cNvPr name="TextBox 5" id="5"/>
            <p:cNvSpPr txBox="true"/>
            <p:nvPr/>
          </p:nvSpPr>
          <p:spPr>
            <a:xfrm rot="0">
              <a:off x="26326" y="57150"/>
              <a:ext cx="9614826" cy="2679279"/>
            </a:xfrm>
            <a:prstGeom prst="rect">
              <a:avLst/>
            </a:prstGeom>
          </p:spPr>
          <p:txBody>
            <a:bodyPr anchor="t" rtlCol="false" tIns="0" lIns="0" bIns="0" rIns="0">
              <a:spAutoFit/>
            </a:bodyPr>
            <a:lstStyle/>
            <a:p>
              <a:pPr algn="l" marL="0" indent="0" lvl="0">
                <a:lnSpc>
                  <a:spcPts val="7840"/>
                </a:lnSpc>
                <a:spcBef>
                  <a:spcPct val="0"/>
                </a:spcBef>
              </a:pPr>
              <a:r>
                <a:rPr lang="en-US" sz="7000" i="true">
                  <a:solidFill>
                    <a:srgbClr val="F3F1EF"/>
                  </a:solidFill>
                  <a:latin typeface="Radley Italics"/>
                  <a:ea typeface="Radley Italics"/>
                  <a:cs typeface="Radley Italics"/>
                  <a:sym typeface="Radley Italics"/>
                </a:rPr>
                <a:t>MEMORY ENABLES STANDING</a:t>
              </a:r>
            </a:p>
          </p:txBody>
        </p:sp>
        <p:sp>
          <p:nvSpPr>
            <p:cNvPr name="TextBox 6" id="6"/>
            <p:cNvSpPr txBox="true"/>
            <p:nvPr/>
          </p:nvSpPr>
          <p:spPr>
            <a:xfrm rot="0">
              <a:off x="26326" y="3708400"/>
              <a:ext cx="9614826" cy="1397000"/>
            </a:xfrm>
            <a:prstGeom prst="rect">
              <a:avLst/>
            </a:prstGeom>
          </p:spPr>
          <p:txBody>
            <a:bodyPr anchor="t" rtlCol="false" tIns="0" lIns="0" bIns="0" rIns="0">
              <a:spAutoFit/>
            </a:bodyPr>
            <a:lstStyle/>
            <a:p>
              <a:pPr algn="l" marL="0" indent="0" lvl="0">
                <a:lnSpc>
                  <a:spcPts val="4199"/>
                </a:lnSpc>
                <a:spcBef>
                  <a:spcPct val="0"/>
                </a:spcBef>
              </a:pPr>
              <a:r>
                <a:rPr lang="en-US" sz="3499" strike="noStrike" u="none">
                  <a:solidFill>
                    <a:srgbClr val="F3F1EF"/>
                  </a:solidFill>
                  <a:latin typeface="Radley"/>
                  <a:ea typeface="Radley"/>
                  <a:cs typeface="Radley"/>
                  <a:sym typeface="Radley"/>
                </a:rPr>
                <a:t>Not a dashboard. Not a chatbot. Not a mirror. An interlocutor.</a:t>
              </a:r>
            </a:p>
          </p:txBody>
        </p:sp>
        <p:sp>
          <p:nvSpPr>
            <p:cNvPr name="AutoShape 7" id="7"/>
            <p:cNvSpPr/>
            <p:nvPr/>
          </p:nvSpPr>
          <p:spPr>
            <a:xfrm>
              <a:off x="0" y="3222414"/>
              <a:ext cx="9614826" cy="0"/>
            </a:xfrm>
            <a:prstGeom prst="line">
              <a:avLst/>
            </a:prstGeom>
            <a:ln cap="flat" w="25400">
              <a:solidFill>
                <a:srgbClr val="F3F1EF"/>
              </a:solidFill>
              <a:prstDash val="solid"/>
              <a:headEnd type="none" len="sm" w="sm"/>
              <a:tailEnd type="none" len="sm" w="sm"/>
            </a:ln>
          </p:spPr>
        </p:sp>
        <p:sp>
          <p:nvSpPr>
            <p:cNvPr name="TextBox 8" id="8"/>
            <p:cNvSpPr txBox="true"/>
            <p:nvPr/>
          </p:nvSpPr>
          <p:spPr>
            <a:xfrm rot="0">
              <a:off x="26326" y="5740400"/>
              <a:ext cx="9588500" cy="2070100"/>
            </a:xfrm>
            <a:prstGeom prst="rect">
              <a:avLst/>
            </a:prstGeom>
          </p:spPr>
          <p:txBody>
            <a:bodyPr anchor="t" rtlCol="false" tIns="0" lIns="0" bIns="0" rIns="0">
              <a:spAutoFit/>
            </a:bodyPr>
            <a:lstStyle/>
            <a:p>
              <a:pPr algn="l" marL="0" indent="0" lvl="0">
                <a:lnSpc>
                  <a:spcPts val="2400"/>
                </a:lnSpc>
                <a:spcBef>
                  <a:spcPct val="0"/>
                </a:spcBef>
              </a:pPr>
              <a:r>
                <a:rPr lang="en-US" sz="2000" strike="noStrike" u="none">
                  <a:solidFill>
                    <a:srgbClr val="F3F1EF"/>
                  </a:solidFill>
                  <a:latin typeface="Carlito"/>
                  <a:ea typeface="Carlito"/>
                  <a:cs typeface="Carlito"/>
                  <a:sym typeface="Carlito"/>
                </a:rPr>
                <a:t>A system without memory can observe you. A system with memory can argue with you — because it was there, it remembers what you said, and it holds the record you've been unconsciously editing. The closest analogue: a sparring partner who has been watching your footage for months and knows your patterns better than you do.</a:t>
              </a:r>
            </a:p>
          </p:txBody>
        </p:sp>
      </p:grpSp>
      <p:grpSp>
        <p:nvGrpSpPr>
          <p:cNvPr name="Group 9" id="9"/>
          <p:cNvGrpSpPr/>
          <p:nvPr/>
        </p:nvGrpSpPr>
        <p:grpSpPr>
          <a:xfrm rot="0">
            <a:off x="666750" y="9184102"/>
            <a:ext cx="2171730" cy="2205796"/>
            <a:chOff x="0" y="0"/>
            <a:chExt cx="812800" cy="825500"/>
          </a:xfrm>
        </p:grpSpPr>
        <p:sp>
          <p:nvSpPr>
            <p:cNvPr name="Freeform 10" id="10"/>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1" id="11"/>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4.xml><?xml version="1.0" encoding="utf-8"?>
<p:sld xmlns:p="http://schemas.openxmlformats.org/presentationml/2006/main" xmlns:a="http://schemas.openxmlformats.org/drawingml/2006/main">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666750" y="666750"/>
            <a:ext cx="14687550" cy="5876925"/>
            <a:chOff x="0" y="0"/>
            <a:chExt cx="19583400" cy="7835900"/>
          </a:xfrm>
        </p:grpSpPr>
        <p:sp>
          <p:nvSpPr>
            <p:cNvPr name="AutoShape 3" id="3"/>
            <p:cNvSpPr/>
            <p:nvPr/>
          </p:nvSpPr>
          <p:spPr>
            <a:xfrm>
              <a:off x="0" y="7823200"/>
              <a:ext cx="19583400" cy="0"/>
            </a:xfrm>
            <a:prstGeom prst="line">
              <a:avLst/>
            </a:prstGeom>
            <a:ln cap="flat" w="25400">
              <a:solidFill>
                <a:srgbClr val="F3F1EF"/>
              </a:solidFill>
              <a:prstDash val="solid"/>
              <a:headEnd type="none" len="sm" w="sm"/>
              <a:tailEnd type="none" len="sm" w="sm"/>
            </a:ln>
          </p:spPr>
        </p:sp>
        <p:sp>
          <p:nvSpPr>
            <p:cNvPr name="TextBox 4" id="4"/>
            <p:cNvSpPr txBox="true"/>
            <p:nvPr/>
          </p:nvSpPr>
          <p:spPr>
            <a:xfrm rot="0">
              <a:off x="0" y="9525"/>
              <a:ext cx="19583400" cy="7038975"/>
            </a:xfrm>
            <a:prstGeom prst="rect">
              <a:avLst/>
            </a:prstGeom>
          </p:spPr>
          <p:txBody>
            <a:bodyPr anchor="t" rtlCol="false" tIns="0" lIns="0" bIns="0" rIns="0">
              <a:spAutoFit/>
            </a:bodyPr>
            <a:lstStyle/>
            <a:p>
              <a:pPr algn="l" marL="0" indent="0" lvl="0">
                <a:lnSpc>
                  <a:spcPts val="8399"/>
                </a:lnSpc>
                <a:spcBef>
                  <a:spcPct val="0"/>
                </a:spcBef>
              </a:pPr>
              <a:r>
                <a:rPr lang="en-US" sz="6999" strike="noStrike" u="none">
                  <a:solidFill>
                    <a:srgbClr val="F3F1EF"/>
                  </a:solidFill>
                  <a:latin typeface="Radley"/>
                  <a:ea typeface="Radley"/>
                  <a:cs typeface="Radley"/>
                  <a:sym typeface="Radley"/>
                </a:rPr>
                <a:t>"When I'm changing and can't tell if it's growth or collapse, I want something that holds a claim about who I've been — so I can argue with it and find out who I actually am."</a:t>
              </a:r>
            </a:p>
          </p:txBody>
        </p:sp>
      </p:grpSp>
      <p:sp>
        <p:nvSpPr>
          <p:cNvPr name="TextBox 5" id="5"/>
          <p:cNvSpPr txBox="true"/>
          <p:nvPr/>
        </p:nvSpPr>
        <p:spPr>
          <a:xfrm rot="0">
            <a:off x="666750" y="9232900"/>
            <a:ext cx="14325862" cy="387350"/>
          </a:xfrm>
          <a:prstGeom prst="rect">
            <a:avLst/>
          </a:prstGeom>
        </p:spPr>
        <p:txBody>
          <a:bodyPr anchor="t" rtlCol="false" tIns="0" lIns="0" bIns="0" rIns="0">
            <a:spAutoFit/>
          </a:bodyPr>
          <a:lstStyle/>
          <a:p>
            <a:pPr algn="l" marL="0" indent="0" lvl="0">
              <a:lnSpc>
                <a:spcPts val="2799"/>
              </a:lnSpc>
              <a:spcBef>
                <a:spcPct val="0"/>
              </a:spcBef>
            </a:pPr>
            <a:r>
              <a:rPr lang="en-US" sz="1999">
                <a:solidFill>
                  <a:srgbClr val="F3F1EF"/>
                </a:solidFill>
                <a:latin typeface="Carlito"/>
                <a:ea typeface="Carlito"/>
                <a:cs typeface="Carlito"/>
                <a:sym typeface="Carlito"/>
              </a:rPr>
              <a:t>THE JOB TO BE DONE</a:t>
            </a:r>
          </a:p>
        </p:txBody>
      </p:sp>
      <p:grpSp>
        <p:nvGrpSpPr>
          <p:cNvPr name="Group 6" id="6"/>
          <p:cNvGrpSpPr/>
          <p:nvPr/>
        </p:nvGrpSpPr>
        <p:grpSpPr>
          <a:xfrm rot="0">
            <a:off x="17202135" y="459202"/>
            <a:ext cx="2171730" cy="2205796"/>
            <a:chOff x="0" y="0"/>
            <a:chExt cx="812800" cy="825500"/>
          </a:xfrm>
        </p:grpSpPr>
        <p:sp>
          <p:nvSpPr>
            <p:cNvPr name="Freeform 7" id="7"/>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8" id="8"/>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5.xml><?xml version="1.0" encoding="utf-8"?>
<p:sld xmlns:p="http://schemas.openxmlformats.org/presentationml/2006/main" xmlns:a="http://schemas.openxmlformats.org/drawingml/2006/main">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666750" y="5143500"/>
            <a:ext cx="6057900" cy="2277237"/>
            <a:chOff x="0" y="0"/>
            <a:chExt cx="8077200" cy="3036316"/>
          </a:xfrm>
        </p:grpSpPr>
        <p:sp>
          <p:nvSpPr>
            <p:cNvPr name="TextBox 3" id="3"/>
            <p:cNvSpPr txBox="true"/>
            <p:nvPr/>
          </p:nvSpPr>
          <p:spPr>
            <a:xfrm rot="0">
              <a:off x="0" y="-66675"/>
              <a:ext cx="8077200" cy="625475"/>
            </a:xfrm>
            <a:prstGeom prst="rect">
              <a:avLst/>
            </a:prstGeom>
          </p:spPr>
          <p:txBody>
            <a:bodyPr anchor="t" rtlCol="false" tIns="0" lIns="0" bIns="0" rIns="0">
              <a:spAutoFit/>
            </a:bodyPr>
            <a:lstStyle/>
            <a:p>
              <a:pPr algn="l" marL="0" indent="0" lvl="0">
                <a:lnSpc>
                  <a:spcPts val="3318"/>
                </a:lnSpc>
                <a:spcBef>
                  <a:spcPct val="0"/>
                </a:spcBef>
              </a:pPr>
              <a:r>
                <a:rPr lang="en-US" b="true" sz="2765" strike="noStrike" u="none">
                  <a:solidFill>
                    <a:srgbClr val="F3F1EF"/>
                  </a:solidFill>
                  <a:latin typeface="Carlito Bold"/>
                  <a:ea typeface="Carlito Bold"/>
                  <a:cs typeface="Carlito Bold"/>
                  <a:sym typeface="Carlito Bold"/>
                </a:rPr>
                <a:t>Recorded.</a:t>
              </a:r>
            </a:p>
          </p:txBody>
        </p:sp>
        <p:sp>
          <p:nvSpPr>
            <p:cNvPr name="TextBox 4" id="4"/>
            <p:cNvSpPr txBox="true"/>
            <p:nvPr/>
          </p:nvSpPr>
          <p:spPr>
            <a:xfrm rot="0">
              <a:off x="0" y="1127125"/>
              <a:ext cx="8077200" cy="1909191"/>
            </a:xfrm>
            <a:prstGeom prst="rect">
              <a:avLst/>
            </a:prstGeom>
          </p:spPr>
          <p:txBody>
            <a:bodyPr anchor="t" rtlCol="false" tIns="0" lIns="0" bIns="0" rIns="0">
              <a:spAutoFit/>
            </a:bodyPr>
            <a:lstStyle/>
            <a:p>
              <a:pPr algn="l" marL="0" indent="0" lvl="0">
                <a:lnSpc>
                  <a:spcPts val="2847"/>
                </a:lnSpc>
                <a:spcBef>
                  <a:spcPct val="0"/>
                </a:spcBef>
              </a:pPr>
              <a:r>
                <a:rPr lang="en-US" sz="2190" strike="noStrike" u="none">
                  <a:solidFill>
                    <a:srgbClr val="F3F1EF"/>
                  </a:solidFill>
                  <a:latin typeface="Carlito"/>
                  <a:ea typeface="Carlito"/>
                  <a:cs typeface="Carlito"/>
                  <a:sym typeface="Carlito"/>
                </a:rPr>
                <a:t>Seven factors. A score. The system doesn't know you yet. Without memory, this is all you get — a number. A system that's honest about its ignorance is more credible when it later claims to see a pattern.</a:t>
              </a:r>
            </a:p>
          </p:txBody>
        </p:sp>
      </p:grpSp>
      <p:grpSp>
        <p:nvGrpSpPr>
          <p:cNvPr name="Group 5" id="5"/>
          <p:cNvGrpSpPr/>
          <p:nvPr/>
        </p:nvGrpSpPr>
        <p:grpSpPr>
          <a:xfrm rot="0">
            <a:off x="7858125" y="5143500"/>
            <a:ext cx="6057900" cy="3334512"/>
            <a:chOff x="0" y="0"/>
            <a:chExt cx="8077200" cy="4446016"/>
          </a:xfrm>
        </p:grpSpPr>
        <p:sp>
          <p:nvSpPr>
            <p:cNvPr name="TextBox 6" id="6"/>
            <p:cNvSpPr txBox="true"/>
            <p:nvPr/>
          </p:nvSpPr>
          <p:spPr>
            <a:xfrm rot="0">
              <a:off x="0" y="-66675"/>
              <a:ext cx="8077200" cy="625475"/>
            </a:xfrm>
            <a:prstGeom prst="rect">
              <a:avLst/>
            </a:prstGeom>
          </p:spPr>
          <p:txBody>
            <a:bodyPr anchor="t" rtlCol="false" tIns="0" lIns="0" bIns="0" rIns="0">
              <a:spAutoFit/>
            </a:bodyPr>
            <a:lstStyle/>
            <a:p>
              <a:pPr algn="l" marL="0" indent="0" lvl="0">
                <a:lnSpc>
                  <a:spcPts val="3318"/>
                </a:lnSpc>
                <a:spcBef>
                  <a:spcPct val="0"/>
                </a:spcBef>
              </a:pPr>
              <a:r>
                <a:rPr lang="en-US" b="true" sz="2765" strike="noStrike" u="none">
                  <a:solidFill>
                    <a:srgbClr val="F3F1EF"/>
                  </a:solidFill>
                  <a:latin typeface="Carlito Bold"/>
                  <a:ea typeface="Carlito Bold"/>
                  <a:cs typeface="Carlito Bold"/>
                  <a:sym typeface="Carlito Bold"/>
                </a:rPr>
                <a:t>DAY 90</a:t>
              </a:r>
            </a:p>
          </p:txBody>
        </p:sp>
        <p:sp>
          <p:nvSpPr>
            <p:cNvPr name="TextBox 7" id="7"/>
            <p:cNvSpPr txBox="true"/>
            <p:nvPr/>
          </p:nvSpPr>
          <p:spPr>
            <a:xfrm rot="0">
              <a:off x="0" y="1127125"/>
              <a:ext cx="8077200" cy="3318891"/>
            </a:xfrm>
            <a:prstGeom prst="rect">
              <a:avLst/>
            </a:prstGeom>
          </p:spPr>
          <p:txBody>
            <a:bodyPr anchor="t" rtlCol="false" tIns="0" lIns="0" bIns="0" rIns="0">
              <a:spAutoFit/>
            </a:bodyPr>
            <a:lstStyle/>
            <a:p>
              <a:pPr algn="l" marL="0" indent="0" lvl="0">
                <a:lnSpc>
                  <a:spcPts val="2847"/>
                </a:lnSpc>
                <a:spcBef>
                  <a:spcPct val="0"/>
                </a:spcBef>
              </a:pPr>
              <a:r>
                <a:rPr lang="en-US" sz="2190" strike="noStrike" u="none">
                  <a:solidFill>
                    <a:srgbClr val="F3F1EF"/>
                  </a:solidFill>
                  <a:latin typeface="Carlito"/>
                  <a:ea typeface="Carlito"/>
                  <a:cs typeface="Carlito"/>
                  <a:sym typeface="Carlito"/>
                </a:rPr>
                <a:t>"You've been avoiding connection for nine days. Last time, you told yourself it was fine. It wasn't."</a:t>
              </a:r>
            </a:p>
            <a:p>
              <a:pPr algn="l" marL="0" indent="0" lvl="0">
                <a:lnSpc>
                  <a:spcPts val="2847"/>
                </a:lnSpc>
                <a:spcBef>
                  <a:spcPct val="0"/>
                </a:spcBef>
              </a:pPr>
            </a:p>
            <a:p>
              <a:pPr algn="l" marL="0" indent="0" lvl="0">
                <a:lnSpc>
                  <a:spcPts val="2847"/>
                </a:lnSpc>
                <a:spcBef>
                  <a:spcPct val="0"/>
                </a:spcBef>
              </a:pPr>
              <a:r>
                <a:rPr lang="en-US" sz="2190" strike="noStrike" u="none">
                  <a:solidFill>
                    <a:srgbClr val="F3F1EF"/>
                  </a:solidFill>
                  <a:latin typeface="Carlito"/>
                  <a:ea typeface="Carlito"/>
                  <a:cs typeface="Carlito"/>
                  <a:sym typeface="Carlito"/>
                </a:rPr>
                <a:t>That's not a summary. That's a position — specific enough to argue with. She pushes back. That correction is the highest-signal data in the entire system.</a:t>
              </a:r>
            </a:p>
          </p:txBody>
        </p:sp>
      </p:grpSp>
      <p:grpSp>
        <p:nvGrpSpPr>
          <p:cNvPr name="Group 8" id="8"/>
          <p:cNvGrpSpPr/>
          <p:nvPr/>
        </p:nvGrpSpPr>
        <p:grpSpPr>
          <a:xfrm rot="0">
            <a:off x="666750" y="661581"/>
            <a:ext cx="12944475" cy="1754378"/>
            <a:chOff x="0" y="0"/>
            <a:chExt cx="17259300" cy="2339171"/>
          </a:xfrm>
        </p:grpSpPr>
        <p:sp>
          <p:nvSpPr>
            <p:cNvPr name="TextBox 9" id="9"/>
            <p:cNvSpPr txBox="true"/>
            <p:nvPr/>
          </p:nvSpPr>
          <p:spPr>
            <a:xfrm rot="0">
              <a:off x="0" y="142875"/>
              <a:ext cx="17259300" cy="1275292"/>
            </a:xfrm>
            <a:prstGeom prst="rect">
              <a:avLst/>
            </a:prstGeom>
          </p:spPr>
          <p:txBody>
            <a:bodyPr anchor="t" rtlCol="false" tIns="0" lIns="0" bIns="0" rIns="0">
              <a:spAutoFit/>
            </a:bodyPr>
            <a:lstStyle/>
            <a:p>
              <a:pPr algn="l" marL="0" indent="0" lvl="0">
                <a:lnSpc>
                  <a:spcPts val="6999"/>
                </a:lnSpc>
              </a:pPr>
              <a:r>
                <a:rPr lang="en-US" sz="6999">
                  <a:solidFill>
                    <a:srgbClr val="F3F1EF"/>
                  </a:solidFill>
                  <a:latin typeface="Radley"/>
                  <a:ea typeface="Radley"/>
                  <a:cs typeface="Radley"/>
                  <a:sym typeface="Radley"/>
                </a:rPr>
                <a:t>DAY 1</a:t>
              </a:r>
            </a:p>
          </p:txBody>
        </p:sp>
        <p:sp>
          <p:nvSpPr>
            <p:cNvPr name="TextBox 10" id="10"/>
            <p:cNvSpPr txBox="true"/>
            <p:nvPr/>
          </p:nvSpPr>
          <p:spPr>
            <a:xfrm rot="0">
              <a:off x="0" y="1781175"/>
              <a:ext cx="17259300" cy="557996"/>
            </a:xfrm>
            <a:prstGeom prst="rect">
              <a:avLst/>
            </a:prstGeom>
          </p:spPr>
          <p:txBody>
            <a:bodyPr anchor="t" rtlCol="false" tIns="0" lIns="0" bIns="0" rIns="0">
              <a:spAutoFit/>
            </a:bodyPr>
            <a:lstStyle/>
            <a:p>
              <a:pPr algn="l" marL="0" indent="0" lvl="0">
                <a:lnSpc>
                  <a:spcPts val="3576"/>
                </a:lnSpc>
                <a:spcBef>
                  <a:spcPct val="0"/>
                </a:spcBef>
              </a:pPr>
              <a:r>
                <a:rPr lang="en-US" sz="2554" strike="noStrike" u="none">
                  <a:solidFill>
                    <a:srgbClr val="F3F1EF"/>
                  </a:solidFill>
                  <a:latin typeface="Radley"/>
                  <a:ea typeface="Radley"/>
                  <a:cs typeface="Radley"/>
                  <a:sym typeface="Radley"/>
                </a:rPr>
                <a:t>Day 1 vs Day 90 — from recording to confrontation</a:t>
              </a:r>
            </a:p>
          </p:txBody>
        </p:sp>
      </p:grpSp>
      <p:grpSp>
        <p:nvGrpSpPr>
          <p:cNvPr name="Group 11" id="11"/>
          <p:cNvGrpSpPr/>
          <p:nvPr/>
        </p:nvGrpSpPr>
        <p:grpSpPr>
          <a:xfrm rot="0">
            <a:off x="17202135" y="459202"/>
            <a:ext cx="2171730" cy="2205796"/>
            <a:chOff x="0" y="0"/>
            <a:chExt cx="812800" cy="825500"/>
          </a:xfrm>
        </p:grpSpPr>
        <p:sp>
          <p:nvSpPr>
            <p:cNvPr name="Freeform 12" id="12"/>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3" id="13"/>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10429875" y="0"/>
            <a:ext cx="7858125" cy="10287000"/>
            <a:chOff x="0" y="0"/>
            <a:chExt cx="1217429" cy="1593725"/>
          </a:xfrm>
        </p:grpSpPr>
        <p:sp>
          <p:nvSpPr>
            <p:cNvPr name="Freeform 3" id="3"/>
            <p:cNvSpPr/>
            <p:nvPr/>
          </p:nvSpPr>
          <p:spPr>
            <a:xfrm flipH="false" flipV="false" rot="0">
              <a:off x="0" y="0"/>
              <a:ext cx="1217429" cy="1593725"/>
            </a:xfrm>
            <a:custGeom>
              <a:avLst/>
              <a:gdLst/>
              <a:ahLst/>
              <a:cxnLst/>
              <a:rect r="r" b="b" t="t" l="l"/>
              <a:pathLst>
                <a:path h="1593725" w="1217429">
                  <a:moveTo>
                    <a:pt x="0" y="0"/>
                  </a:moveTo>
                  <a:lnTo>
                    <a:pt x="1217429" y="0"/>
                  </a:lnTo>
                  <a:lnTo>
                    <a:pt x="1217429" y="1593725"/>
                  </a:lnTo>
                  <a:lnTo>
                    <a:pt x="0" y="1593725"/>
                  </a:lnTo>
                  <a:close/>
                </a:path>
              </a:pathLst>
            </a:custGeom>
            <a:blipFill>
              <a:blip r:embed="rId2"/>
              <a:stretch>
                <a:fillRect l="0" t="-421" r="0" b="-421"/>
              </a:stretch>
            </a:blipFill>
          </p:spPr>
        </p:sp>
      </p:grpSp>
      <p:grpSp>
        <p:nvGrpSpPr>
          <p:cNvPr name="Group 4" id="4"/>
          <p:cNvGrpSpPr/>
          <p:nvPr/>
        </p:nvGrpSpPr>
        <p:grpSpPr>
          <a:xfrm rot="0">
            <a:off x="666750" y="666755"/>
            <a:ext cx="7230865" cy="8296275"/>
            <a:chOff x="0" y="0"/>
            <a:chExt cx="9641153" cy="11061700"/>
          </a:xfrm>
        </p:grpSpPr>
        <p:sp>
          <p:nvSpPr>
            <p:cNvPr name="TextBox 5" id="5"/>
            <p:cNvSpPr txBox="true"/>
            <p:nvPr/>
          </p:nvSpPr>
          <p:spPr>
            <a:xfrm rot="0">
              <a:off x="26326" y="57150"/>
              <a:ext cx="9614826" cy="2679279"/>
            </a:xfrm>
            <a:prstGeom prst="rect">
              <a:avLst/>
            </a:prstGeom>
          </p:spPr>
          <p:txBody>
            <a:bodyPr anchor="t" rtlCol="false" tIns="0" lIns="0" bIns="0" rIns="0">
              <a:spAutoFit/>
            </a:bodyPr>
            <a:lstStyle/>
            <a:p>
              <a:pPr algn="l" marL="0" indent="0" lvl="0">
                <a:lnSpc>
                  <a:spcPts val="7840"/>
                </a:lnSpc>
                <a:spcBef>
                  <a:spcPct val="0"/>
                </a:spcBef>
              </a:pPr>
              <a:r>
                <a:rPr lang="en-US" sz="7000" i="true">
                  <a:solidFill>
                    <a:srgbClr val="F3F1EF"/>
                  </a:solidFill>
                  <a:latin typeface="Radley Italics"/>
                  <a:ea typeface="Radley Italics"/>
                  <a:cs typeface="Radley Italics"/>
                  <a:sym typeface="Radley Italics"/>
                </a:rPr>
                <a:t>Archetypes with standing</a:t>
              </a:r>
            </a:p>
          </p:txBody>
        </p:sp>
        <p:sp>
          <p:nvSpPr>
            <p:cNvPr name="TextBox 6" id="6"/>
            <p:cNvSpPr txBox="true"/>
            <p:nvPr/>
          </p:nvSpPr>
          <p:spPr>
            <a:xfrm rot="0">
              <a:off x="26326" y="3708400"/>
              <a:ext cx="9614826" cy="1397000"/>
            </a:xfrm>
            <a:prstGeom prst="rect">
              <a:avLst/>
            </a:prstGeom>
          </p:spPr>
          <p:txBody>
            <a:bodyPr anchor="t" rtlCol="false" tIns="0" lIns="0" bIns="0" rIns="0">
              <a:spAutoFit/>
            </a:bodyPr>
            <a:lstStyle/>
            <a:p>
              <a:pPr algn="l" marL="0" indent="0" lvl="0">
                <a:lnSpc>
                  <a:spcPts val="4199"/>
                </a:lnSpc>
                <a:spcBef>
                  <a:spcPct val="0"/>
                </a:spcBef>
              </a:pPr>
              <a:r>
                <a:rPr lang="en-US" sz="3499" strike="noStrike" u="none">
                  <a:solidFill>
                    <a:srgbClr val="F3F1EF"/>
                  </a:solidFill>
                  <a:latin typeface="Radley"/>
                  <a:ea typeface="Radley"/>
                  <a:cs typeface="Radley"/>
                  <a:sym typeface="Radley"/>
                </a:rPr>
                <a:t>The Warrior and the Sage don't give generic wisdom. They have receipts.</a:t>
              </a:r>
            </a:p>
          </p:txBody>
        </p:sp>
        <p:sp>
          <p:nvSpPr>
            <p:cNvPr name="AutoShape 7" id="7"/>
            <p:cNvSpPr/>
            <p:nvPr/>
          </p:nvSpPr>
          <p:spPr>
            <a:xfrm>
              <a:off x="0" y="3222414"/>
              <a:ext cx="9614826" cy="0"/>
            </a:xfrm>
            <a:prstGeom prst="line">
              <a:avLst/>
            </a:prstGeom>
            <a:ln cap="flat" w="25400">
              <a:solidFill>
                <a:srgbClr val="F3F1EF"/>
              </a:solidFill>
              <a:prstDash val="solid"/>
              <a:headEnd type="none" len="sm" w="sm"/>
              <a:tailEnd type="none" len="sm" w="sm"/>
            </a:ln>
          </p:spPr>
        </p:sp>
        <p:sp>
          <p:nvSpPr>
            <p:cNvPr name="TextBox 8" id="8"/>
            <p:cNvSpPr txBox="true"/>
            <p:nvPr/>
          </p:nvSpPr>
          <p:spPr>
            <a:xfrm rot="0">
              <a:off x="26326" y="5740400"/>
              <a:ext cx="9588500" cy="5321300"/>
            </a:xfrm>
            <a:prstGeom prst="rect">
              <a:avLst/>
            </a:prstGeom>
          </p:spPr>
          <p:txBody>
            <a:bodyPr anchor="t" rtlCol="false" tIns="0" lIns="0" bIns="0" rIns="0">
              <a:spAutoFit/>
            </a:bodyPr>
            <a:lstStyle/>
            <a:p>
              <a:pPr algn="l" marL="0" indent="0" lvl="0">
                <a:lnSpc>
                  <a:spcPts val="2400"/>
                </a:lnSpc>
                <a:spcBef>
                  <a:spcPct val="0"/>
                </a:spcBef>
              </a:pPr>
              <a:r>
                <a:rPr lang="en-US" sz="2000" strike="noStrike" u="none">
                  <a:solidFill>
                    <a:srgbClr val="F3F1EF"/>
                  </a:solidFill>
                  <a:latin typeface="Carlito"/>
                  <a:ea typeface="Carlito"/>
                  <a:cs typeface="Carlito"/>
                  <a:sym typeface="Carlito"/>
                </a:rPr>
                <a:t>The Warrior: "You told me I was too aggressive. Then you spent three weeks stuck. I'm going to say it again: stop waiting for permission." That's a callback to January — specific, grounded, impossible to dismiss.</a:t>
              </a:r>
            </a:p>
            <a:p>
              <a:pPr algn="l" marL="0" indent="0" lvl="0">
                <a:lnSpc>
                  <a:spcPts val="2400"/>
                </a:lnSpc>
                <a:spcBef>
                  <a:spcPct val="0"/>
                </a:spcBef>
              </a:pPr>
            </a:p>
            <a:p>
              <a:pPr algn="l" marL="0" indent="0" lvl="0">
                <a:lnSpc>
                  <a:spcPts val="2400"/>
                </a:lnSpc>
                <a:spcBef>
                  <a:spcPct val="0"/>
                </a:spcBef>
              </a:pPr>
              <a:r>
                <a:rPr lang="en-US" sz="2000" strike="noStrike" u="none">
                  <a:solidFill>
                    <a:srgbClr val="F3F1EF"/>
                  </a:solidFill>
                  <a:latin typeface="Carlito"/>
                  <a:ea typeface="Carlito"/>
                  <a:cs typeface="Carlito"/>
                  <a:sym typeface="Carlito"/>
                </a:rPr>
                <a:t>The Sage: "You've consulted me four times when clarity was above 80. Every time, you already knew the answer. What do you actually come to me for?" Memory gave it the standing to ask the real question.</a:t>
              </a:r>
            </a:p>
            <a:p>
              <a:pPr algn="l" marL="0" indent="0" lvl="0">
                <a:lnSpc>
                  <a:spcPts val="2400"/>
                </a:lnSpc>
                <a:spcBef>
                  <a:spcPct val="0"/>
                </a:spcBef>
              </a:pPr>
            </a:p>
            <a:p>
              <a:pPr algn="l" marL="0" indent="0" lvl="0">
                <a:lnSpc>
                  <a:spcPts val="2400"/>
                </a:lnSpc>
                <a:spcBef>
                  <a:spcPct val="0"/>
                </a:spcBef>
              </a:pPr>
              <a:r>
                <a:rPr lang="en-US" sz="2000" strike="noStrike" u="none">
                  <a:solidFill>
                    <a:srgbClr val="F3F1EF"/>
                  </a:solidFill>
                  <a:latin typeface="Carlito"/>
                  <a:ea typeface="Carlito"/>
                  <a:cs typeface="Carlito"/>
                  <a:sym typeface="Carlito"/>
                </a:rPr>
                <a:t>The Sovereign: "The Warrior and the Sage have been arguing for weeks. I'm what happens when you stop choosing between them." A new presence — earned, not given.</a:t>
              </a:r>
            </a:p>
          </p:txBody>
        </p:sp>
      </p:grpSp>
      <p:grpSp>
        <p:nvGrpSpPr>
          <p:cNvPr name="Group 9" id="9"/>
          <p:cNvGrpSpPr/>
          <p:nvPr/>
        </p:nvGrpSpPr>
        <p:grpSpPr>
          <a:xfrm rot="0">
            <a:off x="666750" y="9184102"/>
            <a:ext cx="2171730" cy="2205796"/>
            <a:chOff x="0" y="0"/>
            <a:chExt cx="812800" cy="825500"/>
          </a:xfrm>
        </p:grpSpPr>
        <p:sp>
          <p:nvSpPr>
            <p:cNvPr name="Freeform 10" id="10"/>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1" id="11"/>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10429875" y="0"/>
            <a:ext cx="7858125" cy="10287000"/>
            <a:chOff x="0" y="0"/>
            <a:chExt cx="1217429" cy="1593725"/>
          </a:xfrm>
        </p:grpSpPr>
        <p:sp>
          <p:nvSpPr>
            <p:cNvPr name="Freeform 3" id="3"/>
            <p:cNvSpPr/>
            <p:nvPr/>
          </p:nvSpPr>
          <p:spPr>
            <a:xfrm flipH="false" flipV="false" rot="0">
              <a:off x="0" y="0"/>
              <a:ext cx="1217429" cy="1593725"/>
            </a:xfrm>
            <a:custGeom>
              <a:avLst/>
              <a:gdLst/>
              <a:ahLst/>
              <a:cxnLst/>
              <a:rect r="r" b="b" t="t" l="l"/>
              <a:pathLst>
                <a:path h="1593725" w="1217429">
                  <a:moveTo>
                    <a:pt x="0" y="0"/>
                  </a:moveTo>
                  <a:lnTo>
                    <a:pt x="1217429" y="0"/>
                  </a:lnTo>
                  <a:lnTo>
                    <a:pt x="1217429" y="1593725"/>
                  </a:lnTo>
                  <a:lnTo>
                    <a:pt x="0" y="1593725"/>
                  </a:lnTo>
                  <a:close/>
                </a:path>
              </a:pathLst>
            </a:custGeom>
            <a:blipFill>
              <a:blip r:embed="rId2"/>
              <a:stretch>
                <a:fillRect l="0" t="-421" r="0" b="-421"/>
              </a:stretch>
            </a:blipFill>
          </p:spPr>
        </p:sp>
      </p:grpSp>
      <p:grpSp>
        <p:nvGrpSpPr>
          <p:cNvPr name="Group 4" id="4"/>
          <p:cNvGrpSpPr/>
          <p:nvPr/>
        </p:nvGrpSpPr>
        <p:grpSpPr>
          <a:xfrm rot="0">
            <a:off x="666750" y="666755"/>
            <a:ext cx="7230865" cy="6162675"/>
            <a:chOff x="0" y="0"/>
            <a:chExt cx="9641153" cy="8216900"/>
          </a:xfrm>
        </p:grpSpPr>
        <p:sp>
          <p:nvSpPr>
            <p:cNvPr name="TextBox 5" id="5"/>
            <p:cNvSpPr txBox="true"/>
            <p:nvPr/>
          </p:nvSpPr>
          <p:spPr>
            <a:xfrm rot="0">
              <a:off x="26326" y="57150"/>
              <a:ext cx="9614826" cy="2679279"/>
            </a:xfrm>
            <a:prstGeom prst="rect">
              <a:avLst/>
            </a:prstGeom>
          </p:spPr>
          <p:txBody>
            <a:bodyPr anchor="t" rtlCol="false" tIns="0" lIns="0" bIns="0" rIns="0">
              <a:spAutoFit/>
            </a:bodyPr>
            <a:lstStyle/>
            <a:p>
              <a:pPr algn="l" marL="0" indent="0" lvl="0">
                <a:lnSpc>
                  <a:spcPts val="7840"/>
                </a:lnSpc>
                <a:spcBef>
                  <a:spcPct val="0"/>
                </a:spcBef>
              </a:pPr>
              <a:r>
                <a:rPr lang="en-US" sz="7000" i="true">
                  <a:solidFill>
                    <a:srgbClr val="F3F1EF"/>
                  </a:solidFill>
                  <a:latin typeface="Radley Italics"/>
                  <a:ea typeface="Radley Italics"/>
                  <a:cs typeface="Radley Italics"/>
                  <a:sym typeface="Radley Italics"/>
                </a:rPr>
                <a:t>The Disputable Account</a:t>
              </a:r>
            </a:p>
          </p:txBody>
        </p:sp>
        <p:sp>
          <p:nvSpPr>
            <p:cNvPr name="TextBox 6" id="6"/>
            <p:cNvSpPr txBox="true"/>
            <p:nvPr/>
          </p:nvSpPr>
          <p:spPr>
            <a:xfrm rot="0">
              <a:off x="26326" y="3708400"/>
              <a:ext cx="9614826" cy="1397000"/>
            </a:xfrm>
            <a:prstGeom prst="rect">
              <a:avLst/>
            </a:prstGeom>
          </p:spPr>
          <p:txBody>
            <a:bodyPr anchor="t" rtlCol="false" tIns="0" lIns="0" bIns="0" rIns="0">
              <a:spAutoFit/>
            </a:bodyPr>
            <a:lstStyle/>
            <a:p>
              <a:pPr algn="l" marL="0" indent="0" lvl="0">
                <a:lnSpc>
                  <a:spcPts val="4199"/>
                </a:lnSpc>
                <a:spcBef>
                  <a:spcPct val="0"/>
                </a:spcBef>
              </a:pPr>
              <a:r>
                <a:rPr lang="en-US" sz="3499" strike="noStrike" u="none">
                  <a:solidFill>
                    <a:srgbClr val="F3F1EF"/>
                  </a:solidFill>
                  <a:latin typeface="Radley"/>
                  <a:ea typeface="Radley"/>
                  <a:cs typeface="Radley"/>
                  <a:sym typeface="Radley"/>
                </a:rPr>
                <a:t>Not a story to read — an account to argue with.</a:t>
              </a:r>
            </a:p>
          </p:txBody>
        </p:sp>
        <p:sp>
          <p:nvSpPr>
            <p:cNvPr name="AutoShape 7" id="7"/>
            <p:cNvSpPr/>
            <p:nvPr/>
          </p:nvSpPr>
          <p:spPr>
            <a:xfrm>
              <a:off x="0" y="3222414"/>
              <a:ext cx="9614826" cy="0"/>
            </a:xfrm>
            <a:prstGeom prst="line">
              <a:avLst/>
            </a:prstGeom>
            <a:ln cap="flat" w="25400">
              <a:solidFill>
                <a:srgbClr val="F3F1EF"/>
              </a:solidFill>
              <a:prstDash val="solid"/>
              <a:headEnd type="none" len="sm" w="sm"/>
              <a:tailEnd type="none" len="sm" w="sm"/>
            </a:ln>
          </p:spPr>
        </p:sp>
        <p:sp>
          <p:nvSpPr>
            <p:cNvPr name="TextBox 8" id="8"/>
            <p:cNvSpPr txBox="true"/>
            <p:nvPr/>
          </p:nvSpPr>
          <p:spPr>
            <a:xfrm rot="0">
              <a:off x="26326" y="5740400"/>
              <a:ext cx="9588500" cy="2476500"/>
            </a:xfrm>
            <a:prstGeom prst="rect">
              <a:avLst/>
            </a:prstGeom>
          </p:spPr>
          <p:txBody>
            <a:bodyPr anchor="t" rtlCol="false" tIns="0" lIns="0" bIns="0" rIns="0">
              <a:spAutoFit/>
            </a:bodyPr>
            <a:lstStyle/>
            <a:p>
              <a:pPr algn="l" marL="0" indent="0" lvl="0">
                <a:lnSpc>
                  <a:spcPts val="2400"/>
                </a:lnSpc>
                <a:spcBef>
                  <a:spcPct val="0"/>
                </a:spcBef>
              </a:pPr>
              <a:r>
                <a:rPr lang="en-US" sz="2000" strike="noStrike" u="none">
                  <a:solidFill>
                    <a:srgbClr val="F3F1EF"/>
                  </a:solidFill>
                  <a:latin typeface="Carlito"/>
                  <a:ea typeface="Carlito"/>
                  <a:cs typeface="Carlito"/>
                  <a:sym typeface="Carlito"/>
                </a:rPr>
                <a:t>Arc Memory reconstructs three months of inner life. Each section is independently disputable. She marks January wrong: "It wasn't avoidance. I genuinely didn't see the connection gap. That's different." That correction reshapes the next reconstruction. The system learns — not from the data, but from the argument about what the data means.</a:t>
              </a:r>
            </a:p>
          </p:txBody>
        </p:sp>
      </p:grpSp>
      <p:grpSp>
        <p:nvGrpSpPr>
          <p:cNvPr name="Group 9" id="9"/>
          <p:cNvGrpSpPr/>
          <p:nvPr/>
        </p:nvGrpSpPr>
        <p:grpSpPr>
          <a:xfrm rot="0">
            <a:off x="666750" y="9184102"/>
            <a:ext cx="2171730" cy="2205796"/>
            <a:chOff x="0" y="0"/>
            <a:chExt cx="812800" cy="825500"/>
          </a:xfrm>
        </p:grpSpPr>
        <p:sp>
          <p:nvSpPr>
            <p:cNvPr name="Freeform 10" id="10"/>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1" id="11"/>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10429875" y="0"/>
            <a:ext cx="7858125" cy="10287000"/>
            <a:chOff x="0" y="0"/>
            <a:chExt cx="1217429" cy="1593725"/>
          </a:xfrm>
        </p:grpSpPr>
        <p:sp>
          <p:nvSpPr>
            <p:cNvPr name="Freeform 3" id="3"/>
            <p:cNvSpPr/>
            <p:nvPr/>
          </p:nvSpPr>
          <p:spPr>
            <a:xfrm flipH="false" flipV="false" rot="0">
              <a:off x="0" y="0"/>
              <a:ext cx="1217429" cy="1593725"/>
            </a:xfrm>
            <a:custGeom>
              <a:avLst/>
              <a:gdLst/>
              <a:ahLst/>
              <a:cxnLst/>
              <a:rect r="r" b="b" t="t" l="l"/>
              <a:pathLst>
                <a:path h="1593725" w="1217429">
                  <a:moveTo>
                    <a:pt x="0" y="0"/>
                  </a:moveTo>
                  <a:lnTo>
                    <a:pt x="1217429" y="0"/>
                  </a:lnTo>
                  <a:lnTo>
                    <a:pt x="1217429" y="1593725"/>
                  </a:lnTo>
                  <a:lnTo>
                    <a:pt x="0" y="1593725"/>
                  </a:lnTo>
                  <a:close/>
                </a:path>
              </a:pathLst>
            </a:custGeom>
            <a:blipFill>
              <a:blip r:embed="rId2"/>
              <a:stretch>
                <a:fillRect l="0" t="-421" r="0" b="-421"/>
              </a:stretch>
            </a:blipFill>
          </p:spPr>
        </p:sp>
      </p:grpSp>
      <p:grpSp>
        <p:nvGrpSpPr>
          <p:cNvPr name="Group 4" id="4"/>
          <p:cNvGrpSpPr/>
          <p:nvPr/>
        </p:nvGrpSpPr>
        <p:grpSpPr>
          <a:xfrm rot="0">
            <a:off x="666750" y="666755"/>
            <a:ext cx="7230865" cy="6991350"/>
            <a:chOff x="0" y="0"/>
            <a:chExt cx="9641153" cy="9321800"/>
          </a:xfrm>
        </p:grpSpPr>
        <p:sp>
          <p:nvSpPr>
            <p:cNvPr name="TextBox 5" id="5"/>
            <p:cNvSpPr txBox="true"/>
            <p:nvPr/>
          </p:nvSpPr>
          <p:spPr>
            <a:xfrm rot="0">
              <a:off x="26326" y="57150"/>
              <a:ext cx="9614826" cy="2679279"/>
            </a:xfrm>
            <a:prstGeom prst="rect">
              <a:avLst/>
            </a:prstGeom>
          </p:spPr>
          <p:txBody>
            <a:bodyPr anchor="t" rtlCol="false" tIns="0" lIns="0" bIns="0" rIns="0">
              <a:spAutoFit/>
            </a:bodyPr>
            <a:lstStyle/>
            <a:p>
              <a:pPr algn="l" marL="0" indent="0" lvl="0">
                <a:lnSpc>
                  <a:spcPts val="7840"/>
                </a:lnSpc>
                <a:spcBef>
                  <a:spcPct val="0"/>
                </a:spcBef>
              </a:pPr>
              <a:r>
                <a:rPr lang="en-US" sz="7000" i="true">
                  <a:solidFill>
                    <a:srgbClr val="F3F1EF"/>
                  </a:solidFill>
                  <a:latin typeface="Radley Italics"/>
                  <a:ea typeface="Radley Italics"/>
                  <a:cs typeface="Radley Italics"/>
                  <a:sym typeface="Radley Italics"/>
                </a:rPr>
                <a:t>Channels and Handlers</a:t>
              </a:r>
            </a:p>
          </p:txBody>
        </p:sp>
        <p:sp>
          <p:nvSpPr>
            <p:cNvPr name="TextBox 6" id="6"/>
            <p:cNvSpPr txBox="true"/>
            <p:nvPr/>
          </p:nvSpPr>
          <p:spPr>
            <a:xfrm rot="0">
              <a:off x="26326" y="3708400"/>
              <a:ext cx="9614826" cy="2095500"/>
            </a:xfrm>
            <a:prstGeom prst="rect">
              <a:avLst/>
            </a:prstGeom>
          </p:spPr>
          <p:txBody>
            <a:bodyPr anchor="t" rtlCol="false" tIns="0" lIns="0" bIns="0" rIns="0">
              <a:spAutoFit/>
            </a:bodyPr>
            <a:lstStyle/>
            <a:p>
              <a:pPr algn="l" marL="0" indent="0" lvl="0">
                <a:lnSpc>
                  <a:spcPts val="4199"/>
                </a:lnSpc>
                <a:spcBef>
                  <a:spcPct val="0"/>
                </a:spcBef>
              </a:pPr>
              <a:r>
                <a:rPr lang="en-US" sz="3499" strike="noStrike" u="none">
                  <a:solidFill>
                    <a:srgbClr val="F3F1EF"/>
                  </a:solidFill>
                  <a:latin typeface="Radley"/>
                  <a:ea typeface="Radley"/>
                  <a:cs typeface="Radley"/>
                  <a:sym typeface="Radley"/>
                </a:rPr>
                <a:t>16th handler on a 15-handler EventBus. Fire-and-forget. Zero latency impact.</a:t>
              </a:r>
            </a:p>
          </p:txBody>
        </p:sp>
        <p:sp>
          <p:nvSpPr>
            <p:cNvPr name="AutoShape 7" id="7"/>
            <p:cNvSpPr/>
            <p:nvPr/>
          </p:nvSpPr>
          <p:spPr>
            <a:xfrm>
              <a:off x="0" y="3222414"/>
              <a:ext cx="9614826" cy="0"/>
            </a:xfrm>
            <a:prstGeom prst="line">
              <a:avLst/>
            </a:prstGeom>
            <a:ln cap="flat" w="25400">
              <a:solidFill>
                <a:srgbClr val="F3F1EF"/>
              </a:solidFill>
              <a:prstDash val="solid"/>
              <a:headEnd type="none" len="sm" w="sm"/>
              <a:tailEnd type="none" len="sm" w="sm"/>
            </a:ln>
          </p:spPr>
        </p:sp>
        <p:sp>
          <p:nvSpPr>
            <p:cNvPr name="TextBox 8" id="8"/>
            <p:cNvSpPr txBox="true"/>
            <p:nvPr/>
          </p:nvSpPr>
          <p:spPr>
            <a:xfrm rot="0">
              <a:off x="26326" y="6438900"/>
              <a:ext cx="9588500" cy="2882900"/>
            </a:xfrm>
            <a:prstGeom prst="rect">
              <a:avLst/>
            </a:prstGeom>
          </p:spPr>
          <p:txBody>
            <a:bodyPr anchor="t" rtlCol="false" tIns="0" lIns="0" bIns="0" rIns="0">
              <a:spAutoFit/>
            </a:bodyPr>
            <a:lstStyle/>
            <a:p>
              <a:pPr algn="l" marL="0" indent="0" lvl="0">
                <a:lnSpc>
                  <a:spcPts val="2400"/>
                </a:lnSpc>
                <a:spcBef>
                  <a:spcPct val="0"/>
                </a:spcBef>
              </a:pPr>
              <a:r>
                <a:rPr lang="en-US" sz="2000" strike="noStrike" u="none">
                  <a:solidFill>
                    <a:srgbClr val="F3F1EF"/>
                  </a:solidFill>
                  <a:latin typeface="Carlito"/>
                  <a:ea typeface="Carlito"/>
                  <a:cs typeface="Carlito"/>
                  <a:sym typeface="Carlito"/>
                </a:rPr>
                <a:t>66 source files. 125 database migrations. 6 API routes. A production app — not a prototype. Three data channels flow into EverMemOS: coherence checks, council deliberations, threshold moments. Episodic trace → semantic consolidation → reconstructive recollection. The central calibration problem: when to confront and when to shut up. A system that confronts too often is annoying. A system that never confronts is a dashboard.</a:t>
              </a:r>
            </a:p>
          </p:txBody>
        </p:sp>
      </p:grpSp>
      <p:grpSp>
        <p:nvGrpSpPr>
          <p:cNvPr name="Group 9" id="9"/>
          <p:cNvGrpSpPr/>
          <p:nvPr/>
        </p:nvGrpSpPr>
        <p:grpSpPr>
          <a:xfrm rot="0">
            <a:off x="666750" y="9184102"/>
            <a:ext cx="2171730" cy="2205796"/>
            <a:chOff x="0" y="0"/>
            <a:chExt cx="812800" cy="825500"/>
          </a:xfrm>
        </p:grpSpPr>
        <p:sp>
          <p:nvSpPr>
            <p:cNvPr name="Freeform 10" id="10"/>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11" id="11"/>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666750" y="1562100"/>
            <a:ext cx="10067925" cy="7162800"/>
            <a:chOff x="0" y="0"/>
            <a:chExt cx="3288285" cy="2339442"/>
          </a:xfrm>
        </p:grpSpPr>
        <p:sp>
          <p:nvSpPr>
            <p:cNvPr name="Freeform 3" id="3"/>
            <p:cNvSpPr/>
            <p:nvPr/>
          </p:nvSpPr>
          <p:spPr>
            <a:xfrm flipH="false" flipV="false" rot="0">
              <a:off x="0" y="0"/>
              <a:ext cx="3288285" cy="2339442"/>
            </a:xfrm>
            <a:custGeom>
              <a:avLst/>
              <a:gdLst/>
              <a:ahLst/>
              <a:cxnLst/>
              <a:rect r="r" b="b" t="t" l="l"/>
              <a:pathLst>
                <a:path h="2339442" w="3288285">
                  <a:moveTo>
                    <a:pt x="0" y="0"/>
                  </a:moveTo>
                  <a:lnTo>
                    <a:pt x="3288285" y="0"/>
                  </a:lnTo>
                  <a:lnTo>
                    <a:pt x="3288285" y="2339442"/>
                  </a:lnTo>
                  <a:lnTo>
                    <a:pt x="0" y="2339442"/>
                  </a:lnTo>
                  <a:close/>
                </a:path>
              </a:pathLst>
            </a:custGeom>
            <a:blipFill>
              <a:blip r:embed="rId2"/>
              <a:stretch>
                <a:fillRect l="-278" t="0" r="-278" b="0"/>
              </a:stretch>
            </a:blipFill>
          </p:spPr>
        </p:sp>
      </p:grpSp>
      <p:grpSp>
        <p:nvGrpSpPr>
          <p:cNvPr name="Group 4" id="4"/>
          <p:cNvGrpSpPr/>
          <p:nvPr/>
        </p:nvGrpSpPr>
        <p:grpSpPr>
          <a:xfrm rot="0">
            <a:off x="11605351" y="1993914"/>
            <a:ext cx="4882404" cy="2675876"/>
            <a:chOff x="0" y="0"/>
            <a:chExt cx="6509872" cy="3567834"/>
          </a:xfrm>
        </p:grpSpPr>
        <p:sp>
          <p:nvSpPr>
            <p:cNvPr name="TextBox 5" id="5"/>
            <p:cNvSpPr txBox="true"/>
            <p:nvPr/>
          </p:nvSpPr>
          <p:spPr>
            <a:xfrm rot="0">
              <a:off x="0" y="962616"/>
              <a:ext cx="4438540" cy="1220257"/>
            </a:xfrm>
            <a:prstGeom prst="rect">
              <a:avLst/>
            </a:prstGeom>
          </p:spPr>
          <p:txBody>
            <a:bodyPr anchor="t" rtlCol="false" tIns="0" lIns="0" bIns="0" rIns="0">
              <a:spAutoFit/>
            </a:bodyPr>
            <a:lstStyle/>
            <a:p>
              <a:pPr algn="l" marL="0" indent="0" lvl="0">
                <a:lnSpc>
                  <a:spcPts val="3499"/>
                </a:lnSpc>
              </a:pPr>
              <a:r>
                <a:rPr lang="en-US" sz="3499">
                  <a:solidFill>
                    <a:srgbClr val="F3F1EF"/>
                  </a:solidFill>
                  <a:latin typeface="Radley"/>
                  <a:ea typeface="Radley"/>
                  <a:cs typeface="Radley"/>
                  <a:sym typeface="Radley"/>
                </a:rPr>
                <a:t>IS THE PRODUCT</a:t>
              </a:r>
            </a:p>
          </p:txBody>
        </p:sp>
        <p:sp>
          <p:nvSpPr>
            <p:cNvPr name="AutoShape 6" id="6"/>
            <p:cNvSpPr/>
            <p:nvPr/>
          </p:nvSpPr>
          <p:spPr>
            <a:xfrm flipV="true">
              <a:off x="31" y="630765"/>
              <a:ext cx="5753052" cy="13901"/>
            </a:xfrm>
            <a:prstGeom prst="line">
              <a:avLst/>
            </a:prstGeom>
            <a:ln cap="flat" w="25400">
              <a:solidFill>
                <a:srgbClr val="F3F1EF"/>
              </a:solidFill>
              <a:prstDash val="solid"/>
              <a:headEnd type="none" len="sm" w="sm"/>
              <a:tailEnd type="none" len="sm" w="sm"/>
            </a:ln>
          </p:spPr>
        </p:sp>
        <p:sp>
          <p:nvSpPr>
            <p:cNvPr name="TextBox 7" id="7"/>
            <p:cNvSpPr txBox="true"/>
            <p:nvPr/>
          </p:nvSpPr>
          <p:spPr>
            <a:xfrm rot="0">
              <a:off x="7" y="-76200"/>
              <a:ext cx="5753073" cy="478365"/>
            </a:xfrm>
            <a:prstGeom prst="rect">
              <a:avLst/>
            </a:prstGeom>
          </p:spPr>
          <p:txBody>
            <a:bodyPr anchor="t" rtlCol="false" tIns="0" lIns="0" bIns="0" rIns="0">
              <a:spAutoFit/>
            </a:bodyPr>
            <a:lstStyle/>
            <a:p>
              <a:pPr algn="l" marL="0" indent="0" lvl="0">
                <a:lnSpc>
                  <a:spcPts val="2800"/>
                </a:lnSpc>
                <a:spcBef>
                  <a:spcPct val="0"/>
                </a:spcBef>
              </a:pPr>
              <a:r>
                <a:rPr lang="en-US" b="true" sz="2000" spc="266">
                  <a:solidFill>
                    <a:srgbClr val="F3F1EF"/>
                  </a:solidFill>
                  <a:latin typeface="Carlito Bold"/>
                  <a:ea typeface="Carlito Bold"/>
                  <a:cs typeface="Carlito Bold"/>
                  <a:sym typeface="Carlito Bold"/>
                </a:rPr>
                <a:t>THE CORRECTION LOOP</a:t>
              </a:r>
            </a:p>
          </p:txBody>
        </p:sp>
        <p:sp>
          <p:nvSpPr>
            <p:cNvPr name="AutoShape 8" id="8"/>
            <p:cNvSpPr/>
            <p:nvPr/>
          </p:nvSpPr>
          <p:spPr>
            <a:xfrm flipV="true">
              <a:off x="31" y="2434148"/>
              <a:ext cx="5753052" cy="13901"/>
            </a:xfrm>
            <a:prstGeom prst="line">
              <a:avLst/>
            </a:prstGeom>
            <a:ln cap="flat" w="25400">
              <a:solidFill>
                <a:srgbClr val="F3F1EF"/>
              </a:solidFill>
              <a:prstDash val="solid"/>
              <a:headEnd type="none" len="sm" w="sm"/>
              <a:tailEnd type="none" len="sm" w="sm"/>
            </a:ln>
          </p:spPr>
        </p:sp>
        <p:sp>
          <p:nvSpPr>
            <p:cNvPr name="TextBox 9" id="9"/>
            <p:cNvSpPr txBox="true"/>
            <p:nvPr/>
          </p:nvSpPr>
          <p:spPr>
            <a:xfrm rot="0">
              <a:off x="0" y="2619568"/>
              <a:ext cx="6509872" cy="948267"/>
            </a:xfrm>
            <a:prstGeom prst="rect">
              <a:avLst/>
            </a:prstGeom>
          </p:spPr>
          <p:txBody>
            <a:bodyPr anchor="t" rtlCol="false" tIns="0" lIns="0" bIns="0" rIns="0">
              <a:spAutoFit/>
            </a:bodyPr>
            <a:lstStyle/>
            <a:p>
              <a:pPr algn="l" marL="0" indent="0" lvl="0">
                <a:lnSpc>
                  <a:spcPts val="2800"/>
                </a:lnSpc>
                <a:spcBef>
                  <a:spcPct val="0"/>
                </a:spcBef>
              </a:pPr>
              <a:r>
                <a:rPr lang="en-US" sz="2000" strike="noStrike" u="none">
                  <a:solidFill>
                    <a:srgbClr val="F3F1EF"/>
                  </a:solidFill>
                  <a:latin typeface="Carlito"/>
                  <a:ea typeface="Carlito"/>
                  <a:cs typeface="Carlito"/>
                  <a:sym typeface="Carlito"/>
                </a:rPr>
                <a:t>Every disagreement is data. Every argument is self-knowledge.</a:t>
              </a:r>
            </a:p>
          </p:txBody>
        </p:sp>
      </p:grpSp>
    </p:spTree>
  </p:cSld>
  <p:clrMapOvr>
    <a:masterClrMapping/>
  </p:clrMapOvr>
</p:sld>
</file>

<file path=ppt/slides/slide10.xml><?xml version="1.0" encoding="utf-8"?>
<p:sld xmlns:p="http://schemas.openxmlformats.org/presentationml/2006/main" xmlns:a="http://schemas.openxmlformats.org/drawingml/2006/main">
  <p:cSld>
    <p:bg>
      <p:bgPr>
        <a:solidFill>
          <a:srgbClr val="0C0B10"/>
        </a:solidFill>
      </p:bgPr>
    </p:bg>
    <p:spTree>
      <p:nvGrpSpPr>
        <p:cNvPr id="1" name=""/>
        <p:cNvGrpSpPr/>
        <p:nvPr/>
      </p:nvGrpSpPr>
      <p:grpSpPr>
        <a:xfrm>
          <a:off x="0" y="0"/>
          <a:ext cx="0" cy="0"/>
          <a:chOff x="0" y="0"/>
          <a:chExt cx="0" cy="0"/>
        </a:xfrm>
      </p:grpSpPr>
      <p:grpSp>
        <p:nvGrpSpPr>
          <p:cNvPr name="Group 2" id="2"/>
          <p:cNvGrpSpPr/>
          <p:nvPr/>
        </p:nvGrpSpPr>
        <p:grpSpPr>
          <a:xfrm rot="0">
            <a:off x="666750" y="661581"/>
            <a:ext cx="12944475" cy="2681605"/>
            <a:chOff x="0" y="0"/>
            <a:chExt cx="17259300" cy="3575474"/>
          </a:xfrm>
        </p:grpSpPr>
        <p:sp>
          <p:nvSpPr>
            <p:cNvPr name="TextBox 3" id="3"/>
            <p:cNvSpPr txBox="true"/>
            <p:nvPr/>
          </p:nvSpPr>
          <p:spPr>
            <a:xfrm rot="0">
              <a:off x="0" y="142875"/>
              <a:ext cx="17259300" cy="2456392"/>
            </a:xfrm>
            <a:prstGeom prst="rect">
              <a:avLst/>
            </a:prstGeom>
          </p:spPr>
          <p:txBody>
            <a:bodyPr anchor="t" rtlCol="false" tIns="0" lIns="0" bIns="0" rIns="0">
              <a:spAutoFit/>
            </a:bodyPr>
            <a:lstStyle/>
            <a:p>
              <a:pPr algn="l" marL="0" indent="0" lvl="0">
                <a:lnSpc>
                  <a:spcPts val="6999"/>
                </a:lnSpc>
              </a:pPr>
              <a:r>
                <a:rPr lang="en-US" sz="6999">
                  <a:solidFill>
                    <a:srgbClr val="F3F1EF"/>
                  </a:solidFill>
                  <a:latin typeface="Radley"/>
                  <a:ea typeface="Radley"/>
                  <a:cs typeface="Radley"/>
                  <a:sym typeface="Radley"/>
                </a:rPr>
                <a:t>Memory for who you're becoming.</a:t>
              </a:r>
            </a:p>
          </p:txBody>
        </p:sp>
        <p:sp>
          <p:nvSpPr>
            <p:cNvPr name="TextBox 4" id="4"/>
            <p:cNvSpPr txBox="true"/>
            <p:nvPr/>
          </p:nvSpPr>
          <p:spPr>
            <a:xfrm rot="0">
              <a:off x="0" y="2952750"/>
              <a:ext cx="17259300" cy="622724"/>
            </a:xfrm>
            <a:prstGeom prst="rect">
              <a:avLst/>
            </a:prstGeom>
          </p:spPr>
          <p:txBody>
            <a:bodyPr anchor="t" rtlCol="false" tIns="0" lIns="0" bIns="0" rIns="0">
              <a:spAutoFit/>
            </a:bodyPr>
            <a:lstStyle/>
            <a:p>
              <a:pPr algn="l" marL="0" indent="0" lvl="0">
                <a:lnSpc>
                  <a:spcPts val="3919"/>
                </a:lnSpc>
                <a:spcBef>
                  <a:spcPct val="0"/>
                </a:spcBef>
              </a:pPr>
              <a:r>
                <a:rPr lang="en-US" sz="2799" strike="noStrike" u="none">
                  <a:solidFill>
                    <a:srgbClr val="F3F1EF"/>
                  </a:solidFill>
                  <a:latin typeface="Radley"/>
                  <a:ea typeface="Radley"/>
                  <a:cs typeface="Radley"/>
                  <a:sym typeface="Radley"/>
                </a:rPr>
                <a:t>Built with EverMemOS. Deployed at theliminalspace.io</a:t>
              </a:r>
            </a:p>
          </p:txBody>
        </p:sp>
      </p:grpSp>
      <p:grpSp>
        <p:nvGrpSpPr>
          <p:cNvPr name="Group 5" id="5"/>
          <p:cNvGrpSpPr/>
          <p:nvPr/>
        </p:nvGrpSpPr>
        <p:grpSpPr>
          <a:xfrm rot="0">
            <a:off x="17202135" y="459202"/>
            <a:ext cx="2171730" cy="2205796"/>
            <a:chOff x="0" y="0"/>
            <a:chExt cx="812800" cy="825500"/>
          </a:xfrm>
        </p:grpSpPr>
        <p:sp>
          <p:nvSpPr>
            <p:cNvPr name="Freeform 6" id="6"/>
            <p:cNvSpPr/>
            <p:nvPr/>
          </p:nvSpPr>
          <p:spPr>
            <a:xfrm flipH="false" flipV="false" rot="0">
              <a:off x="1270" y="0"/>
              <a:ext cx="810260" cy="822960"/>
            </a:xfrm>
            <a:custGeom>
              <a:avLst/>
              <a:gdLst/>
              <a:ahLst/>
              <a:cxnLst/>
              <a:rect r="r" b="b" t="t" l="l"/>
              <a:pathLst>
                <a:path h="822960" w="810260">
                  <a:moveTo>
                    <a:pt x="405130" y="0"/>
                  </a:moveTo>
                  <a:lnTo>
                    <a:pt x="450850" y="151130"/>
                  </a:lnTo>
                  <a:lnTo>
                    <a:pt x="546100" y="25400"/>
                  </a:lnTo>
                  <a:lnTo>
                    <a:pt x="537210" y="181610"/>
                  </a:lnTo>
                  <a:lnTo>
                    <a:pt x="669290" y="96520"/>
                  </a:lnTo>
                  <a:lnTo>
                    <a:pt x="608330" y="241300"/>
                  </a:lnTo>
                  <a:lnTo>
                    <a:pt x="760730" y="205740"/>
                  </a:lnTo>
                  <a:lnTo>
                    <a:pt x="654050" y="321310"/>
                  </a:lnTo>
                  <a:lnTo>
                    <a:pt x="810260" y="340360"/>
                  </a:lnTo>
                  <a:lnTo>
                    <a:pt x="669290" y="411480"/>
                  </a:lnTo>
                  <a:lnTo>
                    <a:pt x="810260" y="482600"/>
                  </a:lnTo>
                  <a:lnTo>
                    <a:pt x="654050" y="501650"/>
                  </a:lnTo>
                  <a:lnTo>
                    <a:pt x="760730" y="617220"/>
                  </a:lnTo>
                  <a:lnTo>
                    <a:pt x="608330" y="581660"/>
                  </a:lnTo>
                  <a:lnTo>
                    <a:pt x="669290" y="726440"/>
                  </a:lnTo>
                  <a:lnTo>
                    <a:pt x="537210" y="640080"/>
                  </a:lnTo>
                  <a:lnTo>
                    <a:pt x="546100" y="797560"/>
                  </a:lnTo>
                  <a:lnTo>
                    <a:pt x="450850" y="671830"/>
                  </a:lnTo>
                  <a:lnTo>
                    <a:pt x="405130" y="822960"/>
                  </a:lnTo>
                  <a:lnTo>
                    <a:pt x="359410" y="671830"/>
                  </a:lnTo>
                  <a:lnTo>
                    <a:pt x="264160" y="797560"/>
                  </a:lnTo>
                  <a:lnTo>
                    <a:pt x="273050" y="640080"/>
                  </a:lnTo>
                  <a:lnTo>
                    <a:pt x="140970" y="726440"/>
                  </a:lnTo>
                  <a:lnTo>
                    <a:pt x="201930" y="581660"/>
                  </a:lnTo>
                  <a:lnTo>
                    <a:pt x="49530" y="617220"/>
                  </a:lnTo>
                  <a:lnTo>
                    <a:pt x="156210" y="501650"/>
                  </a:lnTo>
                  <a:lnTo>
                    <a:pt x="0" y="482600"/>
                  </a:lnTo>
                  <a:lnTo>
                    <a:pt x="140970" y="411480"/>
                  </a:lnTo>
                  <a:lnTo>
                    <a:pt x="0" y="340360"/>
                  </a:lnTo>
                  <a:lnTo>
                    <a:pt x="156210" y="321310"/>
                  </a:lnTo>
                  <a:lnTo>
                    <a:pt x="49530" y="205740"/>
                  </a:lnTo>
                  <a:lnTo>
                    <a:pt x="201930" y="241300"/>
                  </a:lnTo>
                  <a:lnTo>
                    <a:pt x="140970" y="96520"/>
                  </a:lnTo>
                  <a:lnTo>
                    <a:pt x="273050" y="181610"/>
                  </a:lnTo>
                  <a:lnTo>
                    <a:pt x="264160" y="25400"/>
                  </a:lnTo>
                  <a:lnTo>
                    <a:pt x="359410" y="151130"/>
                  </a:lnTo>
                  <a:close/>
                </a:path>
              </a:pathLst>
            </a:custGeom>
            <a:solidFill>
              <a:srgbClr val="F3F1EF"/>
            </a:solidFill>
          </p:spPr>
        </p:sp>
        <p:sp>
          <p:nvSpPr>
            <p:cNvPr name="TextBox 7" id="7"/>
            <p:cNvSpPr txBox="true"/>
            <p:nvPr/>
          </p:nvSpPr>
          <p:spPr>
            <a:xfrm>
              <a:off x="141746" y="112576"/>
              <a:ext cx="529308" cy="559367"/>
            </a:xfrm>
            <a:prstGeom prst="rect">
              <a:avLst/>
            </a:prstGeom>
          </p:spPr>
          <p:txBody>
            <a:bodyPr anchor="ctr" rtlCol="false" tIns="50800" lIns="50800" bIns="50800" rIns="50800"/>
            <a:lstStyle/>
            <a:p>
              <a:pPr algn="ctr" marL="0" indent="0" lvl="0">
                <a:lnSpc>
                  <a:spcPts val="3359"/>
                </a:lnSpc>
                <a:spcBef>
                  <a:spcPct val="0"/>
                </a:spcBef>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Presentation - LIMINAL SPACE × EVERMEMOS</dc:description>
  <dc:identifier>DAHFvli5Igc</dc:identifier>
  <dcterms:modified xsi:type="dcterms:W3CDTF">2011-08-01T06:04:30Z</dcterms:modified>
  <cp:revision>1</cp:revision>
  <dc:title>Presentation - LIMINAL SPACE × EVERMEMOS</dc:title>
</cp:coreProperties>
</file>