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y="5143500" cx="9144000"/>
  <p:notesSz cx="5143500" cy="9144000"/>
  <p:embeddedFontLst>
    <p:embeddedFont>
      <p:font typeface="Neuton"/>
      <p:regular r:id="rId18"/>
      <p:bold r:id="rId19"/>
      <p:italic r:id="rId20"/>
    </p:embeddedFont>
    <p:embeddedFont>
      <p:font typeface="Open Sans"/>
      <p:regular r:id="rId21"/>
      <p:bold r:id="rId22"/>
      <p:italic r:id="rId23"/>
      <p:boldItalic r:id="rId24"/>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5" roundtripDataSignature="AMtx7mieXDL1erOY+9mdRpisdytoS+oy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font" Target="fonts/Neuton-regular.fntdata"/><Relationship Id="rId19" Type="http://schemas.openxmlformats.org/officeDocument/2006/relationships/font" Target="fonts/Neuton-bold.fntdata"/><Relationship Id="rId20" Type="http://schemas.openxmlformats.org/officeDocument/2006/relationships/font" Target="fonts/Neuton-italic.fntdata"/><Relationship Id="rId21" Type="http://schemas.openxmlformats.org/officeDocument/2006/relationships/font" Target="fonts/OpenSans-regular.fntdata"/><Relationship Id="rId22" Type="http://schemas.openxmlformats.org/officeDocument/2006/relationships/font" Target="fonts/OpenSans-bold.fntdata"/><Relationship Id="rId23" Type="http://schemas.openxmlformats.org/officeDocument/2006/relationships/font" Target="fonts/OpenSans-italic.fntdata"/><Relationship Id="rId24" Type="http://schemas.openxmlformats.org/officeDocument/2006/relationships/font" Target="fonts/OpenSans-boldItalic.fntdata"/><Relationship Id="rId25"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 name="Shape 11"/>
        <p:cNvGrpSpPr/>
        <p:nvPr/>
      </p:nvGrpSpPr>
      <p:grpSpPr>
        <a:xfrm>
          <a:off x="0" y="0"/>
          <a:ext cx="0" cy="0"/>
          <a:chOff x="0" y="0"/>
          <a:chExt cx="0" cy="0"/>
        </a:xfrm>
      </p:grpSpPr>
      <p:sp>
        <p:nvSpPr>
          <p:cNvPr id="12" name="Google Shape;12;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 name="Google Shape;13;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 name="Google Shape;14;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 name="Shape 24"/>
        <p:cNvGrpSpPr/>
        <p:nvPr/>
      </p:nvGrpSpPr>
      <p:grpSpPr>
        <a:xfrm>
          <a:off x="0" y="0"/>
          <a:ext cx="0" cy="0"/>
          <a:chOff x="0" y="0"/>
          <a:chExt cx="0" cy="0"/>
        </a:xfrm>
      </p:grpSpPr>
      <p:sp>
        <p:nvSpPr>
          <p:cNvPr id="25" name="Google Shape;2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6" name="Google Shape;2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 name="Google Shape;2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 name="Shape 39"/>
        <p:cNvGrpSpPr/>
        <p:nvPr/>
      </p:nvGrpSpPr>
      <p:grpSpPr>
        <a:xfrm>
          <a:off x="0" y="0"/>
          <a:ext cx="0" cy="0"/>
          <a:chOff x="0" y="0"/>
          <a:chExt cx="0" cy="0"/>
        </a:xfrm>
      </p:grpSpPr>
      <p:sp>
        <p:nvSpPr>
          <p:cNvPr id="40" name="Google Shape;40;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1" name="Google Shape;41;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42" name="Google Shape;42;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 name="Shape 60"/>
        <p:cNvGrpSpPr/>
        <p:nvPr/>
      </p:nvGrpSpPr>
      <p:grpSpPr>
        <a:xfrm>
          <a:off x="0" y="0"/>
          <a:ext cx="0" cy="0"/>
          <a:chOff x="0" y="0"/>
          <a:chExt cx="0" cy="0"/>
        </a:xfrm>
      </p:grpSpPr>
      <p:sp>
        <p:nvSpPr>
          <p:cNvPr id="61" name="Google Shape;6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 name="Google Shape;62;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63" name="Google Shape;63;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4" name="Google Shape;94;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5" name="Google Shape;95;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 name="Shape 125"/>
        <p:cNvGrpSpPr/>
        <p:nvPr/>
      </p:nvGrpSpPr>
      <p:grpSpPr>
        <a:xfrm>
          <a:off x="0" y="0"/>
          <a:ext cx="0" cy="0"/>
          <a:chOff x="0" y="0"/>
          <a:chExt cx="0" cy="0"/>
        </a:xfrm>
      </p:grpSpPr>
      <p:sp>
        <p:nvSpPr>
          <p:cNvPr id="126" name="Google Shape;12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7" name="Google Shape;12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8" name="Google Shape;12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1" name="Google Shape;151;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2" name="Google Shape;152;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0" name="Google Shape;190;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 name="Google Shape;215;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6" name="Google Shape;216;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4" name="Shape 234"/>
        <p:cNvGrpSpPr/>
        <p:nvPr/>
      </p:nvGrpSpPr>
      <p:grpSpPr>
        <a:xfrm>
          <a:off x="0" y="0"/>
          <a:ext cx="0" cy="0"/>
          <a:chOff x="0" y="0"/>
          <a:chExt cx="0" cy="0"/>
        </a:xfrm>
      </p:grpSpPr>
      <p:sp>
        <p:nvSpPr>
          <p:cNvPr id="235" name="Google Shape;23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6" name="Google Shape;236;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37" name="Google Shape;237;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2" name="Shape 272"/>
        <p:cNvGrpSpPr/>
        <p:nvPr/>
      </p:nvGrpSpPr>
      <p:grpSpPr>
        <a:xfrm>
          <a:off x="0" y="0"/>
          <a:ext cx="0" cy="0"/>
          <a:chOff x="0" y="0"/>
          <a:chExt cx="0" cy="0"/>
        </a:xfrm>
      </p:grpSpPr>
      <p:sp>
        <p:nvSpPr>
          <p:cNvPr id="273" name="Google Shape;273;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4" name="Google Shape;274;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75" name="Google Shape;275;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5" name="Shape 305"/>
        <p:cNvGrpSpPr/>
        <p:nvPr/>
      </p:nvGrpSpPr>
      <p:grpSpPr>
        <a:xfrm>
          <a:off x="0" y="0"/>
          <a:ext cx="0" cy="0"/>
          <a:chOff x="0" y="0"/>
          <a:chExt cx="0" cy="0"/>
        </a:xfrm>
      </p:grpSpPr>
      <p:sp>
        <p:nvSpPr>
          <p:cNvPr id="306" name="Google Shape;306;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7" name="Google Shape;307;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08" name="Google Shape;308;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5" name="Shape 315"/>
        <p:cNvGrpSpPr/>
        <p:nvPr/>
      </p:nvGrpSpPr>
      <p:grpSpPr>
        <a:xfrm>
          <a:off x="0" y="0"/>
          <a:ext cx="0" cy="0"/>
          <a:chOff x="0" y="0"/>
          <a:chExt cx="0" cy="0"/>
        </a:xfrm>
      </p:grpSpPr>
      <p:sp>
        <p:nvSpPr>
          <p:cNvPr id="316" name="Google Shape;316;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17" name="Google Shape;317;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318" name="Google Shape;318;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 Id="rId4" Type="http://schemas.openxmlformats.org/officeDocument/2006/relationships/image" Target="../media/image17.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2.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9.png"/><Relationship Id="rId4" Type="http://schemas.openxmlformats.org/officeDocument/2006/relationships/image" Target="../media/image23.png"/><Relationship Id="rId5" Type="http://schemas.openxmlformats.org/officeDocument/2006/relationships/image" Target="../media/image18.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15" name="Shape 15"/>
        <p:cNvGrpSpPr/>
        <p:nvPr/>
      </p:nvGrpSpPr>
      <p:grpSpPr>
        <a:xfrm>
          <a:off x="0" y="0"/>
          <a:ext cx="0" cy="0"/>
          <a:chOff x="0" y="0"/>
          <a:chExt cx="0" cy="0"/>
        </a:xfrm>
      </p:grpSpPr>
      <p:sp>
        <p:nvSpPr>
          <p:cNvPr id="16" name="Google Shape;16;p1"/>
          <p:cNvSpPr/>
          <p:nvPr/>
        </p:nvSpPr>
        <p:spPr>
          <a:xfrm>
            <a:off x="7796212" y="3762375"/>
            <a:ext cx="2171700" cy="2171700"/>
          </a:xfrm>
          <a:prstGeom prst="ellipse">
            <a:avLst/>
          </a:prstGeom>
          <a:solidFill>
            <a:srgbClr val="FFC53D"/>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Calibri"/>
              <a:buNone/>
            </a:pPr>
            <a:r>
              <a:t/>
            </a:r>
            <a:endParaRPr b="0" i="0" sz="1800" u="none" cap="none" strike="noStrike">
              <a:solidFill>
                <a:schemeClr val="dk1"/>
              </a:solidFill>
              <a:latin typeface="Calibri"/>
              <a:ea typeface="Calibri"/>
              <a:cs typeface="Calibri"/>
              <a:sym typeface="Calibri"/>
            </a:endParaRPr>
          </a:p>
        </p:txBody>
      </p:sp>
      <p:sp>
        <p:nvSpPr>
          <p:cNvPr id="17" name="Google Shape;17;p1"/>
          <p:cNvSpPr/>
          <p:nvPr/>
        </p:nvSpPr>
        <p:spPr>
          <a:xfrm>
            <a:off x="-471487" y="2185988"/>
            <a:ext cx="1895475" cy="1895475"/>
          </a:xfrm>
          <a:prstGeom prst="ellipse">
            <a:avLst/>
          </a:prstGeom>
          <a:solidFill>
            <a:srgbClr val="2DABC2"/>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Calibri"/>
              <a:buNone/>
            </a:pPr>
            <a:r>
              <a:t/>
            </a:r>
            <a:endParaRPr b="0" i="0" sz="1800" u="none" cap="none" strike="noStrike">
              <a:solidFill>
                <a:schemeClr val="dk1"/>
              </a:solidFill>
              <a:latin typeface="Calibri"/>
              <a:ea typeface="Calibri"/>
              <a:cs typeface="Calibri"/>
              <a:sym typeface="Calibri"/>
            </a:endParaRPr>
          </a:p>
        </p:txBody>
      </p:sp>
      <p:sp>
        <p:nvSpPr>
          <p:cNvPr id="18" name="Google Shape;18;p1"/>
          <p:cNvSpPr/>
          <p:nvPr/>
        </p:nvSpPr>
        <p:spPr>
          <a:xfrm>
            <a:off x="476250" y="1166813"/>
            <a:ext cx="8191500" cy="2571750"/>
          </a:xfrm>
          <a:prstGeom prst="rect">
            <a:avLst/>
          </a:prstGeom>
          <a:noFill/>
          <a:ln>
            <a:noFill/>
          </a:ln>
        </p:spPr>
        <p:txBody>
          <a:bodyPr anchorCtr="0" anchor="ctr" bIns="0" lIns="0" spcFirstLastPara="1" rIns="0" wrap="square" tIns="0">
            <a:noAutofit/>
          </a:bodyPr>
          <a:lstStyle/>
          <a:p>
            <a:pPr indent="0" lvl="0" marL="0" marR="0" rtl="0" algn="ctr">
              <a:lnSpc>
                <a:spcPct val="89998"/>
              </a:lnSpc>
              <a:spcBef>
                <a:spcPts val="0"/>
              </a:spcBef>
              <a:spcAft>
                <a:spcPts val="0"/>
              </a:spcAft>
              <a:buClr>
                <a:srgbClr val="000000"/>
              </a:buClr>
              <a:buSzPts val="10688"/>
              <a:buFont typeface="Neuton"/>
              <a:buNone/>
            </a:pPr>
            <a:r>
              <a:rPr b="0" i="0" lang="en-US" sz="10688" u="none" cap="none" strike="noStrike">
                <a:solidFill>
                  <a:srgbClr val="000000"/>
                </a:solidFill>
                <a:latin typeface="Neuton"/>
                <a:ea typeface="Neuton"/>
                <a:cs typeface="Neuton"/>
                <a:sym typeface="Neuton"/>
              </a:rPr>
              <a:t>Liminal Space
x EverMemOS</a:t>
            </a:r>
            <a:endParaRPr b="0" i="0" sz="10688" u="none" cap="none" strike="noStrike">
              <a:solidFill>
                <a:schemeClr val="dk1"/>
              </a:solidFill>
              <a:latin typeface="Calibri"/>
              <a:ea typeface="Calibri"/>
              <a:cs typeface="Calibri"/>
              <a:sym typeface="Calibri"/>
            </a:endParaRPr>
          </a:p>
          <a:p>
            <a:pPr indent="0" lvl="0" marL="0" marR="0" rtl="0" algn="ctr">
              <a:lnSpc>
                <a:spcPct val="89998"/>
              </a:lnSpc>
              <a:spcBef>
                <a:spcPts val="0"/>
              </a:spcBef>
              <a:spcAft>
                <a:spcPts val="0"/>
              </a:spcAft>
              <a:buClr>
                <a:srgbClr val="000000"/>
              </a:buClr>
              <a:buSzPts val="10688"/>
              <a:buFont typeface="Neuton"/>
              <a:buNone/>
            </a:pPr>
            <a:r>
              <a:rPr b="0" i="0" lang="en-US" sz="10688" u="none" cap="none" strike="noStrike">
                <a:solidFill>
                  <a:srgbClr val="000000"/>
                </a:solidFill>
                <a:latin typeface="Neuton"/>
                <a:ea typeface="Neuton"/>
                <a:cs typeface="Neuton"/>
                <a:sym typeface="Neuton"/>
              </a:rPr>
              <a:t>Template</a:t>
            </a:r>
            <a:endParaRPr b="0" i="0" sz="10688" u="none" cap="none" strike="noStrike">
              <a:solidFill>
                <a:schemeClr val="dk1"/>
              </a:solidFill>
              <a:latin typeface="Calibri"/>
              <a:ea typeface="Calibri"/>
              <a:cs typeface="Calibri"/>
              <a:sym typeface="Calibri"/>
            </a:endParaRPr>
          </a:p>
        </p:txBody>
      </p:sp>
      <p:sp>
        <p:nvSpPr>
          <p:cNvPr id="19" name="Google Shape;19;p1"/>
          <p:cNvSpPr/>
          <p:nvPr/>
        </p:nvSpPr>
        <p:spPr>
          <a:xfrm>
            <a:off x="3990975" y="-933450"/>
            <a:ext cx="1866900" cy="1866900"/>
          </a:xfrm>
          <a:prstGeom prst="ellipse">
            <a:avLst/>
          </a:prstGeom>
          <a:solidFill>
            <a:srgbClr val="FFC53D"/>
          </a:solid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dk1"/>
              </a:buClr>
              <a:buSzPts val="1800"/>
              <a:buFont typeface="Calibri"/>
              <a:buNone/>
            </a:pPr>
            <a:r>
              <a:t/>
            </a:r>
            <a:endParaRPr b="0" i="0" sz="1800" u="none" cap="none" strike="noStrike">
              <a:solidFill>
                <a:schemeClr val="dk1"/>
              </a:solidFill>
              <a:latin typeface="Calibri"/>
              <a:ea typeface="Calibri"/>
              <a:cs typeface="Calibri"/>
              <a:sym typeface="Calibri"/>
            </a:endParaRPr>
          </a:p>
        </p:txBody>
      </p:sp>
      <p:sp>
        <p:nvSpPr>
          <p:cNvPr id="20" name="Google Shape;20;p1"/>
          <p:cNvSpPr/>
          <p:nvPr/>
        </p:nvSpPr>
        <p:spPr>
          <a:xfrm>
            <a:off x="476250" y="219075"/>
            <a:ext cx="628800"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lang="en-US" sz="713">
                <a:latin typeface="Open Sans"/>
                <a:ea typeface="Open Sans"/>
                <a:cs typeface="Open Sans"/>
                <a:sym typeface="Open Sans"/>
              </a:rPr>
              <a:t>Memory Genesis 2026</a:t>
            </a:r>
            <a:endParaRPr b="0" i="0" sz="713" u="none" cap="none" strike="noStrike">
              <a:solidFill>
                <a:schemeClr val="dk1"/>
              </a:solidFill>
              <a:latin typeface="Calibri"/>
              <a:ea typeface="Calibri"/>
              <a:cs typeface="Calibri"/>
              <a:sym typeface="Calibri"/>
            </a:endParaRPr>
          </a:p>
        </p:txBody>
      </p:sp>
      <p:sp>
        <p:nvSpPr>
          <p:cNvPr id="21" name="Google Shape;21;p1"/>
          <p:cNvSpPr/>
          <p:nvPr/>
        </p:nvSpPr>
        <p:spPr>
          <a:xfrm>
            <a:off x="476250" y="4595813"/>
            <a:ext cx="628650"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EVERMIND.AI</a:t>
            </a:r>
            <a:endParaRPr b="0" i="0" sz="713" u="none" cap="none" strike="noStrike">
              <a:solidFill>
                <a:schemeClr val="dk1"/>
              </a:solidFill>
              <a:latin typeface="Calibri"/>
              <a:ea typeface="Calibri"/>
              <a:cs typeface="Calibri"/>
              <a:sym typeface="Calibri"/>
            </a:endParaRPr>
          </a:p>
        </p:txBody>
      </p:sp>
      <p:sp>
        <p:nvSpPr>
          <p:cNvPr id="22" name="Google Shape;22;p1"/>
          <p:cNvSpPr/>
          <p:nvPr/>
        </p:nvSpPr>
        <p:spPr>
          <a:xfrm>
            <a:off x="8181975" y="219075"/>
            <a:ext cx="471488" cy="114300"/>
          </a:xfrm>
          <a:prstGeom prst="rect">
            <a:avLst/>
          </a:prstGeom>
          <a:noFill/>
          <a:ln>
            <a:noFill/>
          </a:ln>
        </p:spPr>
        <p:txBody>
          <a:bodyPr anchorCtr="0" anchor="ctr" bIns="0" lIns="0" spcFirstLastPara="1" rIns="0" wrap="square" tIns="0">
            <a:noAutofit/>
          </a:bodyPr>
          <a:lstStyle/>
          <a:p>
            <a:pPr indent="0" lvl="0" marL="0" marR="0" rtl="0" algn="r">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APR 2026</a:t>
            </a:r>
            <a:endParaRPr b="0" i="0" sz="713" u="none" cap="none" strike="noStrike">
              <a:solidFill>
                <a:schemeClr val="dk1"/>
              </a:solidFill>
              <a:latin typeface="Calibri"/>
              <a:ea typeface="Calibri"/>
              <a:cs typeface="Calibri"/>
              <a:sym typeface="Calibri"/>
            </a:endParaRPr>
          </a:p>
        </p:txBody>
      </p:sp>
      <p:pic>
        <p:nvPicPr>
          <p:cNvPr descr="preencoded.png" id="23" name="Google Shape;23;p1"/>
          <p:cNvPicPr preferRelativeResize="0"/>
          <p:nvPr/>
        </p:nvPicPr>
        <p:blipFill rotWithShape="1">
          <a:blip r:embed="rId3">
            <a:alphaModFix/>
          </a:blip>
          <a:srcRect b="0" l="0" r="0" t="0"/>
          <a:stretch/>
        </p:blipFill>
        <p:spPr>
          <a:xfrm>
            <a:off x="7456765" y="4538663"/>
            <a:ext cx="1197293" cy="22860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28" name="Shape 28"/>
        <p:cNvGrpSpPr/>
        <p:nvPr/>
      </p:nvGrpSpPr>
      <p:grpSpPr>
        <a:xfrm>
          <a:off x="0" y="0"/>
          <a:ext cx="0" cy="0"/>
          <a:chOff x="0" y="0"/>
          <a:chExt cx="0" cy="0"/>
        </a:xfrm>
      </p:grpSpPr>
      <p:sp>
        <p:nvSpPr>
          <p:cNvPr id="29" name="Google Shape;29;p2"/>
          <p:cNvSpPr/>
          <p:nvPr/>
        </p:nvSpPr>
        <p:spPr>
          <a:xfrm>
            <a:off x="314325" y="409575"/>
            <a:ext cx="8191500" cy="95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125"/>
              <a:buFont typeface="Neuton"/>
              <a:buNone/>
            </a:pPr>
            <a:r>
              <a:rPr b="0" i="0" lang="en-US" sz="7125" u="none" cap="none" strike="noStrike">
                <a:solidFill>
                  <a:srgbClr val="000000"/>
                </a:solidFill>
                <a:latin typeface="Neuton"/>
                <a:ea typeface="Neuton"/>
                <a:cs typeface="Neuton"/>
                <a:sym typeface="Neuton"/>
              </a:rPr>
              <a:t>Memory for who you're becoming</a:t>
            </a:r>
            <a:endParaRPr b="0" i="0" sz="7125" u="none" cap="none" strike="noStrike">
              <a:solidFill>
                <a:schemeClr val="dk1"/>
              </a:solidFill>
              <a:latin typeface="Calibri"/>
              <a:ea typeface="Calibri"/>
              <a:cs typeface="Calibri"/>
              <a:sym typeface="Calibri"/>
            </a:endParaRPr>
          </a:p>
        </p:txBody>
      </p:sp>
      <p:sp>
        <p:nvSpPr>
          <p:cNvPr id="30" name="Google Shape;30;p2"/>
          <p:cNvSpPr/>
          <p:nvPr/>
        </p:nvSpPr>
        <p:spPr>
          <a:xfrm>
            <a:off x="476250" y="4267200"/>
            <a:ext cx="2633663" cy="3524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 name="Google Shape;31;p2"/>
          <p:cNvSpPr/>
          <p:nvPr/>
        </p:nvSpPr>
        <p:spPr>
          <a:xfrm>
            <a:off x="476250" y="4267200"/>
            <a:ext cx="2633663"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2DABC2"/>
              </a:buClr>
              <a:buSzPts val="1283"/>
              <a:buFont typeface="Open Sans"/>
              <a:buNone/>
            </a:pPr>
            <a:r>
              <a:rPr lang="en-US" sz="1283">
                <a:solidFill>
                  <a:srgbClr val="2DABC2"/>
                </a:solidFill>
                <a:latin typeface="Open Sans"/>
                <a:ea typeface="Open Sans"/>
                <a:cs typeface="Open Sans"/>
                <a:sym typeface="Open Sans"/>
              </a:rPr>
              <a:t>Presentation</a:t>
            </a:r>
            <a:endParaRPr b="0" i="0" sz="1283" u="none" cap="none" strike="noStrike">
              <a:solidFill>
                <a:schemeClr val="dk1"/>
              </a:solidFill>
              <a:latin typeface="Calibri"/>
              <a:ea typeface="Calibri"/>
              <a:cs typeface="Calibri"/>
              <a:sym typeface="Calibri"/>
            </a:endParaRPr>
          </a:p>
        </p:txBody>
      </p:sp>
      <p:sp>
        <p:nvSpPr>
          <p:cNvPr id="32" name="Google Shape;32;p2"/>
          <p:cNvSpPr/>
          <p:nvPr/>
        </p:nvSpPr>
        <p:spPr>
          <a:xfrm>
            <a:off x="476250" y="4471988"/>
            <a:ext cx="2633663"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EverMemOS Integration</a:t>
            </a:r>
            <a:endParaRPr b="0" i="0" sz="855" u="none" cap="none" strike="noStrike">
              <a:solidFill>
                <a:schemeClr val="dk1"/>
              </a:solidFill>
              <a:latin typeface="Calibri"/>
              <a:ea typeface="Calibri"/>
              <a:cs typeface="Calibri"/>
              <a:sym typeface="Calibri"/>
            </a:endParaRPr>
          </a:p>
        </p:txBody>
      </p:sp>
      <p:sp>
        <p:nvSpPr>
          <p:cNvPr id="33" name="Google Shape;33;p2"/>
          <p:cNvSpPr/>
          <p:nvPr/>
        </p:nvSpPr>
        <p:spPr>
          <a:xfrm>
            <a:off x="3252788" y="4267200"/>
            <a:ext cx="2605088" cy="3524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3252788" y="4267200"/>
            <a:ext cx="2605088"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2DABC2"/>
              </a:buClr>
              <a:buSzPts val="1283"/>
              <a:buFont typeface="Open Sans"/>
              <a:buNone/>
            </a:pPr>
            <a:r>
              <a:rPr lang="en-US" sz="1283">
                <a:solidFill>
                  <a:srgbClr val="2DABC2"/>
                </a:solidFill>
                <a:latin typeface="Open Sans"/>
                <a:ea typeface="Open Sans"/>
                <a:cs typeface="Open Sans"/>
                <a:sym typeface="Open Sans"/>
              </a:rPr>
              <a:t>Shruti Rajagopal</a:t>
            </a:r>
            <a:endParaRPr b="0" i="0" sz="1283" u="none" cap="none" strike="noStrike">
              <a:solidFill>
                <a:schemeClr val="dk1"/>
              </a:solidFill>
              <a:latin typeface="Calibri"/>
              <a:ea typeface="Calibri"/>
              <a:cs typeface="Calibri"/>
              <a:sym typeface="Calibri"/>
            </a:endParaRPr>
          </a:p>
        </p:txBody>
      </p:sp>
      <p:sp>
        <p:nvSpPr>
          <p:cNvPr id="35" name="Google Shape;35;p2"/>
          <p:cNvSpPr/>
          <p:nvPr/>
        </p:nvSpPr>
        <p:spPr>
          <a:xfrm>
            <a:off x="3252788" y="4471988"/>
            <a:ext cx="2605088"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lang="en-US" sz="855">
                <a:latin typeface="Open Sans"/>
                <a:ea typeface="Open Sans"/>
                <a:cs typeface="Open Sans"/>
                <a:sym typeface="Open Sans"/>
              </a:rPr>
              <a:t>Founder &amp; CEO</a:t>
            </a:r>
            <a:endParaRPr b="0" i="0" sz="855" u="none" cap="none" strike="noStrike">
              <a:solidFill>
                <a:schemeClr val="dk1"/>
              </a:solidFill>
              <a:latin typeface="Calibri"/>
              <a:ea typeface="Calibri"/>
              <a:cs typeface="Calibri"/>
              <a:sym typeface="Calibri"/>
            </a:endParaRPr>
          </a:p>
        </p:txBody>
      </p:sp>
      <p:cxnSp>
        <p:nvCxnSpPr>
          <p:cNvPr id="36" name="Google Shape;36;p2"/>
          <p:cNvCxnSpPr/>
          <p:nvPr/>
        </p:nvCxnSpPr>
        <p:spPr>
          <a:xfrm>
            <a:off x="476250" y="4124324"/>
            <a:ext cx="8191500" cy="0"/>
          </a:xfrm>
          <a:prstGeom prst="straightConnector1">
            <a:avLst/>
          </a:prstGeom>
          <a:noFill/>
          <a:ln cap="flat" cmpd="sng" w="9525">
            <a:solidFill>
              <a:srgbClr val="000000"/>
            </a:solidFill>
            <a:prstDash val="solid"/>
            <a:round/>
            <a:headEnd len="sm" w="sm" type="none"/>
            <a:tailEnd len="sm" w="sm" type="none"/>
          </a:ln>
        </p:spPr>
      </p:cxnSp>
      <p:pic>
        <p:nvPicPr>
          <p:cNvPr descr="preencoded.png" id="37" name="Google Shape;37;p2"/>
          <p:cNvPicPr preferRelativeResize="0"/>
          <p:nvPr/>
        </p:nvPicPr>
        <p:blipFill rotWithShape="1">
          <a:blip r:embed="rId3">
            <a:alphaModFix/>
          </a:blip>
          <a:srcRect b="0" l="0" r="0" t="0"/>
          <a:stretch/>
        </p:blipFill>
        <p:spPr>
          <a:xfrm>
            <a:off x="6672263" y="4281488"/>
            <a:ext cx="1995487" cy="381000"/>
          </a:xfrm>
          <a:prstGeom prst="rect">
            <a:avLst/>
          </a:prstGeom>
          <a:noFill/>
          <a:ln>
            <a:noFill/>
          </a:ln>
        </p:spPr>
      </p:pic>
      <p:pic>
        <p:nvPicPr>
          <p:cNvPr descr="preencoded.png" id="38" name="Google Shape;38;p2"/>
          <p:cNvPicPr preferRelativeResize="0"/>
          <p:nvPr/>
        </p:nvPicPr>
        <p:blipFill rotWithShape="1">
          <a:blip r:embed="rId4">
            <a:alphaModFix/>
          </a:blip>
          <a:srcRect b="0" l="0" r="0" t="0"/>
          <a:stretch/>
        </p:blipFill>
        <p:spPr>
          <a:xfrm>
            <a:off x="5857875" y="409575"/>
            <a:ext cx="2809875" cy="2566988"/>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8D8"/>
        </a:solidFill>
      </p:bgPr>
    </p:bg>
    <p:spTree>
      <p:nvGrpSpPr>
        <p:cNvPr id="43" name="Shape 43"/>
        <p:cNvGrpSpPr/>
        <p:nvPr/>
      </p:nvGrpSpPr>
      <p:grpSpPr>
        <a:xfrm>
          <a:off x="0" y="0"/>
          <a:ext cx="0" cy="0"/>
          <a:chOff x="0" y="0"/>
          <a:chExt cx="0" cy="0"/>
        </a:xfrm>
      </p:grpSpPr>
      <p:sp>
        <p:nvSpPr>
          <p:cNvPr id="44" name="Google Shape;44;p3"/>
          <p:cNvSpPr/>
          <p:nvPr/>
        </p:nvSpPr>
        <p:spPr>
          <a:xfrm>
            <a:off x="476250" y="2071688"/>
            <a:ext cx="3948112" cy="95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DABC2"/>
              </a:buClr>
              <a:buSzPts val="7125"/>
              <a:buFont typeface="Neuton"/>
              <a:buNone/>
            </a:pPr>
            <a:r>
              <a:rPr b="0" i="0" lang="en-US" sz="7125" u="none" cap="none" strike="noStrike">
                <a:solidFill>
                  <a:srgbClr val="2DABC2"/>
                </a:solidFill>
                <a:latin typeface="Neuton"/>
                <a:ea typeface="Neuton"/>
                <a:cs typeface="Neuton"/>
                <a:sym typeface="Neuton"/>
              </a:rPr>
              <a:t>Agenda</a:t>
            </a:r>
            <a:endParaRPr b="0" i="0" sz="7125" u="none" cap="none" strike="noStrike">
              <a:solidFill>
                <a:schemeClr val="dk1"/>
              </a:solidFill>
              <a:latin typeface="Calibri"/>
              <a:ea typeface="Calibri"/>
              <a:cs typeface="Calibri"/>
              <a:sym typeface="Calibri"/>
            </a:endParaRPr>
          </a:p>
        </p:txBody>
      </p:sp>
      <p:sp>
        <p:nvSpPr>
          <p:cNvPr id="45" name="Google Shape;45;p3"/>
          <p:cNvSpPr/>
          <p:nvPr/>
        </p:nvSpPr>
        <p:spPr>
          <a:xfrm>
            <a:off x="476250" y="219075"/>
            <a:ext cx="5429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SLIDE TITLE</a:t>
            </a:r>
            <a:endParaRPr b="0" i="0" sz="713" u="none" cap="none" strike="noStrike">
              <a:solidFill>
                <a:schemeClr val="dk1"/>
              </a:solidFill>
              <a:latin typeface="Calibri"/>
              <a:ea typeface="Calibri"/>
              <a:cs typeface="Calibri"/>
              <a:sym typeface="Calibri"/>
            </a:endParaRPr>
          </a:p>
        </p:txBody>
      </p:sp>
      <p:sp>
        <p:nvSpPr>
          <p:cNvPr id="46" name="Google Shape;46;p3"/>
          <p:cNvSpPr/>
          <p:nvPr/>
        </p:nvSpPr>
        <p:spPr>
          <a:xfrm>
            <a:off x="5324475" y="1562100"/>
            <a:ext cx="3328988" cy="24669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3"/>
          <p:cNvSpPr/>
          <p:nvPr/>
        </p:nvSpPr>
        <p:spPr>
          <a:xfrm>
            <a:off x="5324475" y="1562100"/>
            <a:ext cx="3328988"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The Problem: AI Amnesia</a:t>
            </a:r>
            <a:endParaRPr b="0" i="0" sz="1283" u="none" cap="none" strike="noStrike">
              <a:solidFill>
                <a:schemeClr val="dk1"/>
              </a:solidFill>
              <a:latin typeface="Calibri"/>
              <a:ea typeface="Calibri"/>
              <a:cs typeface="Calibri"/>
              <a:sym typeface="Calibri"/>
            </a:endParaRPr>
          </a:p>
        </p:txBody>
      </p:sp>
      <p:cxnSp>
        <p:nvCxnSpPr>
          <p:cNvPr id="48" name="Google Shape;48;p3"/>
          <p:cNvCxnSpPr/>
          <p:nvPr/>
        </p:nvCxnSpPr>
        <p:spPr>
          <a:xfrm>
            <a:off x="5324475" y="1890713"/>
            <a:ext cx="3328988" cy="0"/>
          </a:xfrm>
          <a:prstGeom prst="straightConnector1">
            <a:avLst/>
          </a:prstGeom>
          <a:noFill/>
          <a:ln cap="flat" cmpd="sng" w="9525">
            <a:solidFill>
              <a:srgbClr val="000000"/>
            </a:solidFill>
            <a:prstDash val="solid"/>
            <a:round/>
            <a:headEnd len="sm" w="sm" type="none"/>
            <a:tailEnd len="sm" w="sm" type="none"/>
          </a:ln>
        </p:spPr>
      </p:cxnSp>
      <p:sp>
        <p:nvSpPr>
          <p:cNvPr id="49" name="Google Shape;49;p3"/>
          <p:cNvSpPr/>
          <p:nvPr/>
        </p:nvSpPr>
        <p:spPr>
          <a:xfrm>
            <a:off x="5324475" y="2014538"/>
            <a:ext cx="3328988"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Live Demo: Arc Memory</a:t>
            </a:r>
            <a:endParaRPr b="0" i="0" sz="1283" u="none" cap="none" strike="noStrike">
              <a:solidFill>
                <a:schemeClr val="dk1"/>
              </a:solidFill>
              <a:latin typeface="Calibri"/>
              <a:ea typeface="Calibri"/>
              <a:cs typeface="Calibri"/>
              <a:sym typeface="Calibri"/>
            </a:endParaRPr>
          </a:p>
        </p:txBody>
      </p:sp>
      <p:cxnSp>
        <p:nvCxnSpPr>
          <p:cNvPr id="50" name="Google Shape;50;p3"/>
          <p:cNvCxnSpPr/>
          <p:nvPr/>
        </p:nvCxnSpPr>
        <p:spPr>
          <a:xfrm>
            <a:off x="5324475" y="2343150"/>
            <a:ext cx="3328988" cy="0"/>
          </a:xfrm>
          <a:prstGeom prst="straightConnector1">
            <a:avLst/>
          </a:prstGeom>
          <a:noFill/>
          <a:ln cap="flat" cmpd="sng" w="9525">
            <a:solidFill>
              <a:srgbClr val="000000"/>
            </a:solidFill>
            <a:prstDash val="solid"/>
            <a:round/>
            <a:headEnd len="sm" w="sm" type="none"/>
            <a:tailEnd len="sm" w="sm" type="none"/>
          </a:ln>
        </p:spPr>
      </p:cxnSp>
      <p:sp>
        <p:nvSpPr>
          <p:cNvPr id="51" name="Google Shape;51;p3"/>
          <p:cNvSpPr/>
          <p:nvPr/>
        </p:nvSpPr>
        <p:spPr>
          <a:xfrm>
            <a:off x="5324475" y="2466975"/>
            <a:ext cx="3328988"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Architecture: 3 Channels</a:t>
            </a:r>
            <a:endParaRPr b="0" i="0" sz="1283" u="none" cap="none" strike="noStrike">
              <a:solidFill>
                <a:schemeClr val="dk1"/>
              </a:solidFill>
              <a:latin typeface="Calibri"/>
              <a:ea typeface="Calibri"/>
              <a:cs typeface="Calibri"/>
              <a:sym typeface="Calibri"/>
            </a:endParaRPr>
          </a:p>
        </p:txBody>
      </p:sp>
      <p:cxnSp>
        <p:nvCxnSpPr>
          <p:cNvPr id="52" name="Google Shape;52;p3"/>
          <p:cNvCxnSpPr/>
          <p:nvPr/>
        </p:nvCxnSpPr>
        <p:spPr>
          <a:xfrm>
            <a:off x="5324475" y="2795588"/>
            <a:ext cx="3328988" cy="0"/>
          </a:xfrm>
          <a:prstGeom prst="straightConnector1">
            <a:avLst/>
          </a:prstGeom>
          <a:noFill/>
          <a:ln cap="flat" cmpd="sng" w="9525">
            <a:solidFill>
              <a:srgbClr val="000000"/>
            </a:solidFill>
            <a:prstDash val="solid"/>
            <a:round/>
            <a:headEnd len="sm" w="sm" type="none"/>
            <a:tailEnd len="sm" w="sm" type="none"/>
          </a:ln>
        </p:spPr>
      </p:cxnSp>
      <p:sp>
        <p:nvSpPr>
          <p:cNvPr id="53" name="Google Shape;53;p3"/>
          <p:cNvSpPr/>
          <p:nvPr/>
        </p:nvSpPr>
        <p:spPr>
          <a:xfrm>
            <a:off x="5324475" y="2919413"/>
            <a:ext cx="3328988"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Ontology x Memory Lifecycle</a:t>
            </a:r>
            <a:endParaRPr b="0" i="0" sz="1283" u="none" cap="none" strike="noStrike">
              <a:solidFill>
                <a:schemeClr val="dk1"/>
              </a:solidFill>
              <a:latin typeface="Calibri"/>
              <a:ea typeface="Calibri"/>
              <a:cs typeface="Calibri"/>
              <a:sym typeface="Calibri"/>
            </a:endParaRPr>
          </a:p>
        </p:txBody>
      </p:sp>
      <p:cxnSp>
        <p:nvCxnSpPr>
          <p:cNvPr id="54" name="Google Shape;54;p3"/>
          <p:cNvCxnSpPr/>
          <p:nvPr/>
        </p:nvCxnSpPr>
        <p:spPr>
          <a:xfrm>
            <a:off x="5324475" y="3248025"/>
            <a:ext cx="3328988" cy="0"/>
          </a:xfrm>
          <a:prstGeom prst="straightConnector1">
            <a:avLst/>
          </a:prstGeom>
          <a:noFill/>
          <a:ln cap="flat" cmpd="sng" w="9525">
            <a:solidFill>
              <a:srgbClr val="000000"/>
            </a:solidFill>
            <a:prstDash val="solid"/>
            <a:round/>
            <a:headEnd len="sm" w="sm" type="none"/>
            <a:tailEnd len="sm" w="sm" type="none"/>
          </a:ln>
        </p:spPr>
      </p:cxnSp>
      <p:sp>
        <p:nvSpPr>
          <p:cNvPr id="55" name="Google Shape;55;p3"/>
          <p:cNvSpPr/>
          <p:nvPr/>
        </p:nvSpPr>
        <p:spPr>
          <a:xfrm>
            <a:off x="5324475" y="3371850"/>
            <a:ext cx="3328988"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What's Next</a:t>
            </a:r>
            <a:endParaRPr b="0" i="0" sz="1283" u="none" cap="none" strike="noStrike">
              <a:solidFill>
                <a:schemeClr val="dk1"/>
              </a:solidFill>
              <a:latin typeface="Calibri"/>
              <a:ea typeface="Calibri"/>
              <a:cs typeface="Calibri"/>
              <a:sym typeface="Calibri"/>
            </a:endParaRPr>
          </a:p>
        </p:txBody>
      </p:sp>
      <p:cxnSp>
        <p:nvCxnSpPr>
          <p:cNvPr id="56" name="Google Shape;56;p3"/>
          <p:cNvCxnSpPr/>
          <p:nvPr/>
        </p:nvCxnSpPr>
        <p:spPr>
          <a:xfrm>
            <a:off x="5324475" y="3700463"/>
            <a:ext cx="3328988" cy="0"/>
          </a:xfrm>
          <a:prstGeom prst="straightConnector1">
            <a:avLst/>
          </a:prstGeom>
          <a:noFill/>
          <a:ln cap="flat" cmpd="sng" w="9525">
            <a:solidFill>
              <a:srgbClr val="000000"/>
            </a:solidFill>
            <a:prstDash val="solid"/>
            <a:round/>
            <a:headEnd len="sm" w="sm" type="none"/>
            <a:tailEnd len="sm" w="sm" type="none"/>
          </a:ln>
        </p:spPr>
      </p:cxnSp>
      <p:sp>
        <p:nvSpPr>
          <p:cNvPr id="57" name="Google Shape;57;p3"/>
          <p:cNvSpPr/>
          <p:nvPr/>
        </p:nvSpPr>
        <p:spPr>
          <a:xfrm>
            <a:off x="5324475" y="3824288"/>
            <a:ext cx="3328988"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Q&amp;A</a:t>
            </a:r>
            <a:endParaRPr b="0" i="0" sz="1283" u="none" cap="none" strike="noStrike">
              <a:solidFill>
                <a:schemeClr val="dk1"/>
              </a:solidFill>
              <a:latin typeface="Calibri"/>
              <a:ea typeface="Calibri"/>
              <a:cs typeface="Calibri"/>
              <a:sym typeface="Calibri"/>
            </a:endParaRPr>
          </a:p>
        </p:txBody>
      </p:sp>
      <p:cxnSp>
        <p:nvCxnSpPr>
          <p:cNvPr id="58" name="Google Shape;58;p3"/>
          <p:cNvCxnSpPr/>
          <p:nvPr/>
        </p:nvCxnSpPr>
        <p:spPr>
          <a:xfrm>
            <a:off x="476250" y="476250"/>
            <a:ext cx="8177213" cy="0"/>
          </a:xfrm>
          <a:prstGeom prst="straightConnector1">
            <a:avLst/>
          </a:prstGeom>
          <a:noFill/>
          <a:ln cap="flat" cmpd="sng" w="9525">
            <a:solidFill>
              <a:srgbClr val="000000"/>
            </a:solidFill>
            <a:prstDash val="solid"/>
            <a:round/>
            <a:headEnd len="sm" w="sm" type="none"/>
            <a:tailEnd len="sm" w="sm" type="none"/>
          </a:ln>
        </p:spPr>
      </p:cxnSp>
      <p:pic>
        <p:nvPicPr>
          <p:cNvPr descr="preencoded.png" id="59" name="Google Shape;59;p3"/>
          <p:cNvPicPr preferRelativeResize="0"/>
          <p:nvPr/>
        </p:nvPicPr>
        <p:blipFill rotWithShape="1">
          <a:blip r:embed="rId3">
            <a:alphaModFix/>
          </a:blip>
          <a:srcRect b="0" l="0" r="0" t="0"/>
          <a:stretch/>
        </p:blipFill>
        <p:spPr>
          <a:xfrm>
            <a:off x="7905750" y="204788"/>
            <a:ext cx="748308" cy="1428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64" name="Shape 64"/>
        <p:cNvGrpSpPr/>
        <p:nvPr/>
      </p:nvGrpSpPr>
      <p:grpSpPr>
        <a:xfrm>
          <a:off x="0" y="0"/>
          <a:ext cx="0" cy="0"/>
          <a:chOff x="0" y="0"/>
          <a:chExt cx="0" cy="0"/>
        </a:xfrm>
      </p:grpSpPr>
      <p:sp>
        <p:nvSpPr>
          <p:cNvPr id="65" name="Google Shape;65;p4"/>
          <p:cNvSpPr/>
          <p:nvPr/>
        </p:nvSpPr>
        <p:spPr>
          <a:xfrm>
            <a:off x="476250" y="1019175"/>
            <a:ext cx="4024313"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2850"/>
              <a:buFont typeface="Neuton"/>
              <a:buNone/>
            </a:pPr>
            <a:r>
              <a:rPr b="0" i="0" lang="en-US" sz="2850" u="none" cap="none" strike="noStrike">
                <a:solidFill>
                  <a:srgbClr val="FFFFFF"/>
                </a:solidFill>
                <a:latin typeface="Neuton"/>
                <a:ea typeface="Neuton"/>
                <a:cs typeface="Neuton"/>
                <a:sym typeface="Neuton"/>
              </a:rPr>
              <a:t>The Problem</a:t>
            </a:r>
            <a:endParaRPr b="0" i="0" sz="2850" u="none" cap="none" strike="noStrike">
              <a:solidFill>
                <a:schemeClr val="dk1"/>
              </a:solidFill>
              <a:latin typeface="Calibri"/>
              <a:ea typeface="Calibri"/>
              <a:cs typeface="Calibri"/>
              <a:sym typeface="Calibri"/>
            </a:endParaRPr>
          </a:p>
        </p:txBody>
      </p:sp>
      <p:sp>
        <p:nvSpPr>
          <p:cNvPr id="66" name="Google Shape;66;p4"/>
          <p:cNvSpPr/>
          <p:nvPr/>
        </p:nvSpPr>
        <p:spPr>
          <a:xfrm>
            <a:off x="476250" y="219075"/>
            <a:ext cx="5429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FFFFFF"/>
              </a:buClr>
              <a:buSzPts val="713"/>
              <a:buFont typeface="Open Sans"/>
              <a:buNone/>
            </a:pPr>
            <a:r>
              <a:rPr b="1" i="0" lang="en-US" sz="713" u="none" cap="none" strike="noStrike">
                <a:solidFill>
                  <a:srgbClr val="FFFFFF"/>
                </a:solidFill>
                <a:latin typeface="Open Sans"/>
                <a:ea typeface="Open Sans"/>
                <a:cs typeface="Open Sans"/>
                <a:sym typeface="Open Sans"/>
              </a:rPr>
              <a:t>SLIDE TITLE</a:t>
            </a:r>
            <a:endParaRPr b="0" i="0" sz="713" u="none" cap="none" strike="noStrike">
              <a:solidFill>
                <a:schemeClr val="dk1"/>
              </a:solidFill>
              <a:latin typeface="Calibri"/>
              <a:ea typeface="Calibri"/>
              <a:cs typeface="Calibri"/>
              <a:sym typeface="Calibri"/>
            </a:endParaRPr>
          </a:p>
        </p:txBody>
      </p:sp>
      <p:cxnSp>
        <p:nvCxnSpPr>
          <p:cNvPr id="67" name="Google Shape;67;p4"/>
          <p:cNvCxnSpPr/>
          <p:nvPr/>
        </p:nvCxnSpPr>
        <p:spPr>
          <a:xfrm>
            <a:off x="476250" y="476250"/>
            <a:ext cx="8177213" cy="0"/>
          </a:xfrm>
          <a:prstGeom prst="straightConnector1">
            <a:avLst/>
          </a:prstGeom>
          <a:noFill/>
          <a:ln cap="flat" cmpd="sng" w="9525">
            <a:solidFill>
              <a:srgbClr val="000000"/>
            </a:solidFill>
            <a:prstDash val="solid"/>
            <a:round/>
            <a:headEnd len="sm" w="sm" type="none"/>
            <a:tailEnd len="sm" w="sm" type="none"/>
          </a:ln>
        </p:spPr>
      </p:cxnSp>
      <p:cxnSp>
        <p:nvCxnSpPr>
          <p:cNvPr id="68" name="Google Shape;68;p4"/>
          <p:cNvCxnSpPr/>
          <p:nvPr/>
        </p:nvCxnSpPr>
        <p:spPr>
          <a:xfrm>
            <a:off x="476250" y="476250"/>
            <a:ext cx="8177213" cy="0"/>
          </a:xfrm>
          <a:prstGeom prst="straightConnector1">
            <a:avLst/>
          </a:prstGeom>
          <a:noFill/>
          <a:ln cap="flat" cmpd="sng" w="9525">
            <a:solidFill>
              <a:srgbClr val="7A7A7A"/>
            </a:solidFill>
            <a:prstDash val="solid"/>
            <a:round/>
            <a:headEnd len="sm" w="sm" type="none"/>
            <a:tailEnd len="sm" w="sm" type="none"/>
          </a:ln>
        </p:spPr>
      </p:cxnSp>
      <p:sp>
        <p:nvSpPr>
          <p:cNvPr id="69" name="Google Shape;69;p4"/>
          <p:cNvSpPr/>
          <p:nvPr/>
        </p:nvSpPr>
        <p:spPr>
          <a:xfrm>
            <a:off x="476250" y="2414588"/>
            <a:ext cx="4024313" cy="1790700"/>
          </a:xfrm>
          <a:prstGeom prst="rect">
            <a:avLst/>
          </a:prstGeom>
          <a:noFill/>
          <a:ln>
            <a:noFill/>
          </a:ln>
        </p:spPr>
        <p:txBody>
          <a:bodyPr anchorCtr="0" anchor="ctr" bIns="0" lIns="0" spcFirstLastPara="1" rIns="0" wrap="square" tIns="0">
            <a:noAutofit/>
          </a:bodyPr>
          <a:lstStyle/>
          <a:p>
            <a:pPr indent="0" lvl="0" marL="0" marR="0" rtl="0" algn="l">
              <a:lnSpc>
                <a:spcPct val="129929"/>
              </a:lnSpc>
              <a:spcBef>
                <a:spcPts val="0"/>
              </a:spcBef>
              <a:spcAft>
                <a:spcPts val="0"/>
              </a:spcAft>
              <a:buClr>
                <a:srgbClr val="FFFFFF"/>
              </a:buClr>
              <a:buSzPts val="1283"/>
              <a:buFont typeface="Open Sans"/>
              <a:buNone/>
            </a:pPr>
            <a:r>
              <a:rPr b="0" i="0" lang="en-US" sz="1283" u="none" cap="none" strike="noStrike">
                <a:solidFill>
                  <a:srgbClr val="FFFFFF"/>
                </a:solidFill>
                <a:latin typeface="Open Sans"/>
                <a:ea typeface="Open Sans"/>
                <a:cs typeface="Open Sans"/>
                <a:sym typeface="Open Sans"/>
              </a:rPr>
              <a:t>Liminal Space gives form to inner life — 7-factor coherence scoring, 12 Jungian archetype agents, visual artifacts (Imprints) that encode inner change. A production app: 271 API routes, 125 database migrations.
But every session started from zero. The Council didn't remember past dialogues. Shadow work had no memory. Imprints generated in isolation.
The infrastructure existed. The memory didn't.</a:t>
            </a:r>
            <a:endParaRPr b="0" i="0" sz="1283" u="none" cap="none" strike="noStrike">
              <a:solidFill>
                <a:schemeClr val="dk1"/>
              </a:solidFill>
              <a:latin typeface="Calibri"/>
              <a:ea typeface="Calibri"/>
              <a:cs typeface="Calibri"/>
              <a:sym typeface="Calibri"/>
            </a:endParaRPr>
          </a:p>
          <a:p>
            <a:pPr indent="0" lvl="0" marL="0" marR="0" rtl="0" algn="l">
              <a:lnSpc>
                <a:spcPct val="129929"/>
              </a:lnSpc>
              <a:spcBef>
                <a:spcPts val="0"/>
              </a:spcBef>
              <a:spcAft>
                <a:spcPts val="0"/>
              </a:spcAft>
              <a:buClr>
                <a:srgbClr val="FFFFFF"/>
              </a:buClr>
              <a:buSzPts val="1283"/>
              <a:buFont typeface="Open Sans"/>
              <a:buNone/>
            </a:pPr>
            <a:r>
              <a:rPr b="0" i="0" lang="en-US" sz="1283" u="none" cap="none" strike="noStrike">
                <a:solidFill>
                  <a:srgbClr val="FFFFFF"/>
                </a:solidFill>
                <a:latin typeface="Open Sans"/>
                <a:ea typeface="Open Sans"/>
                <a:cs typeface="Open Sans"/>
                <a:sym typeface="Open Sans"/>
              </a:rPr>
              <a:t/>
            </a:r>
            <a:endParaRPr b="0" i="0" sz="1283" u="none" cap="none" strike="noStrike">
              <a:solidFill>
                <a:schemeClr val="dk1"/>
              </a:solidFill>
              <a:latin typeface="Calibri"/>
              <a:ea typeface="Calibri"/>
              <a:cs typeface="Calibri"/>
              <a:sym typeface="Calibri"/>
            </a:endParaRPr>
          </a:p>
        </p:txBody>
      </p:sp>
      <p:sp>
        <p:nvSpPr>
          <p:cNvPr id="70" name="Google Shape;70;p4"/>
          <p:cNvSpPr/>
          <p:nvPr/>
        </p:nvSpPr>
        <p:spPr>
          <a:xfrm>
            <a:off x="5338763" y="1195388"/>
            <a:ext cx="3328988"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FFFFFF"/>
              </a:buClr>
              <a:buSzPts val="713"/>
              <a:buFont typeface="Open Sans"/>
              <a:buNone/>
            </a:pPr>
            <a:r>
              <a:rPr b="1" i="0" lang="en-US" sz="713" u="none" cap="none" strike="noStrike">
                <a:solidFill>
                  <a:srgbClr val="FFFFFF"/>
                </a:solidFill>
                <a:latin typeface="Open Sans"/>
                <a:ea typeface="Open Sans"/>
                <a:cs typeface="Open Sans"/>
                <a:sym typeface="Open Sans"/>
              </a:rPr>
              <a:t>PRODUCTION APP — SHIPPED</a:t>
            </a:r>
            <a:endParaRPr b="0" i="0" sz="713" u="none" cap="none" strike="noStrike">
              <a:solidFill>
                <a:schemeClr val="dk1"/>
              </a:solidFill>
              <a:latin typeface="Calibri"/>
              <a:ea typeface="Calibri"/>
              <a:cs typeface="Calibri"/>
              <a:sym typeface="Calibri"/>
            </a:endParaRPr>
          </a:p>
        </p:txBody>
      </p:sp>
      <p:sp>
        <p:nvSpPr>
          <p:cNvPr id="71" name="Google Shape;71;p4"/>
          <p:cNvSpPr/>
          <p:nvPr/>
        </p:nvSpPr>
        <p:spPr>
          <a:xfrm>
            <a:off x="5338763" y="2414588"/>
            <a:ext cx="1371600" cy="146685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 name="Google Shape;72;p4"/>
          <p:cNvSpPr/>
          <p:nvPr/>
        </p:nvSpPr>
        <p:spPr>
          <a:xfrm>
            <a:off x="5338763" y="2414588"/>
            <a:ext cx="1371600" cy="3905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4"/>
          <p:cNvSpPr/>
          <p:nvPr/>
        </p:nvSpPr>
        <p:spPr>
          <a:xfrm>
            <a:off x="5338763" y="2414588"/>
            <a:ext cx="1371600"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FFFF"/>
              </a:buClr>
              <a:buSzPts val="1283"/>
              <a:buFont typeface="Open Sans"/>
              <a:buNone/>
            </a:pPr>
            <a:r>
              <a:rPr b="0" i="0" lang="en-US" sz="1283" u="none" cap="none" strike="noStrike">
                <a:solidFill>
                  <a:srgbClr val="FFFFFF"/>
                </a:solidFill>
                <a:latin typeface="Open Sans"/>
                <a:ea typeface="Open Sans"/>
                <a:cs typeface="Open Sans"/>
                <a:sym typeface="Open Sans"/>
              </a:rPr>
              <a:t>Shruti Rajagopal</a:t>
            </a:r>
            <a:endParaRPr b="0" i="0" sz="1283" u="none" cap="none" strike="noStrike">
              <a:solidFill>
                <a:schemeClr val="dk1"/>
              </a:solidFill>
              <a:latin typeface="Calibri"/>
              <a:ea typeface="Calibri"/>
              <a:cs typeface="Calibri"/>
              <a:sym typeface="Calibri"/>
            </a:endParaRPr>
          </a:p>
        </p:txBody>
      </p:sp>
      <p:sp>
        <p:nvSpPr>
          <p:cNvPr id="74" name="Google Shape;74;p4"/>
          <p:cNvSpPr/>
          <p:nvPr/>
        </p:nvSpPr>
        <p:spPr>
          <a:xfrm>
            <a:off x="5338763" y="2657475"/>
            <a:ext cx="1371600"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Founder &amp; CEO</a:t>
            </a:r>
            <a:endParaRPr b="0" i="0" sz="855" u="none" cap="none" strike="noStrike">
              <a:solidFill>
                <a:schemeClr val="dk1"/>
              </a:solidFill>
              <a:latin typeface="Calibri"/>
              <a:ea typeface="Calibri"/>
              <a:cs typeface="Calibri"/>
              <a:sym typeface="Calibri"/>
            </a:endParaRPr>
          </a:p>
        </p:txBody>
      </p:sp>
      <p:sp>
        <p:nvSpPr>
          <p:cNvPr id="75" name="Google Shape;75;p4"/>
          <p:cNvSpPr/>
          <p:nvPr/>
        </p:nvSpPr>
        <p:spPr>
          <a:xfrm>
            <a:off x="5338763" y="2952750"/>
            <a:ext cx="1371600" cy="3905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4"/>
          <p:cNvSpPr/>
          <p:nvPr/>
        </p:nvSpPr>
        <p:spPr>
          <a:xfrm>
            <a:off x="5338763" y="2952750"/>
            <a:ext cx="1371600"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FFFF"/>
              </a:buClr>
              <a:buSzPts val="1283"/>
              <a:buFont typeface="Open Sans"/>
              <a:buNone/>
            </a:pPr>
            <a:r>
              <a:rPr b="0" i="0" lang="en-US" sz="1283" u="none" cap="none" strike="noStrike">
                <a:solidFill>
                  <a:srgbClr val="FFFFFF"/>
                </a:solidFill>
                <a:latin typeface="Open Sans"/>
                <a:ea typeface="Open Sans"/>
                <a:cs typeface="Open Sans"/>
                <a:sym typeface="Open Sans"/>
              </a:rPr>
              <a:t>Shayaun Nejad</a:t>
            </a:r>
            <a:endParaRPr b="0" i="0" sz="1283" u="none" cap="none" strike="noStrike">
              <a:solidFill>
                <a:schemeClr val="dk1"/>
              </a:solidFill>
              <a:latin typeface="Calibri"/>
              <a:ea typeface="Calibri"/>
              <a:cs typeface="Calibri"/>
              <a:sym typeface="Calibri"/>
            </a:endParaRPr>
          </a:p>
        </p:txBody>
      </p:sp>
      <p:sp>
        <p:nvSpPr>
          <p:cNvPr id="77" name="Google Shape;77;p4"/>
          <p:cNvSpPr/>
          <p:nvPr/>
        </p:nvSpPr>
        <p:spPr>
          <a:xfrm>
            <a:off x="5338763" y="3195638"/>
            <a:ext cx="1371600"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Co-Builder</a:t>
            </a:r>
            <a:endParaRPr b="0" i="0" sz="855" u="none" cap="none" strike="noStrike">
              <a:solidFill>
                <a:schemeClr val="dk1"/>
              </a:solidFill>
              <a:latin typeface="Calibri"/>
              <a:ea typeface="Calibri"/>
              <a:cs typeface="Calibri"/>
              <a:sym typeface="Calibri"/>
            </a:endParaRPr>
          </a:p>
        </p:txBody>
      </p:sp>
      <p:sp>
        <p:nvSpPr>
          <p:cNvPr id="78" name="Google Shape;78;p4"/>
          <p:cNvSpPr/>
          <p:nvPr/>
        </p:nvSpPr>
        <p:spPr>
          <a:xfrm>
            <a:off x="5338763" y="3490913"/>
            <a:ext cx="1371600" cy="3905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4"/>
          <p:cNvSpPr/>
          <p:nvPr/>
        </p:nvSpPr>
        <p:spPr>
          <a:xfrm>
            <a:off x="5338763" y="3490913"/>
            <a:ext cx="1371600"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FFFF"/>
              </a:buClr>
              <a:buSzPts val="1283"/>
              <a:buFont typeface="Open Sans"/>
              <a:buNone/>
            </a:pPr>
            <a:r>
              <a:rPr b="0" i="0" lang="en-US" sz="1283" u="none" cap="none" strike="noStrike">
                <a:solidFill>
                  <a:srgbClr val="FFFFFF"/>
                </a:solidFill>
                <a:latin typeface="Open Sans"/>
                <a:ea typeface="Open Sans"/>
                <a:cs typeface="Open Sans"/>
                <a:sym typeface="Open Sans"/>
              </a:rPr>
              <a:t/>
            </a:r>
            <a:endParaRPr b="0" i="0" sz="1283" u="none" cap="none" strike="noStrike">
              <a:solidFill>
                <a:schemeClr val="dk1"/>
              </a:solidFill>
              <a:latin typeface="Calibri"/>
              <a:ea typeface="Calibri"/>
              <a:cs typeface="Calibri"/>
              <a:sym typeface="Calibri"/>
            </a:endParaRPr>
          </a:p>
        </p:txBody>
      </p:sp>
      <p:sp>
        <p:nvSpPr>
          <p:cNvPr id="80" name="Google Shape;80;p4"/>
          <p:cNvSpPr/>
          <p:nvPr/>
        </p:nvSpPr>
        <p:spPr>
          <a:xfrm>
            <a:off x="5338763" y="3733800"/>
            <a:ext cx="1371600"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sp>
        <p:nvSpPr>
          <p:cNvPr id="81" name="Google Shape;81;p4"/>
          <p:cNvSpPr/>
          <p:nvPr/>
        </p:nvSpPr>
        <p:spPr>
          <a:xfrm>
            <a:off x="7391400" y="2414588"/>
            <a:ext cx="1262063" cy="146685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4"/>
          <p:cNvSpPr/>
          <p:nvPr/>
        </p:nvSpPr>
        <p:spPr>
          <a:xfrm>
            <a:off x="7391400" y="2414588"/>
            <a:ext cx="1262063" cy="3905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4"/>
          <p:cNvSpPr/>
          <p:nvPr/>
        </p:nvSpPr>
        <p:spPr>
          <a:xfrm>
            <a:off x="7391400" y="2414588"/>
            <a:ext cx="1262063"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FFFF"/>
              </a:buClr>
              <a:buSzPts val="1283"/>
              <a:buFont typeface="Open Sans"/>
              <a:buNone/>
            </a:pPr>
            <a:r>
              <a:rPr b="0" i="0" lang="en-US" sz="1283" u="none" cap="none" strike="noStrike">
                <a:solidFill>
                  <a:srgbClr val="FFFFFF"/>
                </a:solidFill>
                <a:latin typeface="Open Sans"/>
                <a:ea typeface="Open Sans"/>
                <a:cs typeface="Open Sans"/>
                <a:sym typeface="Open Sans"/>
              </a:rPr>
              <a:t/>
            </a:r>
            <a:endParaRPr b="0" i="0" sz="1283" u="none" cap="none" strike="noStrike">
              <a:solidFill>
                <a:schemeClr val="dk1"/>
              </a:solidFill>
              <a:latin typeface="Calibri"/>
              <a:ea typeface="Calibri"/>
              <a:cs typeface="Calibri"/>
              <a:sym typeface="Calibri"/>
            </a:endParaRPr>
          </a:p>
        </p:txBody>
      </p:sp>
      <p:sp>
        <p:nvSpPr>
          <p:cNvPr id="84" name="Google Shape;84;p4"/>
          <p:cNvSpPr/>
          <p:nvPr/>
        </p:nvSpPr>
        <p:spPr>
          <a:xfrm>
            <a:off x="7391400" y="2657475"/>
            <a:ext cx="1262063"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sp>
        <p:nvSpPr>
          <p:cNvPr id="85" name="Google Shape;85;p4"/>
          <p:cNvSpPr/>
          <p:nvPr/>
        </p:nvSpPr>
        <p:spPr>
          <a:xfrm>
            <a:off x="7391400" y="2952750"/>
            <a:ext cx="1262063" cy="3905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4"/>
          <p:cNvSpPr/>
          <p:nvPr/>
        </p:nvSpPr>
        <p:spPr>
          <a:xfrm>
            <a:off x="7391400" y="2952750"/>
            <a:ext cx="1262063"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FFFF"/>
              </a:buClr>
              <a:buSzPts val="1283"/>
              <a:buFont typeface="Open Sans"/>
              <a:buNone/>
            </a:pPr>
            <a:r>
              <a:rPr b="0" i="0" lang="en-US" sz="1283" u="none" cap="none" strike="noStrike">
                <a:solidFill>
                  <a:srgbClr val="FFFFFF"/>
                </a:solidFill>
                <a:latin typeface="Open Sans"/>
                <a:ea typeface="Open Sans"/>
                <a:cs typeface="Open Sans"/>
                <a:sym typeface="Open Sans"/>
              </a:rPr>
              <a:t/>
            </a:r>
            <a:endParaRPr b="0" i="0" sz="1283" u="none" cap="none" strike="noStrike">
              <a:solidFill>
                <a:schemeClr val="dk1"/>
              </a:solidFill>
              <a:latin typeface="Calibri"/>
              <a:ea typeface="Calibri"/>
              <a:cs typeface="Calibri"/>
              <a:sym typeface="Calibri"/>
            </a:endParaRPr>
          </a:p>
        </p:txBody>
      </p:sp>
      <p:sp>
        <p:nvSpPr>
          <p:cNvPr id="87" name="Google Shape;87;p4"/>
          <p:cNvSpPr/>
          <p:nvPr/>
        </p:nvSpPr>
        <p:spPr>
          <a:xfrm>
            <a:off x="7391400" y="3195638"/>
            <a:ext cx="1262063"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sp>
        <p:nvSpPr>
          <p:cNvPr id="88" name="Google Shape;88;p4"/>
          <p:cNvSpPr/>
          <p:nvPr/>
        </p:nvSpPr>
        <p:spPr>
          <a:xfrm>
            <a:off x="7391400" y="3490913"/>
            <a:ext cx="1262063" cy="3905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4"/>
          <p:cNvSpPr/>
          <p:nvPr/>
        </p:nvSpPr>
        <p:spPr>
          <a:xfrm>
            <a:off x="7391400" y="3490913"/>
            <a:ext cx="1262063"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FFFF"/>
              </a:buClr>
              <a:buSzPts val="1283"/>
              <a:buFont typeface="Open Sans"/>
              <a:buNone/>
            </a:pPr>
            <a:r>
              <a:rPr b="0" i="0" lang="en-US" sz="1283" u="none" cap="none" strike="noStrike">
                <a:solidFill>
                  <a:srgbClr val="FFFFFF"/>
                </a:solidFill>
                <a:latin typeface="Open Sans"/>
                <a:ea typeface="Open Sans"/>
                <a:cs typeface="Open Sans"/>
                <a:sym typeface="Open Sans"/>
              </a:rPr>
              <a:t/>
            </a:r>
            <a:endParaRPr b="0" i="0" sz="1283" u="none" cap="none" strike="noStrike">
              <a:solidFill>
                <a:schemeClr val="dk1"/>
              </a:solidFill>
              <a:latin typeface="Calibri"/>
              <a:ea typeface="Calibri"/>
              <a:cs typeface="Calibri"/>
              <a:sym typeface="Calibri"/>
            </a:endParaRPr>
          </a:p>
        </p:txBody>
      </p:sp>
      <p:sp>
        <p:nvSpPr>
          <p:cNvPr id="90" name="Google Shape;90;p4"/>
          <p:cNvSpPr/>
          <p:nvPr/>
        </p:nvSpPr>
        <p:spPr>
          <a:xfrm>
            <a:off x="7391400" y="3733800"/>
            <a:ext cx="1262063"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pic>
        <p:nvPicPr>
          <p:cNvPr descr="preencoded.png" id="91" name="Google Shape;91;p4"/>
          <p:cNvPicPr preferRelativeResize="0"/>
          <p:nvPr/>
        </p:nvPicPr>
        <p:blipFill rotWithShape="1">
          <a:blip r:embed="rId3">
            <a:alphaModFix/>
          </a:blip>
          <a:srcRect b="0" l="0" r="0" t="0"/>
          <a:stretch/>
        </p:blipFill>
        <p:spPr>
          <a:xfrm>
            <a:off x="7915275" y="200025"/>
            <a:ext cx="752475" cy="147638"/>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6" name="Shape 96"/>
        <p:cNvGrpSpPr/>
        <p:nvPr/>
      </p:nvGrpSpPr>
      <p:grpSpPr>
        <a:xfrm>
          <a:off x="0" y="0"/>
          <a:ext cx="0" cy="0"/>
          <a:chOff x="0" y="0"/>
          <a:chExt cx="0" cy="0"/>
        </a:xfrm>
      </p:grpSpPr>
      <p:sp>
        <p:nvSpPr>
          <p:cNvPr id="97" name="Google Shape;97;p5"/>
          <p:cNvSpPr/>
          <p:nvPr/>
        </p:nvSpPr>
        <p:spPr>
          <a:xfrm>
            <a:off x="385763" y="3157538"/>
            <a:ext cx="2690813" cy="1433513"/>
          </a:xfrm>
          <a:prstGeom prst="rect">
            <a:avLst/>
          </a:prstGeom>
          <a:solidFill>
            <a:srgbClr val="EDE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5"/>
          <p:cNvSpPr/>
          <p:nvPr/>
        </p:nvSpPr>
        <p:spPr>
          <a:xfrm>
            <a:off x="3186113" y="3157538"/>
            <a:ext cx="2690813" cy="1433513"/>
          </a:xfrm>
          <a:prstGeom prst="rect">
            <a:avLst/>
          </a:prstGeom>
          <a:solidFill>
            <a:srgbClr val="EDE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5"/>
          <p:cNvSpPr/>
          <p:nvPr/>
        </p:nvSpPr>
        <p:spPr>
          <a:xfrm>
            <a:off x="5967413" y="3157538"/>
            <a:ext cx="2690813" cy="1433513"/>
          </a:xfrm>
          <a:prstGeom prst="rect">
            <a:avLst/>
          </a:prstGeom>
          <a:solidFill>
            <a:srgbClr val="EDE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5"/>
          <p:cNvSpPr/>
          <p:nvPr/>
        </p:nvSpPr>
        <p:spPr>
          <a:xfrm>
            <a:off x="476250" y="1019175"/>
            <a:ext cx="8177213"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Three Data Channels → EverMemOS</a:t>
            </a:r>
            <a:endParaRPr b="0" i="0" sz="2850" u="none" cap="none" strike="noStrike">
              <a:solidFill>
                <a:schemeClr val="dk1"/>
              </a:solidFill>
              <a:latin typeface="Calibri"/>
              <a:ea typeface="Calibri"/>
              <a:cs typeface="Calibri"/>
              <a:sym typeface="Calibri"/>
            </a:endParaRPr>
          </a:p>
        </p:txBody>
      </p:sp>
      <p:sp>
        <p:nvSpPr>
          <p:cNvPr id="101" name="Google Shape;101;p5"/>
          <p:cNvSpPr/>
          <p:nvPr/>
        </p:nvSpPr>
        <p:spPr>
          <a:xfrm>
            <a:off x="476250" y="219075"/>
            <a:ext cx="5429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7A7A7A"/>
              </a:buClr>
              <a:buSzPts val="713"/>
              <a:buFont typeface="Open Sans"/>
              <a:buNone/>
            </a:pPr>
            <a:r>
              <a:rPr b="1" i="0" lang="en-US" sz="713" u="none" cap="none" strike="noStrike">
                <a:solidFill>
                  <a:srgbClr val="7A7A7A"/>
                </a:solidFill>
                <a:latin typeface="Open Sans"/>
                <a:ea typeface="Open Sans"/>
                <a:cs typeface="Open Sans"/>
                <a:sym typeface="Open Sans"/>
              </a:rPr>
              <a:t>SLIDE TITLE</a:t>
            </a:r>
            <a:endParaRPr b="0" i="0" sz="713" u="none" cap="none" strike="noStrike">
              <a:solidFill>
                <a:schemeClr val="dk1"/>
              </a:solidFill>
              <a:latin typeface="Calibri"/>
              <a:ea typeface="Calibri"/>
              <a:cs typeface="Calibri"/>
              <a:sym typeface="Calibri"/>
            </a:endParaRPr>
          </a:p>
        </p:txBody>
      </p:sp>
      <p:cxnSp>
        <p:nvCxnSpPr>
          <p:cNvPr id="102" name="Google Shape;102;p5"/>
          <p:cNvCxnSpPr/>
          <p:nvPr/>
        </p:nvCxnSpPr>
        <p:spPr>
          <a:xfrm>
            <a:off x="476250" y="476250"/>
            <a:ext cx="8177213" cy="0"/>
          </a:xfrm>
          <a:prstGeom prst="straightConnector1">
            <a:avLst/>
          </a:prstGeom>
          <a:noFill/>
          <a:ln cap="flat" cmpd="sng" w="9525">
            <a:solidFill>
              <a:srgbClr val="7A7A7A"/>
            </a:solidFill>
            <a:prstDash val="solid"/>
            <a:round/>
            <a:headEnd len="sm" w="sm" type="none"/>
            <a:tailEnd len="sm" w="sm" type="none"/>
          </a:ln>
        </p:spPr>
      </p:cxnSp>
      <p:sp>
        <p:nvSpPr>
          <p:cNvPr id="103" name="Google Shape;103;p5"/>
          <p:cNvSpPr/>
          <p:nvPr/>
        </p:nvSpPr>
        <p:spPr>
          <a:xfrm>
            <a:off x="481012" y="2019300"/>
            <a:ext cx="2633663" cy="24288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5"/>
          <p:cNvSpPr/>
          <p:nvPr/>
        </p:nvSpPr>
        <p:spPr>
          <a:xfrm>
            <a:off x="481012" y="2019300"/>
            <a:ext cx="2633663" cy="76676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5"/>
          <p:cNvSpPr/>
          <p:nvPr/>
        </p:nvSpPr>
        <p:spPr>
          <a:xfrm>
            <a:off x="481012" y="2019300"/>
            <a:ext cx="2609850"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Coherence Checks</a:t>
            </a:r>
            <a:endParaRPr b="0" i="0" sz="1283" u="none" cap="none" strike="noStrike">
              <a:solidFill>
                <a:schemeClr val="dk1"/>
              </a:solidFill>
              <a:latin typeface="Calibri"/>
              <a:ea typeface="Calibri"/>
              <a:cs typeface="Calibri"/>
              <a:sym typeface="Calibri"/>
            </a:endParaRPr>
          </a:p>
        </p:txBody>
      </p:sp>
      <p:sp>
        <p:nvSpPr>
          <p:cNvPr id="106" name="Google Shape;106;p5"/>
          <p:cNvSpPr/>
          <p:nvPr/>
        </p:nvSpPr>
        <p:spPr>
          <a:xfrm>
            <a:off x="481012" y="2343150"/>
            <a:ext cx="2633663" cy="442913"/>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7-factor psychological snapshots scored 1-10, tagged by phase &amp; tier. 16th handler on 15-handler EventBus.</a:t>
            </a:r>
            <a:endParaRPr b="0" i="0" sz="855" u="none" cap="none" strike="noStrike">
              <a:solidFill>
                <a:schemeClr val="dk1"/>
              </a:solidFill>
              <a:latin typeface="Calibri"/>
              <a:ea typeface="Calibri"/>
              <a:cs typeface="Calibri"/>
              <a:sym typeface="Calibri"/>
            </a:endParaRPr>
          </a:p>
        </p:txBody>
      </p:sp>
      <p:sp>
        <p:nvSpPr>
          <p:cNvPr id="107" name="Google Shape;107;p5"/>
          <p:cNvSpPr/>
          <p:nvPr/>
        </p:nvSpPr>
        <p:spPr>
          <a:xfrm>
            <a:off x="481012" y="3262313"/>
            <a:ext cx="2633663" cy="118586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5"/>
          <p:cNvSpPr/>
          <p:nvPr/>
        </p:nvSpPr>
        <p:spPr>
          <a:xfrm>
            <a:off x="481012" y="3262313"/>
            <a:ext cx="2609850"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CHANNEL 1: EVENTBUS</a:t>
            </a:r>
            <a:endParaRPr b="0" i="0" sz="713" u="none" cap="none" strike="noStrike">
              <a:solidFill>
                <a:schemeClr val="dk1"/>
              </a:solidFill>
              <a:latin typeface="Calibri"/>
              <a:ea typeface="Calibri"/>
              <a:cs typeface="Calibri"/>
              <a:sym typeface="Calibri"/>
            </a:endParaRPr>
          </a:p>
        </p:txBody>
      </p:sp>
      <p:sp>
        <p:nvSpPr>
          <p:cNvPr id="109" name="Google Shape;109;p5"/>
          <p:cNvSpPr/>
          <p:nvPr/>
        </p:nvSpPr>
        <p:spPr>
          <a:xfrm>
            <a:off x="481012" y="3495675"/>
            <a:ext cx="2633663" cy="95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DABC2"/>
              </a:buClr>
              <a:buSzPts val="7125"/>
              <a:buFont typeface="Neuton"/>
              <a:buNone/>
            </a:pPr>
            <a:r>
              <a:rPr b="0" i="0" lang="en-US" sz="7125" u="none" cap="none" strike="noStrike">
                <a:solidFill>
                  <a:srgbClr val="2DABC2"/>
                </a:solidFill>
                <a:latin typeface="Neuton"/>
                <a:ea typeface="Neuton"/>
                <a:cs typeface="Neuton"/>
                <a:sym typeface="Neuton"/>
              </a:rPr>
              <a:t>7</a:t>
            </a:r>
            <a:endParaRPr b="0" i="0" sz="7125" u="none" cap="none" strike="noStrike">
              <a:solidFill>
                <a:schemeClr val="dk1"/>
              </a:solidFill>
              <a:latin typeface="Calibri"/>
              <a:ea typeface="Calibri"/>
              <a:cs typeface="Calibri"/>
              <a:sym typeface="Calibri"/>
            </a:endParaRPr>
          </a:p>
        </p:txBody>
      </p:sp>
      <p:sp>
        <p:nvSpPr>
          <p:cNvPr id="110" name="Google Shape;110;p5"/>
          <p:cNvSpPr/>
          <p:nvPr/>
        </p:nvSpPr>
        <p:spPr>
          <a:xfrm>
            <a:off x="3257550" y="2019300"/>
            <a:ext cx="2638425" cy="24288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3257550" y="2019300"/>
            <a:ext cx="2638425" cy="76676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5"/>
          <p:cNvSpPr/>
          <p:nvPr/>
        </p:nvSpPr>
        <p:spPr>
          <a:xfrm>
            <a:off x="3257550" y="2019300"/>
            <a:ext cx="2638425"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Council Deliberations</a:t>
            </a:r>
            <a:endParaRPr b="0" i="0" sz="1283" u="none" cap="none" strike="noStrike">
              <a:solidFill>
                <a:schemeClr val="dk1"/>
              </a:solidFill>
              <a:latin typeface="Calibri"/>
              <a:ea typeface="Calibri"/>
              <a:cs typeface="Calibri"/>
              <a:sym typeface="Calibri"/>
            </a:endParaRPr>
          </a:p>
        </p:txBody>
      </p:sp>
      <p:sp>
        <p:nvSpPr>
          <p:cNvPr id="113" name="Google Shape;113;p5"/>
          <p:cNvSpPr/>
          <p:nvPr/>
        </p:nvSpPr>
        <p:spPr>
          <a:xfrm>
            <a:off x="3257550" y="2343150"/>
            <a:ext cx="2638425" cy="442913"/>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Which archetypes spoke, synthesis, convergence signal, user resonance. Fire-and-forget.</a:t>
            </a:r>
            <a:endParaRPr b="0" i="0" sz="855" u="none" cap="none" strike="noStrike">
              <a:solidFill>
                <a:schemeClr val="dk1"/>
              </a:solidFill>
              <a:latin typeface="Calibri"/>
              <a:ea typeface="Calibri"/>
              <a:cs typeface="Calibri"/>
              <a:sym typeface="Calibri"/>
            </a:endParaRPr>
          </a:p>
        </p:txBody>
      </p:sp>
      <p:sp>
        <p:nvSpPr>
          <p:cNvPr id="114" name="Google Shape;114;p5"/>
          <p:cNvSpPr/>
          <p:nvPr/>
        </p:nvSpPr>
        <p:spPr>
          <a:xfrm>
            <a:off x="3257550" y="3262313"/>
            <a:ext cx="2638425" cy="118586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3257550" y="3262313"/>
            <a:ext cx="2614613"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CHANNEL 2: PER-ROUTE</a:t>
            </a:r>
            <a:endParaRPr b="0" i="0" sz="713" u="none" cap="none" strike="noStrike">
              <a:solidFill>
                <a:schemeClr val="dk1"/>
              </a:solidFill>
              <a:latin typeface="Calibri"/>
              <a:ea typeface="Calibri"/>
              <a:cs typeface="Calibri"/>
              <a:sym typeface="Calibri"/>
            </a:endParaRPr>
          </a:p>
        </p:txBody>
      </p:sp>
      <p:sp>
        <p:nvSpPr>
          <p:cNvPr id="116" name="Google Shape;116;p5"/>
          <p:cNvSpPr/>
          <p:nvPr/>
        </p:nvSpPr>
        <p:spPr>
          <a:xfrm>
            <a:off x="3257550" y="3495675"/>
            <a:ext cx="2638425" cy="95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DABC2"/>
              </a:buClr>
              <a:buSzPts val="7125"/>
              <a:buFont typeface="Neuton"/>
              <a:buNone/>
            </a:pPr>
            <a:r>
              <a:rPr b="0" i="0" lang="en-US" sz="7125" u="none" cap="none" strike="noStrike">
                <a:solidFill>
                  <a:srgbClr val="2DABC2"/>
                </a:solidFill>
                <a:latin typeface="Neuton"/>
                <a:ea typeface="Neuton"/>
                <a:cs typeface="Neuton"/>
                <a:sym typeface="Neuton"/>
              </a:rPr>
              <a:t>12</a:t>
            </a:r>
            <a:endParaRPr b="0" i="0" sz="7125" u="none" cap="none" strike="noStrike">
              <a:solidFill>
                <a:schemeClr val="dk1"/>
              </a:solidFill>
              <a:latin typeface="Calibri"/>
              <a:ea typeface="Calibri"/>
              <a:cs typeface="Calibri"/>
              <a:sym typeface="Calibri"/>
            </a:endParaRPr>
          </a:p>
        </p:txBody>
      </p:sp>
      <p:sp>
        <p:nvSpPr>
          <p:cNvPr id="117" name="Google Shape;117;p5"/>
          <p:cNvSpPr/>
          <p:nvPr/>
        </p:nvSpPr>
        <p:spPr>
          <a:xfrm>
            <a:off x="6038850" y="2019300"/>
            <a:ext cx="2619375" cy="24288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5"/>
          <p:cNvSpPr/>
          <p:nvPr/>
        </p:nvSpPr>
        <p:spPr>
          <a:xfrm>
            <a:off x="6038850" y="2019300"/>
            <a:ext cx="2619375" cy="76676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5"/>
          <p:cNvSpPr/>
          <p:nvPr/>
        </p:nvSpPr>
        <p:spPr>
          <a:xfrm>
            <a:off x="6038850" y="2019300"/>
            <a:ext cx="2619375"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Threshold Moments</a:t>
            </a:r>
            <a:endParaRPr b="0" i="0" sz="1283" u="none" cap="none" strike="noStrike">
              <a:solidFill>
                <a:schemeClr val="dk1"/>
              </a:solidFill>
              <a:latin typeface="Calibri"/>
              <a:ea typeface="Calibri"/>
              <a:cs typeface="Calibri"/>
              <a:sym typeface="Calibri"/>
            </a:endParaRPr>
          </a:p>
        </p:txBody>
      </p:sp>
      <p:sp>
        <p:nvSpPr>
          <p:cNvPr id="120" name="Google Shape;120;p5"/>
          <p:cNvSpPr/>
          <p:nvPr/>
        </p:nvSpPr>
        <p:spPr>
          <a:xfrm>
            <a:off x="6038850" y="2343150"/>
            <a:ext cx="2600325" cy="442913"/>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Motifs, polarities, shadow elements, coherence snapshot. The raw material of transformation.</a:t>
            </a:r>
            <a:endParaRPr b="0" i="0" sz="855" u="none" cap="none" strike="noStrike">
              <a:solidFill>
                <a:schemeClr val="dk1"/>
              </a:solidFill>
              <a:latin typeface="Calibri"/>
              <a:ea typeface="Calibri"/>
              <a:cs typeface="Calibri"/>
              <a:sym typeface="Calibri"/>
            </a:endParaRPr>
          </a:p>
        </p:txBody>
      </p:sp>
      <p:sp>
        <p:nvSpPr>
          <p:cNvPr id="121" name="Google Shape;121;p5"/>
          <p:cNvSpPr/>
          <p:nvPr/>
        </p:nvSpPr>
        <p:spPr>
          <a:xfrm>
            <a:off x="6038850" y="3262313"/>
            <a:ext cx="2576513" cy="118586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5"/>
          <p:cNvSpPr/>
          <p:nvPr/>
        </p:nvSpPr>
        <p:spPr>
          <a:xfrm>
            <a:off x="6038850" y="3262313"/>
            <a:ext cx="2576513"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CHANNEL 3: PER-ROUTE</a:t>
            </a:r>
            <a:endParaRPr b="0" i="0" sz="713" u="none" cap="none" strike="noStrike">
              <a:solidFill>
                <a:schemeClr val="dk1"/>
              </a:solidFill>
              <a:latin typeface="Calibri"/>
              <a:ea typeface="Calibri"/>
              <a:cs typeface="Calibri"/>
              <a:sym typeface="Calibri"/>
            </a:endParaRPr>
          </a:p>
        </p:txBody>
      </p:sp>
      <p:sp>
        <p:nvSpPr>
          <p:cNvPr id="123" name="Google Shape;123;p5"/>
          <p:cNvSpPr/>
          <p:nvPr/>
        </p:nvSpPr>
        <p:spPr>
          <a:xfrm>
            <a:off x="6038850" y="3495675"/>
            <a:ext cx="2576513" cy="95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DABC2"/>
              </a:buClr>
              <a:buSzPts val="7125"/>
              <a:buFont typeface="Neuton"/>
              <a:buNone/>
            </a:pPr>
            <a:r>
              <a:rPr b="0" i="0" lang="en-US" sz="7125" u="none" cap="none" strike="noStrike">
                <a:solidFill>
                  <a:srgbClr val="2DABC2"/>
                </a:solidFill>
                <a:latin typeface="Neuton"/>
                <a:ea typeface="Neuton"/>
                <a:cs typeface="Neuton"/>
                <a:sym typeface="Neuton"/>
              </a:rPr>
              <a:t>∞</a:t>
            </a:r>
            <a:endParaRPr b="0" i="0" sz="7125" u="none" cap="none" strike="noStrike">
              <a:solidFill>
                <a:schemeClr val="dk1"/>
              </a:solidFill>
              <a:latin typeface="Calibri"/>
              <a:ea typeface="Calibri"/>
              <a:cs typeface="Calibri"/>
              <a:sym typeface="Calibri"/>
            </a:endParaRPr>
          </a:p>
        </p:txBody>
      </p:sp>
      <p:pic>
        <p:nvPicPr>
          <p:cNvPr descr="preencoded.png" id="124" name="Google Shape;124;p5"/>
          <p:cNvPicPr preferRelativeResize="0"/>
          <p:nvPr/>
        </p:nvPicPr>
        <p:blipFill rotWithShape="1">
          <a:blip r:embed="rId3">
            <a:alphaModFix/>
          </a:blip>
          <a:srcRect b="0" l="0" r="0" t="0"/>
          <a:stretch/>
        </p:blipFill>
        <p:spPr>
          <a:xfrm>
            <a:off x="7905750" y="204788"/>
            <a:ext cx="748308" cy="1428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8D8"/>
        </a:solidFill>
      </p:bgPr>
    </p:bg>
    <p:spTree>
      <p:nvGrpSpPr>
        <p:cNvPr id="129" name="Shape 129"/>
        <p:cNvGrpSpPr/>
        <p:nvPr/>
      </p:nvGrpSpPr>
      <p:grpSpPr>
        <a:xfrm>
          <a:off x="0" y="0"/>
          <a:ext cx="0" cy="0"/>
          <a:chOff x="0" y="0"/>
          <a:chExt cx="0" cy="0"/>
        </a:xfrm>
      </p:grpSpPr>
      <p:sp>
        <p:nvSpPr>
          <p:cNvPr id="130" name="Google Shape;130;p6"/>
          <p:cNvSpPr/>
          <p:nvPr/>
        </p:nvSpPr>
        <p:spPr>
          <a:xfrm>
            <a:off x="476250" y="1019175"/>
            <a:ext cx="1619250" cy="8382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Arc Memory
Live Demo</a:t>
            </a:r>
            <a:endParaRPr b="0" i="0" sz="2850" u="none" cap="none" strike="noStrike">
              <a:solidFill>
                <a:schemeClr val="dk1"/>
              </a:solidFill>
              <a:latin typeface="Calibri"/>
              <a:ea typeface="Calibri"/>
              <a:cs typeface="Calibri"/>
              <a:sym typeface="Calibri"/>
            </a:endParaRPr>
          </a:p>
        </p:txBody>
      </p:sp>
      <p:sp>
        <p:nvSpPr>
          <p:cNvPr id="131" name="Google Shape;131;p6"/>
          <p:cNvSpPr/>
          <p:nvPr/>
        </p:nvSpPr>
        <p:spPr>
          <a:xfrm>
            <a:off x="476250" y="219075"/>
            <a:ext cx="5429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SLIDE TITLE</a:t>
            </a:r>
            <a:endParaRPr b="0" i="0" sz="713" u="none" cap="none" strike="noStrike">
              <a:solidFill>
                <a:schemeClr val="dk1"/>
              </a:solidFill>
              <a:latin typeface="Calibri"/>
              <a:ea typeface="Calibri"/>
              <a:cs typeface="Calibri"/>
              <a:sym typeface="Calibri"/>
            </a:endParaRPr>
          </a:p>
        </p:txBody>
      </p:sp>
      <p:cxnSp>
        <p:nvCxnSpPr>
          <p:cNvPr id="132" name="Google Shape;132;p6"/>
          <p:cNvCxnSpPr/>
          <p:nvPr/>
        </p:nvCxnSpPr>
        <p:spPr>
          <a:xfrm>
            <a:off x="476250" y="476250"/>
            <a:ext cx="8177213" cy="0"/>
          </a:xfrm>
          <a:prstGeom prst="straightConnector1">
            <a:avLst/>
          </a:prstGeom>
          <a:noFill/>
          <a:ln cap="flat" cmpd="sng" w="9525">
            <a:solidFill>
              <a:srgbClr val="000000"/>
            </a:solidFill>
            <a:prstDash val="solid"/>
            <a:round/>
            <a:headEnd len="sm" w="sm" type="none"/>
            <a:tailEnd len="sm" w="sm" type="none"/>
          </a:ln>
        </p:spPr>
      </p:cxnSp>
      <p:pic>
        <p:nvPicPr>
          <p:cNvPr descr="preencoded.png" id="133" name="Google Shape;133;p6"/>
          <p:cNvPicPr preferRelativeResize="0"/>
          <p:nvPr/>
        </p:nvPicPr>
        <p:blipFill rotWithShape="1">
          <a:blip r:embed="rId3">
            <a:alphaModFix/>
          </a:blip>
          <a:srcRect b="0" l="0" r="0" t="0"/>
          <a:stretch/>
        </p:blipFill>
        <p:spPr>
          <a:xfrm>
            <a:off x="2562225" y="1019175"/>
            <a:ext cx="1938337" cy="2566988"/>
          </a:xfrm>
          <a:prstGeom prst="rect">
            <a:avLst/>
          </a:prstGeom>
          <a:noFill/>
          <a:ln>
            <a:noFill/>
          </a:ln>
        </p:spPr>
      </p:pic>
      <p:pic>
        <p:nvPicPr>
          <p:cNvPr descr="preencoded.png" id="134" name="Google Shape;134;p6"/>
          <p:cNvPicPr preferRelativeResize="0"/>
          <p:nvPr/>
        </p:nvPicPr>
        <p:blipFill rotWithShape="1">
          <a:blip r:embed="rId3">
            <a:alphaModFix/>
          </a:blip>
          <a:srcRect b="0" l="0" r="0" t="0"/>
          <a:stretch/>
        </p:blipFill>
        <p:spPr>
          <a:xfrm>
            <a:off x="4648200" y="1019175"/>
            <a:ext cx="1938337" cy="2566988"/>
          </a:xfrm>
          <a:prstGeom prst="rect">
            <a:avLst/>
          </a:prstGeom>
          <a:noFill/>
          <a:ln>
            <a:noFill/>
          </a:ln>
        </p:spPr>
      </p:pic>
      <p:pic>
        <p:nvPicPr>
          <p:cNvPr descr="preencoded.png" id="135" name="Google Shape;135;p6"/>
          <p:cNvPicPr preferRelativeResize="0"/>
          <p:nvPr/>
        </p:nvPicPr>
        <p:blipFill rotWithShape="1">
          <a:blip r:embed="rId3">
            <a:alphaModFix/>
          </a:blip>
          <a:srcRect b="0" l="0" r="0" t="0"/>
          <a:stretch/>
        </p:blipFill>
        <p:spPr>
          <a:xfrm>
            <a:off x="6734175" y="1019175"/>
            <a:ext cx="1938337" cy="2566988"/>
          </a:xfrm>
          <a:prstGeom prst="rect">
            <a:avLst/>
          </a:prstGeom>
          <a:noFill/>
          <a:ln>
            <a:noFill/>
          </a:ln>
        </p:spPr>
      </p:pic>
      <p:sp>
        <p:nvSpPr>
          <p:cNvPr id="136" name="Google Shape;136;p6"/>
          <p:cNvSpPr/>
          <p:nvPr/>
        </p:nvSpPr>
        <p:spPr>
          <a:xfrm>
            <a:off x="2562225" y="3743325"/>
            <a:ext cx="1938337" cy="6762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6"/>
          <p:cNvSpPr/>
          <p:nvPr/>
        </p:nvSpPr>
        <p:spPr>
          <a:xfrm>
            <a:off x="2562225" y="3743325"/>
            <a:ext cx="1938337" cy="6762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6"/>
          <p:cNvSpPr/>
          <p:nvPr/>
        </p:nvSpPr>
        <p:spPr>
          <a:xfrm>
            <a:off x="2562225" y="3743325"/>
            <a:ext cx="1938337"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3310"/>
              </a:buClr>
              <a:buSzPts val="713"/>
              <a:buFont typeface="Open Sans"/>
              <a:buNone/>
            </a:pPr>
            <a:r>
              <a:rPr b="1" i="0" lang="en-US" sz="713" u="none" cap="none" strike="noStrike">
                <a:solidFill>
                  <a:srgbClr val="003310"/>
                </a:solidFill>
                <a:latin typeface="Open Sans"/>
                <a:ea typeface="Open Sans"/>
                <a:cs typeface="Open Sans"/>
                <a:sym typeface="Open Sans"/>
              </a:rPr>
              <a:t>EPISODIC TRACE</a:t>
            </a:r>
            <a:endParaRPr b="0" i="0" sz="713" u="none" cap="none" strike="noStrike">
              <a:solidFill>
                <a:schemeClr val="dk1"/>
              </a:solidFill>
              <a:latin typeface="Calibri"/>
              <a:ea typeface="Calibri"/>
              <a:cs typeface="Calibri"/>
              <a:sym typeface="Calibri"/>
            </a:endParaRPr>
          </a:p>
        </p:txBody>
      </p:sp>
      <p:sp>
        <p:nvSpPr>
          <p:cNvPr id="139" name="Google Shape;139;p6"/>
          <p:cNvSpPr/>
          <p:nvPr/>
        </p:nvSpPr>
        <p:spPr>
          <a:xfrm>
            <a:off x="2562225" y="3976687"/>
            <a:ext cx="1938337" cy="442913"/>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3310"/>
              </a:buClr>
              <a:buSzPts val="855"/>
              <a:buFont typeface="Open Sans"/>
              <a:buNone/>
            </a:pPr>
            <a:r>
              <a:rPr b="0" i="0" lang="en-US" sz="855" u="none" cap="none" strike="noStrike">
                <a:solidFill>
                  <a:srgbClr val="003310"/>
                </a:solidFill>
                <a:latin typeface="Open Sans"/>
                <a:ea typeface="Open Sans"/>
                <a:cs typeface="Open Sans"/>
                <a:sym typeface="Open Sans"/>
              </a:rPr>
              <a:t>Raw MemCells stored from all 3 channels over weeks and months.</a:t>
            </a:r>
            <a:endParaRPr b="0" i="0" sz="855" u="none" cap="none" strike="noStrike">
              <a:solidFill>
                <a:schemeClr val="dk1"/>
              </a:solidFill>
              <a:latin typeface="Calibri"/>
              <a:ea typeface="Calibri"/>
              <a:cs typeface="Calibri"/>
              <a:sym typeface="Calibri"/>
            </a:endParaRPr>
          </a:p>
        </p:txBody>
      </p:sp>
      <p:sp>
        <p:nvSpPr>
          <p:cNvPr id="140" name="Google Shape;140;p6"/>
          <p:cNvSpPr/>
          <p:nvPr/>
        </p:nvSpPr>
        <p:spPr>
          <a:xfrm>
            <a:off x="4648200" y="3743325"/>
            <a:ext cx="1938337" cy="6762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6"/>
          <p:cNvSpPr/>
          <p:nvPr/>
        </p:nvSpPr>
        <p:spPr>
          <a:xfrm>
            <a:off x="4648200" y="3743325"/>
            <a:ext cx="1938337" cy="6762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6"/>
          <p:cNvSpPr/>
          <p:nvPr/>
        </p:nvSpPr>
        <p:spPr>
          <a:xfrm>
            <a:off x="4648200" y="3743325"/>
            <a:ext cx="1938337"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3310"/>
              </a:buClr>
              <a:buSzPts val="713"/>
              <a:buFont typeface="Open Sans"/>
              <a:buNone/>
            </a:pPr>
            <a:r>
              <a:rPr b="1" i="0" lang="en-US" sz="713" u="none" cap="none" strike="noStrike">
                <a:solidFill>
                  <a:srgbClr val="003310"/>
                </a:solidFill>
                <a:latin typeface="Open Sans"/>
                <a:ea typeface="Open Sans"/>
                <a:cs typeface="Open Sans"/>
                <a:sym typeface="Open Sans"/>
              </a:rPr>
              <a:t>SEMANTIC CONSOLIDATION</a:t>
            </a:r>
            <a:endParaRPr b="0" i="0" sz="713" u="none" cap="none" strike="noStrike">
              <a:solidFill>
                <a:schemeClr val="dk1"/>
              </a:solidFill>
              <a:latin typeface="Calibri"/>
              <a:ea typeface="Calibri"/>
              <a:cs typeface="Calibri"/>
              <a:sym typeface="Calibri"/>
            </a:endParaRPr>
          </a:p>
        </p:txBody>
      </p:sp>
      <p:sp>
        <p:nvSpPr>
          <p:cNvPr id="143" name="Google Shape;143;p6"/>
          <p:cNvSpPr/>
          <p:nvPr/>
        </p:nvSpPr>
        <p:spPr>
          <a:xfrm>
            <a:off x="4648200" y="3976687"/>
            <a:ext cx="1938337" cy="442913"/>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3310"/>
              </a:buClr>
              <a:buSzPts val="855"/>
              <a:buFont typeface="Open Sans"/>
              <a:buNone/>
            </a:pPr>
            <a:r>
              <a:rPr b="0" i="0" lang="en-US" sz="855" u="none" cap="none" strike="noStrike">
                <a:solidFill>
                  <a:srgbClr val="003310"/>
                </a:solidFill>
                <a:latin typeface="Open Sans"/>
                <a:ea typeface="Open Sans"/>
                <a:cs typeface="Open Sans"/>
                <a:sym typeface="Open Sans"/>
              </a:rPr>
              <a:t>Patterns extracted: sovereignty appeared 4x in 8 weeks.</a:t>
            </a:r>
            <a:endParaRPr b="0" i="0" sz="855" u="none" cap="none" strike="noStrike">
              <a:solidFill>
                <a:schemeClr val="dk1"/>
              </a:solidFill>
              <a:latin typeface="Calibri"/>
              <a:ea typeface="Calibri"/>
              <a:cs typeface="Calibri"/>
              <a:sym typeface="Calibri"/>
            </a:endParaRPr>
          </a:p>
        </p:txBody>
      </p:sp>
      <p:sp>
        <p:nvSpPr>
          <p:cNvPr id="144" name="Google Shape;144;p6"/>
          <p:cNvSpPr/>
          <p:nvPr/>
        </p:nvSpPr>
        <p:spPr>
          <a:xfrm>
            <a:off x="6734175" y="3743325"/>
            <a:ext cx="1938337" cy="914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6"/>
          <p:cNvSpPr/>
          <p:nvPr/>
        </p:nvSpPr>
        <p:spPr>
          <a:xfrm>
            <a:off x="6734175" y="3743325"/>
            <a:ext cx="1938337" cy="9144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6"/>
          <p:cNvSpPr/>
          <p:nvPr/>
        </p:nvSpPr>
        <p:spPr>
          <a:xfrm>
            <a:off x="6734175" y="3743325"/>
            <a:ext cx="1938337"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3310"/>
              </a:buClr>
              <a:buSzPts val="713"/>
              <a:buFont typeface="Open Sans"/>
              <a:buNone/>
            </a:pPr>
            <a:r>
              <a:rPr b="1" i="0" lang="en-US" sz="713" u="none" cap="none" strike="noStrike">
                <a:solidFill>
                  <a:srgbClr val="003310"/>
                </a:solidFill>
                <a:latin typeface="Open Sans"/>
                <a:ea typeface="Open Sans"/>
                <a:cs typeface="Open Sans"/>
                <a:sym typeface="Open Sans"/>
              </a:rPr>
              <a:t>RECONSTRUCTIVE RECOLLECTION</a:t>
            </a:r>
            <a:endParaRPr b="0" i="0" sz="713" u="none" cap="none" strike="noStrike">
              <a:solidFill>
                <a:schemeClr val="dk1"/>
              </a:solidFill>
              <a:latin typeface="Calibri"/>
              <a:ea typeface="Calibri"/>
              <a:cs typeface="Calibri"/>
              <a:sym typeface="Calibri"/>
            </a:endParaRPr>
          </a:p>
        </p:txBody>
      </p:sp>
      <p:sp>
        <p:nvSpPr>
          <p:cNvPr id="147" name="Google Shape;147;p6"/>
          <p:cNvSpPr/>
          <p:nvPr/>
        </p:nvSpPr>
        <p:spPr>
          <a:xfrm>
            <a:off x="6734175" y="3976687"/>
            <a:ext cx="1938337" cy="6810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Agentic retrieval reconstructs transformation narrative.</a:t>
            </a:r>
            <a:endParaRPr b="0" i="0" sz="855" u="none" cap="none" strike="noStrike">
              <a:solidFill>
                <a:schemeClr val="dk1"/>
              </a:solidFill>
              <a:latin typeface="Calibri"/>
              <a:ea typeface="Calibri"/>
              <a:cs typeface="Calibri"/>
              <a:sym typeface="Calibri"/>
            </a:endParaRPr>
          </a:p>
        </p:txBody>
      </p:sp>
      <p:pic>
        <p:nvPicPr>
          <p:cNvPr descr="preencoded.png" id="148" name="Google Shape;148;p6"/>
          <p:cNvPicPr preferRelativeResize="0"/>
          <p:nvPr/>
        </p:nvPicPr>
        <p:blipFill rotWithShape="1">
          <a:blip r:embed="rId4">
            <a:alphaModFix/>
          </a:blip>
          <a:srcRect b="0" l="0" r="0" t="0"/>
          <a:stretch/>
        </p:blipFill>
        <p:spPr>
          <a:xfrm>
            <a:off x="7905750" y="204788"/>
            <a:ext cx="748308" cy="1428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3" name="Shape 153"/>
        <p:cNvGrpSpPr/>
        <p:nvPr/>
      </p:nvGrpSpPr>
      <p:grpSpPr>
        <a:xfrm>
          <a:off x="0" y="0"/>
          <a:ext cx="0" cy="0"/>
          <a:chOff x="0" y="0"/>
          <a:chExt cx="0" cy="0"/>
        </a:xfrm>
      </p:grpSpPr>
      <p:sp>
        <p:nvSpPr>
          <p:cNvPr id="154" name="Google Shape;154;p7"/>
          <p:cNvSpPr/>
          <p:nvPr/>
        </p:nvSpPr>
        <p:spPr>
          <a:xfrm>
            <a:off x="476250" y="4638675"/>
            <a:ext cx="8191500" cy="152400"/>
          </a:xfrm>
          <a:prstGeom prst="rect">
            <a:avLst/>
          </a:prstGeom>
          <a:solidFill>
            <a:srgbClr val="FFC53D"/>
          </a:solidFill>
          <a:ln cap="flat" cmpd="sng" w="12700">
            <a:solidFill>
              <a:srgbClr val="2DABC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7"/>
          <p:cNvSpPr/>
          <p:nvPr/>
        </p:nvSpPr>
        <p:spPr>
          <a:xfrm>
            <a:off x="476250" y="1019175"/>
            <a:ext cx="2709863"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Architecture</a:t>
            </a:r>
            <a:endParaRPr b="0" i="0" sz="2850" u="none" cap="none" strike="noStrike">
              <a:solidFill>
                <a:schemeClr val="dk1"/>
              </a:solidFill>
              <a:latin typeface="Calibri"/>
              <a:ea typeface="Calibri"/>
              <a:cs typeface="Calibri"/>
              <a:sym typeface="Calibri"/>
            </a:endParaRPr>
          </a:p>
        </p:txBody>
      </p:sp>
      <p:sp>
        <p:nvSpPr>
          <p:cNvPr id="156" name="Google Shape;156;p7"/>
          <p:cNvSpPr/>
          <p:nvPr/>
        </p:nvSpPr>
        <p:spPr>
          <a:xfrm>
            <a:off x="3333750" y="1323975"/>
            <a:ext cx="695325" cy="204788"/>
          </a:xfrm>
          <a:prstGeom prst="roundRect">
            <a:avLst>
              <a:gd fmla="val 178604" name="adj"/>
            </a:avLst>
          </a:prstGeom>
          <a:solidFill>
            <a:srgbClr val="FFC5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7"/>
          <p:cNvSpPr/>
          <p:nvPr/>
        </p:nvSpPr>
        <p:spPr>
          <a:xfrm>
            <a:off x="3486150" y="1371600"/>
            <a:ext cx="390525" cy="109538"/>
          </a:xfrm>
          <a:prstGeom prst="rect">
            <a:avLst/>
          </a:prstGeom>
          <a:noFill/>
          <a:ln>
            <a:noFill/>
          </a:ln>
        </p:spPr>
        <p:txBody>
          <a:bodyPr anchorCtr="0" anchor="ctr" bIns="0" lIns="0" spcFirstLastPara="1" rIns="0" wrap="square" tIns="0">
            <a:noAutofit/>
          </a:bodyPr>
          <a:lstStyle/>
          <a:p>
            <a:pPr indent="0" lvl="0" marL="0" marR="0" rtl="0" algn="l">
              <a:lnSpc>
                <a:spcPct val="130109"/>
              </a:lnSpc>
              <a:spcBef>
                <a:spcPts val="0"/>
              </a:spcBef>
              <a:spcAft>
                <a:spcPts val="0"/>
              </a:spcAft>
              <a:buClr>
                <a:srgbClr val="000000"/>
              </a:buClr>
              <a:buSzPts val="641"/>
              <a:buFont typeface="Open Sans"/>
              <a:buNone/>
            </a:pPr>
            <a:r>
              <a:rPr b="0" i="0" lang="en-US" sz="641" u="none" cap="none" strike="noStrike">
                <a:solidFill>
                  <a:srgbClr val="000000"/>
                </a:solidFill>
                <a:latin typeface="Open Sans"/>
                <a:ea typeface="Open Sans"/>
                <a:cs typeface="Open Sans"/>
                <a:sym typeface="Open Sans"/>
              </a:rPr>
              <a:t>Complete</a:t>
            </a:r>
            <a:endParaRPr b="0" i="0" sz="641" u="none" cap="none" strike="noStrike">
              <a:solidFill>
                <a:schemeClr val="dk1"/>
              </a:solidFill>
              <a:latin typeface="Calibri"/>
              <a:ea typeface="Calibri"/>
              <a:cs typeface="Calibri"/>
              <a:sym typeface="Calibri"/>
            </a:endParaRPr>
          </a:p>
        </p:txBody>
      </p:sp>
      <p:sp>
        <p:nvSpPr>
          <p:cNvPr id="158" name="Google Shape;158;p7"/>
          <p:cNvSpPr/>
          <p:nvPr/>
        </p:nvSpPr>
        <p:spPr>
          <a:xfrm>
            <a:off x="3333750" y="2414588"/>
            <a:ext cx="695325" cy="204788"/>
          </a:xfrm>
          <a:prstGeom prst="roundRect">
            <a:avLst>
              <a:gd fmla="val 178604" name="adj"/>
            </a:avLst>
          </a:prstGeom>
          <a:solidFill>
            <a:srgbClr val="2DAB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7"/>
          <p:cNvSpPr/>
          <p:nvPr/>
        </p:nvSpPr>
        <p:spPr>
          <a:xfrm>
            <a:off x="3455194" y="2462213"/>
            <a:ext cx="452438" cy="109538"/>
          </a:xfrm>
          <a:prstGeom prst="rect">
            <a:avLst/>
          </a:prstGeom>
          <a:noFill/>
          <a:ln>
            <a:noFill/>
          </a:ln>
        </p:spPr>
        <p:txBody>
          <a:bodyPr anchorCtr="0" anchor="ctr" bIns="0" lIns="0" spcFirstLastPara="1" rIns="0" wrap="square" tIns="0">
            <a:noAutofit/>
          </a:bodyPr>
          <a:lstStyle/>
          <a:p>
            <a:pPr indent="0" lvl="0" marL="0" marR="0" rtl="0" algn="l">
              <a:lnSpc>
                <a:spcPct val="130109"/>
              </a:lnSpc>
              <a:spcBef>
                <a:spcPts val="0"/>
              </a:spcBef>
              <a:spcAft>
                <a:spcPts val="0"/>
              </a:spcAft>
              <a:buClr>
                <a:srgbClr val="FFFFFF"/>
              </a:buClr>
              <a:buSzPts val="641"/>
              <a:buFont typeface="Open Sans"/>
              <a:buNone/>
            </a:pPr>
            <a:r>
              <a:rPr b="0" i="0" lang="en-US" sz="641" u="none" cap="none" strike="noStrike">
                <a:solidFill>
                  <a:srgbClr val="FFFFFF"/>
                </a:solidFill>
                <a:latin typeface="Open Sans"/>
                <a:ea typeface="Open Sans"/>
                <a:cs typeface="Open Sans"/>
                <a:sym typeface="Open Sans"/>
              </a:rPr>
              <a:t>In Progress</a:t>
            </a:r>
            <a:endParaRPr b="0" i="0" sz="641" u="none" cap="none" strike="noStrike">
              <a:solidFill>
                <a:schemeClr val="dk1"/>
              </a:solidFill>
              <a:latin typeface="Calibri"/>
              <a:ea typeface="Calibri"/>
              <a:cs typeface="Calibri"/>
              <a:sym typeface="Calibri"/>
            </a:endParaRPr>
          </a:p>
        </p:txBody>
      </p:sp>
      <p:sp>
        <p:nvSpPr>
          <p:cNvPr id="160" name="Google Shape;160;p7"/>
          <p:cNvSpPr/>
          <p:nvPr/>
        </p:nvSpPr>
        <p:spPr>
          <a:xfrm>
            <a:off x="3333750" y="1614488"/>
            <a:ext cx="695325" cy="204788"/>
          </a:xfrm>
          <a:prstGeom prst="roundRect">
            <a:avLst>
              <a:gd fmla="val 178604" name="adj"/>
            </a:avLst>
          </a:prstGeom>
          <a:solidFill>
            <a:srgbClr val="2DAB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7"/>
          <p:cNvSpPr/>
          <p:nvPr/>
        </p:nvSpPr>
        <p:spPr>
          <a:xfrm>
            <a:off x="3455194" y="1662113"/>
            <a:ext cx="452438" cy="109538"/>
          </a:xfrm>
          <a:prstGeom prst="rect">
            <a:avLst/>
          </a:prstGeom>
          <a:noFill/>
          <a:ln>
            <a:noFill/>
          </a:ln>
        </p:spPr>
        <p:txBody>
          <a:bodyPr anchorCtr="0" anchor="ctr" bIns="0" lIns="0" spcFirstLastPara="1" rIns="0" wrap="square" tIns="0">
            <a:noAutofit/>
          </a:bodyPr>
          <a:lstStyle/>
          <a:p>
            <a:pPr indent="0" lvl="0" marL="0" marR="0" rtl="0" algn="l">
              <a:lnSpc>
                <a:spcPct val="130109"/>
              </a:lnSpc>
              <a:spcBef>
                <a:spcPts val="0"/>
              </a:spcBef>
              <a:spcAft>
                <a:spcPts val="0"/>
              </a:spcAft>
              <a:buClr>
                <a:srgbClr val="FFFFFF"/>
              </a:buClr>
              <a:buSzPts val="641"/>
              <a:buFont typeface="Open Sans"/>
              <a:buNone/>
            </a:pPr>
            <a:r>
              <a:rPr b="0" i="0" lang="en-US" sz="641" u="none" cap="none" strike="noStrike">
                <a:solidFill>
                  <a:srgbClr val="FFFFFF"/>
                </a:solidFill>
                <a:latin typeface="Open Sans"/>
                <a:ea typeface="Open Sans"/>
                <a:cs typeface="Open Sans"/>
                <a:sym typeface="Open Sans"/>
              </a:rPr>
              <a:t>In Progress</a:t>
            </a:r>
            <a:endParaRPr b="0" i="0" sz="641" u="none" cap="none" strike="noStrike">
              <a:solidFill>
                <a:schemeClr val="dk1"/>
              </a:solidFill>
              <a:latin typeface="Calibri"/>
              <a:ea typeface="Calibri"/>
              <a:cs typeface="Calibri"/>
              <a:sym typeface="Calibri"/>
            </a:endParaRPr>
          </a:p>
        </p:txBody>
      </p:sp>
      <p:sp>
        <p:nvSpPr>
          <p:cNvPr id="162" name="Google Shape;162;p7"/>
          <p:cNvSpPr/>
          <p:nvPr/>
        </p:nvSpPr>
        <p:spPr>
          <a:xfrm>
            <a:off x="3333750" y="3795713"/>
            <a:ext cx="695325" cy="204788"/>
          </a:xfrm>
          <a:prstGeom prst="roundRect">
            <a:avLst>
              <a:gd fmla="val 178604" name="adj"/>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7"/>
          <p:cNvSpPr/>
          <p:nvPr/>
        </p:nvSpPr>
        <p:spPr>
          <a:xfrm>
            <a:off x="3450431" y="3843338"/>
            <a:ext cx="461963" cy="109538"/>
          </a:xfrm>
          <a:prstGeom prst="rect">
            <a:avLst/>
          </a:prstGeom>
          <a:noFill/>
          <a:ln>
            <a:noFill/>
          </a:ln>
        </p:spPr>
        <p:txBody>
          <a:bodyPr anchorCtr="0" anchor="ctr" bIns="0" lIns="0" spcFirstLastPara="1" rIns="0" wrap="square" tIns="0">
            <a:noAutofit/>
          </a:bodyPr>
          <a:lstStyle/>
          <a:p>
            <a:pPr indent="0" lvl="0" marL="0" marR="0" rtl="0" algn="l">
              <a:lnSpc>
                <a:spcPct val="130109"/>
              </a:lnSpc>
              <a:spcBef>
                <a:spcPts val="0"/>
              </a:spcBef>
              <a:spcAft>
                <a:spcPts val="0"/>
              </a:spcAft>
              <a:buClr>
                <a:srgbClr val="FFFFFF"/>
              </a:buClr>
              <a:buSzPts val="641"/>
              <a:buFont typeface="Open Sans"/>
              <a:buNone/>
            </a:pPr>
            <a:r>
              <a:rPr b="0" i="0" lang="en-US" sz="641" u="none" cap="none" strike="noStrike">
                <a:solidFill>
                  <a:srgbClr val="FFFFFF"/>
                </a:solidFill>
                <a:latin typeface="Open Sans"/>
                <a:ea typeface="Open Sans"/>
                <a:cs typeface="Open Sans"/>
                <a:sym typeface="Open Sans"/>
              </a:rPr>
              <a:t>Not Started</a:t>
            </a:r>
            <a:endParaRPr b="0" i="0" sz="641" u="none" cap="none" strike="noStrike">
              <a:solidFill>
                <a:schemeClr val="dk1"/>
              </a:solidFill>
              <a:latin typeface="Calibri"/>
              <a:ea typeface="Calibri"/>
              <a:cs typeface="Calibri"/>
              <a:sym typeface="Calibri"/>
            </a:endParaRPr>
          </a:p>
        </p:txBody>
      </p:sp>
      <p:sp>
        <p:nvSpPr>
          <p:cNvPr id="164" name="Google Shape;164;p7"/>
          <p:cNvSpPr/>
          <p:nvPr/>
        </p:nvSpPr>
        <p:spPr>
          <a:xfrm>
            <a:off x="3333750" y="2676525"/>
            <a:ext cx="695325" cy="204788"/>
          </a:xfrm>
          <a:prstGeom prst="roundRect">
            <a:avLst>
              <a:gd fmla="val 178604" name="adj"/>
            </a:avLst>
          </a:prstGeom>
          <a:solidFill>
            <a:srgbClr val="2DAB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7"/>
          <p:cNvSpPr/>
          <p:nvPr/>
        </p:nvSpPr>
        <p:spPr>
          <a:xfrm>
            <a:off x="3455194" y="2724150"/>
            <a:ext cx="452438" cy="109538"/>
          </a:xfrm>
          <a:prstGeom prst="rect">
            <a:avLst/>
          </a:prstGeom>
          <a:noFill/>
          <a:ln>
            <a:noFill/>
          </a:ln>
        </p:spPr>
        <p:txBody>
          <a:bodyPr anchorCtr="0" anchor="ctr" bIns="0" lIns="0" spcFirstLastPara="1" rIns="0" wrap="square" tIns="0">
            <a:noAutofit/>
          </a:bodyPr>
          <a:lstStyle/>
          <a:p>
            <a:pPr indent="0" lvl="0" marL="0" marR="0" rtl="0" algn="l">
              <a:lnSpc>
                <a:spcPct val="130109"/>
              </a:lnSpc>
              <a:spcBef>
                <a:spcPts val="0"/>
              </a:spcBef>
              <a:spcAft>
                <a:spcPts val="0"/>
              </a:spcAft>
              <a:buClr>
                <a:srgbClr val="FFFFFF"/>
              </a:buClr>
              <a:buSzPts val="641"/>
              <a:buFont typeface="Open Sans"/>
              <a:buNone/>
            </a:pPr>
            <a:r>
              <a:rPr b="0" i="0" lang="en-US" sz="641" u="none" cap="none" strike="noStrike">
                <a:solidFill>
                  <a:srgbClr val="FFFFFF"/>
                </a:solidFill>
                <a:latin typeface="Open Sans"/>
                <a:ea typeface="Open Sans"/>
                <a:cs typeface="Open Sans"/>
                <a:sym typeface="Open Sans"/>
              </a:rPr>
              <a:t>In Progress</a:t>
            </a:r>
            <a:endParaRPr b="0" i="0" sz="641" u="none" cap="none" strike="noStrike">
              <a:solidFill>
                <a:schemeClr val="dk1"/>
              </a:solidFill>
              <a:latin typeface="Calibri"/>
              <a:ea typeface="Calibri"/>
              <a:cs typeface="Calibri"/>
              <a:sym typeface="Calibri"/>
            </a:endParaRPr>
          </a:p>
        </p:txBody>
      </p:sp>
      <p:sp>
        <p:nvSpPr>
          <p:cNvPr id="166" name="Google Shape;166;p7"/>
          <p:cNvSpPr/>
          <p:nvPr/>
        </p:nvSpPr>
        <p:spPr>
          <a:xfrm>
            <a:off x="3333750" y="3505200"/>
            <a:ext cx="695325" cy="204788"/>
          </a:xfrm>
          <a:prstGeom prst="roundRect">
            <a:avLst>
              <a:gd fmla="val 178604" name="adj"/>
            </a:avLst>
          </a:prstGeom>
          <a:solidFill>
            <a:srgbClr val="2DAB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7"/>
          <p:cNvSpPr/>
          <p:nvPr/>
        </p:nvSpPr>
        <p:spPr>
          <a:xfrm>
            <a:off x="3455194" y="3552825"/>
            <a:ext cx="452438" cy="109538"/>
          </a:xfrm>
          <a:prstGeom prst="rect">
            <a:avLst/>
          </a:prstGeom>
          <a:noFill/>
          <a:ln>
            <a:noFill/>
          </a:ln>
        </p:spPr>
        <p:txBody>
          <a:bodyPr anchorCtr="0" anchor="ctr" bIns="0" lIns="0" spcFirstLastPara="1" rIns="0" wrap="square" tIns="0">
            <a:noAutofit/>
          </a:bodyPr>
          <a:lstStyle/>
          <a:p>
            <a:pPr indent="0" lvl="0" marL="0" marR="0" rtl="0" algn="l">
              <a:lnSpc>
                <a:spcPct val="130109"/>
              </a:lnSpc>
              <a:spcBef>
                <a:spcPts val="0"/>
              </a:spcBef>
              <a:spcAft>
                <a:spcPts val="0"/>
              </a:spcAft>
              <a:buClr>
                <a:srgbClr val="FFFFFF"/>
              </a:buClr>
              <a:buSzPts val="641"/>
              <a:buFont typeface="Open Sans"/>
              <a:buNone/>
            </a:pPr>
            <a:r>
              <a:rPr b="0" i="0" lang="en-US" sz="641" u="none" cap="none" strike="noStrike">
                <a:solidFill>
                  <a:srgbClr val="FFFFFF"/>
                </a:solidFill>
                <a:latin typeface="Open Sans"/>
                <a:ea typeface="Open Sans"/>
                <a:cs typeface="Open Sans"/>
                <a:sym typeface="Open Sans"/>
              </a:rPr>
              <a:t>In Progress</a:t>
            </a:r>
            <a:endParaRPr b="0" i="0" sz="641" u="none" cap="none" strike="noStrike">
              <a:solidFill>
                <a:schemeClr val="dk1"/>
              </a:solidFill>
              <a:latin typeface="Calibri"/>
              <a:ea typeface="Calibri"/>
              <a:cs typeface="Calibri"/>
              <a:sym typeface="Calibri"/>
            </a:endParaRPr>
          </a:p>
        </p:txBody>
      </p:sp>
      <p:sp>
        <p:nvSpPr>
          <p:cNvPr id="168" name="Google Shape;168;p7"/>
          <p:cNvSpPr/>
          <p:nvPr/>
        </p:nvSpPr>
        <p:spPr>
          <a:xfrm>
            <a:off x="476250" y="4638675"/>
            <a:ext cx="6110288" cy="152400"/>
          </a:xfrm>
          <a:prstGeom prst="rect">
            <a:avLst/>
          </a:prstGeom>
          <a:solidFill>
            <a:srgbClr val="2DAB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7"/>
          <p:cNvSpPr/>
          <p:nvPr/>
        </p:nvSpPr>
        <p:spPr>
          <a:xfrm>
            <a:off x="476250" y="4381500"/>
            <a:ext cx="90487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LAYER 1</a:t>
            </a:r>
            <a:endParaRPr b="0" i="0" sz="713" u="none" cap="none" strike="noStrike">
              <a:solidFill>
                <a:schemeClr val="dk1"/>
              </a:solidFill>
              <a:latin typeface="Calibri"/>
              <a:ea typeface="Calibri"/>
              <a:cs typeface="Calibri"/>
              <a:sym typeface="Calibri"/>
            </a:endParaRPr>
          </a:p>
        </p:txBody>
      </p:sp>
      <p:sp>
        <p:nvSpPr>
          <p:cNvPr id="170" name="Google Shape;170;p7"/>
          <p:cNvSpPr/>
          <p:nvPr/>
        </p:nvSpPr>
        <p:spPr>
          <a:xfrm>
            <a:off x="7762875" y="4381500"/>
            <a:ext cx="904875" cy="114300"/>
          </a:xfrm>
          <a:prstGeom prst="rect">
            <a:avLst/>
          </a:prstGeom>
          <a:noFill/>
          <a:ln>
            <a:noFill/>
          </a:ln>
        </p:spPr>
        <p:txBody>
          <a:bodyPr anchorCtr="0" anchor="ctr" bIns="0" lIns="0" spcFirstLastPara="1" rIns="0" wrap="square" tIns="0">
            <a:noAutofit/>
          </a:bodyPr>
          <a:lstStyle/>
          <a:p>
            <a:pPr indent="0" lvl="0" marL="0" marR="0" rtl="0" algn="r">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LAYER 3</a:t>
            </a:r>
            <a:endParaRPr b="0" i="0" sz="713" u="none" cap="none" strike="noStrike">
              <a:solidFill>
                <a:schemeClr val="dk1"/>
              </a:solidFill>
              <a:latin typeface="Calibri"/>
              <a:ea typeface="Calibri"/>
              <a:cs typeface="Calibri"/>
              <a:sym typeface="Calibri"/>
            </a:endParaRPr>
          </a:p>
        </p:txBody>
      </p:sp>
      <p:sp>
        <p:nvSpPr>
          <p:cNvPr id="171" name="Google Shape;171;p7"/>
          <p:cNvSpPr/>
          <p:nvPr/>
        </p:nvSpPr>
        <p:spPr>
          <a:xfrm>
            <a:off x="6134100" y="4381500"/>
            <a:ext cx="904875" cy="114300"/>
          </a:xfrm>
          <a:prstGeom prst="rect">
            <a:avLst/>
          </a:prstGeom>
          <a:noFill/>
          <a:ln>
            <a:noFill/>
          </a:ln>
        </p:spPr>
        <p:txBody>
          <a:bodyPr anchorCtr="0" anchor="ctr" bIns="0" lIns="0" spcFirstLastPara="1" rIns="0" wrap="square" tIns="0">
            <a:noAutofit/>
          </a:bodyPr>
          <a:lstStyle/>
          <a:p>
            <a:pPr indent="0" lvl="0" marL="0" marR="0" rtl="0" algn="ctr">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LAYER 2</a:t>
            </a:r>
            <a:endParaRPr b="0" i="0" sz="713" u="none" cap="none" strike="noStrike">
              <a:solidFill>
                <a:schemeClr val="dk1"/>
              </a:solidFill>
              <a:latin typeface="Calibri"/>
              <a:ea typeface="Calibri"/>
              <a:cs typeface="Calibri"/>
              <a:sym typeface="Calibri"/>
            </a:endParaRPr>
          </a:p>
        </p:txBody>
      </p:sp>
      <p:sp>
        <p:nvSpPr>
          <p:cNvPr id="172" name="Google Shape;172;p7"/>
          <p:cNvSpPr/>
          <p:nvPr/>
        </p:nvSpPr>
        <p:spPr>
          <a:xfrm>
            <a:off x="3333750" y="1062038"/>
            <a:ext cx="14954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EVERMEMOS CLIENT</a:t>
            </a:r>
            <a:endParaRPr b="0" i="0" sz="713" u="none" cap="none" strike="noStrike">
              <a:solidFill>
                <a:schemeClr val="dk1"/>
              </a:solidFill>
              <a:latin typeface="Calibri"/>
              <a:ea typeface="Calibri"/>
              <a:cs typeface="Calibri"/>
              <a:sym typeface="Calibri"/>
            </a:endParaRPr>
          </a:p>
        </p:txBody>
      </p:sp>
      <p:sp>
        <p:nvSpPr>
          <p:cNvPr id="173" name="Google Shape;173;p7"/>
          <p:cNvSpPr/>
          <p:nvPr/>
        </p:nvSpPr>
        <p:spPr>
          <a:xfrm>
            <a:off x="3333750" y="2162175"/>
            <a:ext cx="1243013"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3-CHANNEL INGESTION</a:t>
            </a:r>
            <a:endParaRPr b="0" i="0" sz="713" u="none" cap="none" strike="noStrike">
              <a:solidFill>
                <a:schemeClr val="dk1"/>
              </a:solidFill>
              <a:latin typeface="Calibri"/>
              <a:ea typeface="Calibri"/>
              <a:cs typeface="Calibri"/>
              <a:sym typeface="Calibri"/>
            </a:endParaRPr>
          </a:p>
        </p:txBody>
      </p:sp>
      <p:sp>
        <p:nvSpPr>
          <p:cNvPr id="174" name="Google Shape;174;p7"/>
          <p:cNvSpPr/>
          <p:nvPr/>
        </p:nvSpPr>
        <p:spPr>
          <a:xfrm>
            <a:off x="3333750" y="3224213"/>
            <a:ext cx="109537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ARC MEMORY AGENT</a:t>
            </a:r>
            <a:endParaRPr b="0" i="0" sz="713" u="none" cap="none" strike="noStrike">
              <a:solidFill>
                <a:schemeClr val="dk1"/>
              </a:solidFill>
              <a:latin typeface="Calibri"/>
              <a:ea typeface="Calibri"/>
              <a:cs typeface="Calibri"/>
              <a:sym typeface="Calibri"/>
            </a:endParaRPr>
          </a:p>
        </p:txBody>
      </p:sp>
      <p:sp>
        <p:nvSpPr>
          <p:cNvPr id="175" name="Google Shape;175;p7"/>
          <p:cNvSpPr/>
          <p:nvPr/>
        </p:nvSpPr>
        <p:spPr>
          <a:xfrm>
            <a:off x="4181475" y="1352550"/>
            <a:ext cx="4471988" cy="43815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7"/>
          <p:cNvSpPr/>
          <p:nvPr/>
        </p:nvSpPr>
        <p:spPr>
          <a:xfrm>
            <a:off x="4181475" y="1352550"/>
            <a:ext cx="4471988"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Typed API wrapper: store, search, health. 10s timeout + graceful fallback.</a:t>
            </a:r>
            <a:endParaRPr b="0" i="0" sz="855" u="none" cap="none" strike="noStrike">
              <a:solidFill>
                <a:schemeClr val="dk1"/>
              </a:solidFill>
              <a:latin typeface="Calibri"/>
              <a:ea typeface="Calibri"/>
              <a:cs typeface="Calibri"/>
              <a:sym typeface="Calibri"/>
            </a:endParaRPr>
          </a:p>
        </p:txBody>
      </p:sp>
      <p:sp>
        <p:nvSpPr>
          <p:cNvPr id="177" name="Google Shape;177;p7"/>
          <p:cNvSpPr/>
          <p:nvPr/>
        </p:nvSpPr>
        <p:spPr>
          <a:xfrm>
            <a:off x="4181475" y="1643063"/>
            <a:ext cx="4471988"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Fire-and-forget. App works identically with or without EverMemOS.</a:t>
            </a:r>
            <a:endParaRPr b="0" i="0" sz="855" u="none" cap="none" strike="noStrike">
              <a:solidFill>
                <a:schemeClr val="dk1"/>
              </a:solidFill>
              <a:latin typeface="Calibri"/>
              <a:ea typeface="Calibri"/>
              <a:cs typeface="Calibri"/>
              <a:sym typeface="Calibri"/>
            </a:endParaRPr>
          </a:p>
        </p:txBody>
      </p:sp>
      <p:sp>
        <p:nvSpPr>
          <p:cNvPr id="178" name="Google Shape;178;p7"/>
          <p:cNvSpPr/>
          <p:nvPr/>
        </p:nvSpPr>
        <p:spPr>
          <a:xfrm>
            <a:off x="4181475" y="2414588"/>
            <a:ext cx="4471988" cy="43815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7"/>
          <p:cNvSpPr/>
          <p:nvPr/>
        </p:nvSpPr>
        <p:spPr>
          <a:xfrm>
            <a:off x="4181475" y="2414588"/>
            <a:ext cx="4471988"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Coherence → EventBus handler. Council + Myths → per-route.</a:t>
            </a:r>
            <a:endParaRPr b="0" i="0" sz="855" u="none" cap="none" strike="noStrike">
              <a:solidFill>
                <a:schemeClr val="dk1"/>
              </a:solidFill>
              <a:latin typeface="Calibri"/>
              <a:ea typeface="Calibri"/>
              <a:cs typeface="Calibri"/>
              <a:sym typeface="Calibri"/>
            </a:endParaRPr>
          </a:p>
        </p:txBody>
      </p:sp>
      <p:sp>
        <p:nvSpPr>
          <p:cNvPr id="180" name="Google Shape;180;p7"/>
          <p:cNvSpPr/>
          <p:nvPr/>
        </p:nvSpPr>
        <p:spPr>
          <a:xfrm>
            <a:off x="4181475" y="2705100"/>
            <a:ext cx="4471988"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All channels tag with phase, tier, dominant factor, motifs, archetypes.</a:t>
            </a:r>
            <a:endParaRPr b="0" i="0" sz="855" u="none" cap="none" strike="noStrike">
              <a:solidFill>
                <a:schemeClr val="dk1"/>
              </a:solidFill>
              <a:latin typeface="Calibri"/>
              <a:ea typeface="Calibri"/>
              <a:cs typeface="Calibri"/>
              <a:sym typeface="Calibri"/>
            </a:endParaRPr>
          </a:p>
        </p:txBody>
      </p:sp>
      <p:sp>
        <p:nvSpPr>
          <p:cNvPr id="181" name="Google Shape;181;p7"/>
          <p:cNvSpPr/>
          <p:nvPr/>
        </p:nvSpPr>
        <p:spPr>
          <a:xfrm>
            <a:off x="4181475" y="3533775"/>
            <a:ext cx="4471988" cy="43815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7"/>
          <p:cNvSpPr/>
          <p:nvPr/>
        </p:nvSpPr>
        <p:spPr>
          <a:xfrm>
            <a:off x="4181475" y="3533775"/>
            <a:ext cx="4471988"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Agentic retrieval across full MemScene. Claude generates narrative.–Q2.</a:t>
            </a:r>
            <a:endParaRPr b="0" i="0" sz="855" u="none" cap="none" strike="noStrike">
              <a:solidFill>
                <a:schemeClr val="dk1"/>
              </a:solidFill>
              <a:latin typeface="Calibri"/>
              <a:ea typeface="Calibri"/>
              <a:cs typeface="Calibri"/>
              <a:sym typeface="Calibri"/>
            </a:endParaRPr>
          </a:p>
        </p:txBody>
      </p:sp>
      <p:sp>
        <p:nvSpPr>
          <p:cNvPr id="183" name="Google Shape;183;p7"/>
          <p:cNvSpPr/>
          <p:nvPr/>
        </p:nvSpPr>
        <p:spPr>
          <a:xfrm>
            <a:off x="4181475" y="3824288"/>
            <a:ext cx="4471988"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7A7A7A"/>
              </a:buClr>
              <a:buSzPts val="855"/>
              <a:buFont typeface="Open Sans"/>
              <a:buNone/>
            </a:pPr>
            <a:r>
              <a:rPr b="0" i="0" lang="en-US" sz="855" u="none" cap="none" strike="noStrike">
                <a:solidFill>
                  <a:srgbClr val="7A7A7A"/>
                </a:solidFill>
                <a:latin typeface="Open Sans"/>
                <a:ea typeface="Open Sans"/>
                <a:cs typeface="Open Sans"/>
                <a:sym typeface="Open Sans"/>
              </a:rPr>
              <a:t>Demo mode: ?demo=true bypasses auth. 7 seeded MemCells across 3 months.</a:t>
            </a:r>
            <a:endParaRPr b="0" i="0" sz="855" u="none" cap="none" strike="noStrike">
              <a:solidFill>
                <a:schemeClr val="dk1"/>
              </a:solidFill>
              <a:latin typeface="Calibri"/>
              <a:ea typeface="Calibri"/>
              <a:cs typeface="Calibri"/>
              <a:sym typeface="Calibri"/>
            </a:endParaRPr>
          </a:p>
        </p:txBody>
      </p:sp>
      <p:sp>
        <p:nvSpPr>
          <p:cNvPr id="184" name="Google Shape;184;p7"/>
          <p:cNvSpPr/>
          <p:nvPr/>
        </p:nvSpPr>
        <p:spPr>
          <a:xfrm>
            <a:off x="476250" y="219075"/>
            <a:ext cx="5429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7A7A7A"/>
              </a:buClr>
              <a:buSzPts val="713"/>
              <a:buFont typeface="Open Sans"/>
              <a:buNone/>
            </a:pPr>
            <a:r>
              <a:rPr b="1" i="0" lang="en-US" sz="713" u="none" cap="none" strike="noStrike">
                <a:solidFill>
                  <a:srgbClr val="7A7A7A"/>
                </a:solidFill>
                <a:latin typeface="Open Sans"/>
                <a:ea typeface="Open Sans"/>
                <a:cs typeface="Open Sans"/>
                <a:sym typeface="Open Sans"/>
              </a:rPr>
              <a:t>SLIDE TITLE</a:t>
            </a:r>
            <a:endParaRPr b="0" i="0" sz="713" u="none" cap="none" strike="noStrike">
              <a:solidFill>
                <a:schemeClr val="dk1"/>
              </a:solidFill>
              <a:latin typeface="Calibri"/>
              <a:ea typeface="Calibri"/>
              <a:cs typeface="Calibri"/>
              <a:sym typeface="Calibri"/>
            </a:endParaRPr>
          </a:p>
        </p:txBody>
      </p:sp>
      <p:cxnSp>
        <p:nvCxnSpPr>
          <p:cNvPr id="185" name="Google Shape;185;p7"/>
          <p:cNvCxnSpPr/>
          <p:nvPr/>
        </p:nvCxnSpPr>
        <p:spPr>
          <a:xfrm>
            <a:off x="476250" y="476250"/>
            <a:ext cx="8177213" cy="0"/>
          </a:xfrm>
          <a:prstGeom prst="straightConnector1">
            <a:avLst/>
          </a:prstGeom>
          <a:noFill/>
          <a:ln cap="flat" cmpd="sng" w="9525">
            <a:solidFill>
              <a:srgbClr val="7A7A7A"/>
            </a:solidFill>
            <a:prstDash val="solid"/>
            <a:round/>
            <a:headEnd len="sm" w="sm" type="none"/>
            <a:tailEnd len="sm" w="sm" type="none"/>
          </a:ln>
        </p:spPr>
      </p:cxnSp>
      <p:pic>
        <p:nvPicPr>
          <p:cNvPr descr="preencoded.png" id="186" name="Google Shape;186;p7"/>
          <p:cNvPicPr preferRelativeResize="0"/>
          <p:nvPr/>
        </p:nvPicPr>
        <p:blipFill rotWithShape="1">
          <a:blip r:embed="rId3">
            <a:alphaModFix/>
          </a:blip>
          <a:srcRect b="0" l="0" r="0" t="0"/>
          <a:stretch/>
        </p:blipFill>
        <p:spPr>
          <a:xfrm>
            <a:off x="7905750" y="204788"/>
            <a:ext cx="748308" cy="142875"/>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1" name="Shape 191"/>
        <p:cNvGrpSpPr/>
        <p:nvPr/>
      </p:nvGrpSpPr>
      <p:grpSpPr>
        <a:xfrm>
          <a:off x="0" y="0"/>
          <a:ext cx="0" cy="0"/>
          <a:chOff x="0" y="0"/>
          <a:chExt cx="0" cy="0"/>
        </a:xfrm>
      </p:grpSpPr>
      <p:sp>
        <p:nvSpPr>
          <p:cNvPr id="192" name="Google Shape;192;p8"/>
          <p:cNvSpPr/>
          <p:nvPr/>
        </p:nvSpPr>
        <p:spPr>
          <a:xfrm>
            <a:off x="476250" y="914400"/>
            <a:ext cx="5414963"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EverMemOS Memory Lifecycle</a:t>
            </a:r>
            <a:endParaRPr b="0" i="0" sz="2850" u="none" cap="none" strike="noStrike">
              <a:solidFill>
                <a:schemeClr val="dk1"/>
              </a:solidFill>
              <a:latin typeface="Calibri"/>
              <a:ea typeface="Calibri"/>
              <a:cs typeface="Calibri"/>
              <a:sym typeface="Calibri"/>
            </a:endParaRPr>
          </a:p>
        </p:txBody>
      </p:sp>
      <p:cxnSp>
        <p:nvCxnSpPr>
          <p:cNvPr id="193" name="Google Shape;193;p8"/>
          <p:cNvCxnSpPr/>
          <p:nvPr/>
        </p:nvCxnSpPr>
        <p:spPr>
          <a:xfrm>
            <a:off x="476250" y="2662238"/>
            <a:ext cx="8667750" cy="0"/>
          </a:xfrm>
          <a:prstGeom prst="straightConnector1">
            <a:avLst/>
          </a:prstGeom>
          <a:noFill/>
          <a:ln cap="flat" cmpd="sng" w="9525">
            <a:solidFill>
              <a:srgbClr val="003310"/>
            </a:solidFill>
            <a:prstDash val="solid"/>
            <a:round/>
            <a:headEnd len="sm" w="sm" type="none"/>
            <a:tailEnd len="sm" w="sm" type="none"/>
          </a:ln>
        </p:spPr>
      </p:cxnSp>
      <p:sp>
        <p:nvSpPr>
          <p:cNvPr id="194" name="Google Shape;194;p8"/>
          <p:cNvSpPr/>
          <p:nvPr/>
        </p:nvSpPr>
        <p:spPr>
          <a:xfrm>
            <a:off x="476250" y="2028825"/>
            <a:ext cx="962025" cy="242888"/>
          </a:xfrm>
          <a:prstGeom prst="roundRect">
            <a:avLst>
              <a:gd fmla="val 150588" name="adj"/>
            </a:avLst>
          </a:prstGeom>
          <a:solidFill>
            <a:srgbClr val="FFC5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8"/>
          <p:cNvSpPr/>
          <p:nvPr/>
        </p:nvSpPr>
        <p:spPr>
          <a:xfrm>
            <a:off x="733425" y="2076450"/>
            <a:ext cx="447675"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CAPTURE</a:t>
            </a:r>
            <a:endParaRPr b="0" i="0" sz="855" u="none" cap="none" strike="noStrike">
              <a:solidFill>
                <a:schemeClr val="dk1"/>
              </a:solidFill>
              <a:latin typeface="Calibri"/>
              <a:ea typeface="Calibri"/>
              <a:cs typeface="Calibri"/>
              <a:sym typeface="Calibri"/>
            </a:endParaRPr>
          </a:p>
        </p:txBody>
      </p:sp>
      <p:sp>
        <p:nvSpPr>
          <p:cNvPr id="196" name="Google Shape;196;p8"/>
          <p:cNvSpPr/>
          <p:nvPr/>
        </p:nvSpPr>
        <p:spPr>
          <a:xfrm>
            <a:off x="2562225" y="2028825"/>
            <a:ext cx="962025" cy="242888"/>
          </a:xfrm>
          <a:prstGeom prst="roundRect">
            <a:avLst>
              <a:gd fmla="val 150588" name="adj"/>
            </a:avLst>
          </a:prstGeom>
          <a:solidFill>
            <a:srgbClr val="FFC5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8"/>
          <p:cNvSpPr/>
          <p:nvPr/>
        </p:nvSpPr>
        <p:spPr>
          <a:xfrm>
            <a:off x="2819400" y="2076450"/>
            <a:ext cx="447675"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STORE</a:t>
            </a:r>
            <a:endParaRPr b="0" i="0" sz="855" u="none" cap="none" strike="noStrike">
              <a:solidFill>
                <a:schemeClr val="dk1"/>
              </a:solidFill>
              <a:latin typeface="Calibri"/>
              <a:ea typeface="Calibri"/>
              <a:cs typeface="Calibri"/>
              <a:sym typeface="Calibri"/>
            </a:endParaRPr>
          </a:p>
        </p:txBody>
      </p:sp>
      <p:sp>
        <p:nvSpPr>
          <p:cNvPr id="198" name="Google Shape;198;p8"/>
          <p:cNvSpPr/>
          <p:nvPr/>
        </p:nvSpPr>
        <p:spPr>
          <a:xfrm>
            <a:off x="4648200" y="2028825"/>
            <a:ext cx="962025" cy="242888"/>
          </a:xfrm>
          <a:prstGeom prst="roundRect">
            <a:avLst>
              <a:gd fmla="val 150588" name="adj"/>
            </a:avLst>
          </a:prstGeom>
          <a:solidFill>
            <a:srgbClr val="FFC5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8"/>
          <p:cNvSpPr/>
          <p:nvPr/>
        </p:nvSpPr>
        <p:spPr>
          <a:xfrm>
            <a:off x="4905375" y="2076450"/>
            <a:ext cx="447675"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CONSOLIDATE</a:t>
            </a:r>
            <a:endParaRPr b="0" i="0" sz="855" u="none" cap="none" strike="noStrike">
              <a:solidFill>
                <a:schemeClr val="dk1"/>
              </a:solidFill>
              <a:latin typeface="Calibri"/>
              <a:ea typeface="Calibri"/>
              <a:cs typeface="Calibri"/>
              <a:sym typeface="Calibri"/>
            </a:endParaRPr>
          </a:p>
        </p:txBody>
      </p:sp>
      <p:sp>
        <p:nvSpPr>
          <p:cNvPr id="200" name="Google Shape;200;p8"/>
          <p:cNvSpPr/>
          <p:nvPr/>
        </p:nvSpPr>
        <p:spPr>
          <a:xfrm>
            <a:off x="6757988" y="2028825"/>
            <a:ext cx="962025" cy="242888"/>
          </a:xfrm>
          <a:prstGeom prst="roundRect">
            <a:avLst>
              <a:gd fmla="val 150588" name="adj"/>
            </a:avLst>
          </a:prstGeom>
          <a:solidFill>
            <a:srgbClr val="FFC5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8"/>
          <p:cNvSpPr/>
          <p:nvPr/>
        </p:nvSpPr>
        <p:spPr>
          <a:xfrm>
            <a:off x="7015163" y="2076450"/>
            <a:ext cx="447675"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RECONSTRUCT</a:t>
            </a:r>
            <a:endParaRPr b="0" i="0" sz="855" u="none" cap="none" strike="noStrike">
              <a:solidFill>
                <a:schemeClr val="dk1"/>
              </a:solidFill>
              <a:latin typeface="Calibri"/>
              <a:ea typeface="Calibri"/>
              <a:cs typeface="Calibri"/>
              <a:sym typeface="Calibri"/>
            </a:endParaRPr>
          </a:p>
        </p:txBody>
      </p:sp>
      <p:sp>
        <p:nvSpPr>
          <p:cNvPr id="202" name="Google Shape;202;p8"/>
          <p:cNvSpPr/>
          <p:nvPr/>
        </p:nvSpPr>
        <p:spPr>
          <a:xfrm>
            <a:off x="476250" y="2633663"/>
            <a:ext cx="57150" cy="57150"/>
          </a:xfrm>
          <a:prstGeom prst="ellipse">
            <a:avLst/>
          </a:prstGeom>
          <a:solidFill>
            <a:srgbClr val="00331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8"/>
          <p:cNvSpPr/>
          <p:nvPr/>
        </p:nvSpPr>
        <p:spPr>
          <a:xfrm>
            <a:off x="2562225" y="2633663"/>
            <a:ext cx="57150" cy="57150"/>
          </a:xfrm>
          <a:prstGeom prst="ellipse">
            <a:avLst/>
          </a:prstGeom>
          <a:solidFill>
            <a:srgbClr val="00331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8"/>
          <p:cNvSpPr/>
          <p:nvPr/>
        </p:nvSpPr>
        <p:spPr>
          <a:xfrm>
            <a:off x="4643438" y="2633663"/>
            <a:ext cx="57150" cy="57150"/>
          </a:xfrm>
          <a:prstGeom prst="ellipse">
            <a:avLst/>
          </a:prstGeom>
          <a:solidFill>
            <a:srgbClr val="00331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8"/>
          <p:cNvSpPr/>
          <p:nvPr/>
        </p:nvSpPr>
        <p:spPr>
          <a:xfrm>
            <a:off x="6729413" y="2633663"/>
            <a:ext cx="57150" cy="57150"/>
          </a:xfrm>
          <a:prstGeom prst="ellipse">
            <a:avLst/>
          </a:prstGeom>
          <a:solidFill>
            <a:srgbClr val="00331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8"/>
          <p:cNvSpPr/>
          <p:nvPr/>
        </p:nvSpPr>
        <p:spPr>
          <a:xfrm>
            <a:off x="476250" y="2971800"/>
            <a:ext cx="1833563" cy="1624013"/>
          </a:xfrm>
          <a:prstGeom prst="rect">
            <a:avLst/>
          </a:prstGeom>
          <a:noFill/>
          <a:ln>
            <a:noFill/>
          </a:ln>
        </p:spPr>
        <p:txBody>
          <a:bodyPr anchorCtr="0" anchor="ctr" bIns="0" lIns="0" spcFirstLastPara="1" rIns="0" wrap="square" tIns="0">
            <a:noAutofit/>
          </a:bodyPr>
          <a:lstStyle/>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User completes coherence check, council dialogue, or threshold capture. Raw psychological data with motifs, factors, and phase.</a:t>
            </a:r>
            <a:endParaRPr b="0" i="0" sz="855" u="none" cap="none" strike="noStrike">
              <a:solidFill>
                <a:schemeClr val="dk1"/>
              </a:solidFill>
              <a:latin typeface="Calibri"/>
              <a:ea typeface="Calibri"/>
              <a:cs typeface="Calibri"/>
              <a:sym typeface="Calibri"/>
            </a:endParaRPr>
          </a:p>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sp>
        <p:nvSpPr>
          <p:cNvPr id="207" name="Google Shape;207;p8"/>
          <p:cNvSpPr/>
          <p:nvPr/>
        </p:nvSpPr>
        <p:spPr>
          <a:xfrm>
            <a:off x="2571750" y="2971800"/>
            <a:ext cx="1833563" cy="1624013"/>
          </a:xfrm>
          <a:prstGeom prst="rect">
            <a:avLst/>
          </a:prstGeom>
          <a:noFill/>
          <a:ln>
            <a:noFill/>
          </a:ln>
        </p:spPr>
        <p:txBody>
          <a:bodyPr anchorCtr="0" anchor="ctr" bIns="0" lIns="0" spcFirstLastPara="1" rIns="0" wrap="square" tIns="0">
            <a:noAutofit/>
          </a:bodyPr>
          <a:lstStyle/>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Data formatted as MemCell with tags (phase, tier, archetypes, motifs). Stored in EverMemOS via fire-and-forget.</a:t>
            </a:r>
            <a:endParaRPr b="0" i="0" sz="855" u="none" cap="none" strike="noStrike">
              <a:solidFill>
                <a:schemeClr val="dk1"/>
              </a:solidFill>
              <a:latin typeface="Calibri"/>
              <a:ea typeface="Calibri"/>
              <a:cs typeface="Calibri"/>
              <a:sym typeface="Calibri"/>
            </a:endParaRPr>
          </a:p>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sp>
        <p:nvSpPr>
          <p:cNvPr id="208" name="Google Shape;208;p8"/>
          <p:cNvSpPr/>
          <p:nvPr/>
        </p:nvSpPr>
        <p:spPr>
          <a:xfrm>
            <a:off x="4667250" y="2971800"/>
            <a:ext cx="1833563" cy="1624013"/>
          </a:xfrm>
          <a:prstGeom prst="rect">
            <a:avLst/>
          </a:prstGeom>
          <a:noFill/>
          <a:ln>
            <a:noFill/>
          </a:ln>
        </p:spPr>
        <p:txBody>
          <a:bodyPr anchorCtr="0" anchor="ctr" bIns="0" lIns="0" spcFirstLastPara="1" rIns="0" wrap="square" tIns="0">
            <a:noAutofit/>
          </a:bodyPr>
          <a:lstStyle/>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EverMemOS detects patterns: sovereignty appears 4x. Sage correlates with clarity. Shadow surfaces when connection drops.</a:t>
            </a:r>
            <a:endParaRPr b="0" i="0" sz="855" u="none" cap="none" strike="noStrike">
              <a:solidFill>
                <a:schemeClr val="dk1"/>
              </a:solidFill>
              <a:latin typeface="Calibri"/>
              <a:ea typeface="Calibri"/>
              <a:cs typeface="Calibri"/>
              <a:sym typeface="Calibri"/>
            </a:endParaRPr>
          </a:p>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sp>
        <p:nvSpPr>
          <p:cNvPr id="209" name="Google Shape;209;p8"/>
          <p:cNvSpPr/>
          <p:nvPr/>
        </p:nvSpPr>
        <p:spPr>
          <a:xfrm>
            <a:off x="6762750" y="2971800"/>
            <a:ext cx="1833563" cy="1624013"/>
          </a:xfrm>
          <a:prstGeom prst="rect">
            <a:avLst/>
          </a:prstGeom>
          <a:noFill/>
          <a:ln>
            <a:noFill/>
          </a:ln>
        </p:spPr>
        <p:txBody>
          <a:bodyPr anchorCtr="0" anchor="ctr" bIns="0" lIns="0" spcFirstLastPara="1" rIns="0" wrap="square" tIns="0">
            <a:noAutofit/>
          </a:bodyPr>
          <a:lstStyle/>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Arc Memory agent performs agentic retrieval. Generates transformation narrative: 'You moved from dissolution to emergence.'</a:t>
            </a:r>
            <a:endParaRPr b="0" i="0" sz="855" u="none" cap="none" strike="noStrike">
              <a:solidFill>
                <a:schemeClr val="dk1"/>
              </a:solidFill>
              <a:latin typeface="Calibri"/>
              <a:ea typeface="Calibri"/>
              <a:cs typeface="Calibri"/>
              <a:sym typeface="Calibri"/>
            </a:endParaRPr>
          </a:p>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a:p>
            <a:pPr indent="-342900" lvl="0" marL="342900" marR="0" rtl="0" algn="l">
              <a:lnSpc>
                <a:spcPct val="129941"/>
              </a:lnSpc>
              <a:spcBef>
                <a:spcPts val="0"/>
              </a:spcBef>
              <a:spcAft>
                <a:spcPts val="0"/>
              </a:spcAft>
              <a:buClr>
                <a:srgbClr val="7A7A7A"/>
              </a:buClr>
              <a:buSzPts val="855"/>
              <a:buFont typeface="Open Sans"/>
              <a:buChar char="•"/>
            </a:pPr>
            <a:r>
              <a:rPr b="0" i="0" lang="en-US" sz="855" u="none" cap="none" strike="noStrike">
                <a:solidFill>
                  <a:srgbClr val="7A7A7A"/>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sp>
        <p:nvSpPr>
          <p:cNvPr id="210" name="Google Shape;210;p8"/>
          <p:cNvSpPr/>
          <p:nvPr/>
        </p:nvSpPr>
        <p:spPr>
          <a:xfrm>
            <a:off x="476250" y="219075"/>
            <a:ext cx="5429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7A7A7A"/>
              </a:buClr>
              <a:buSzPts val="713"/>
              <a:buFont typeface="Open Sans"/>
              <a:buNone/>
            </a:pPr>
            <a:r>
              <a:rPr b="1" i="0" lang="en-US" sz="713" u="none" cap="none" strike="noStrike">
                <a:solidFill>
                  <a:srgbClr val="7A7A7A"/>
                </a:solidFill>
                <a:latin typeface="Open Sans"/>
                <a:ea typeface="Open Sans"/>
                <a:cs typeface="Open Sans"/>
                <a:sym typeface="Open Sans"/>
              </a:rPr>
              <a:t>SLIDE TITLE</a:t>
            </a:r>
            <a:endParaRPr b="0" i="0" sz="713" u="none" cap="none" strike="noStrike">
              <a:solidFill>
                <a:schemeClr val="dk1"/>
              </a:solidFill>
              <a:latin typeface="Calibri"/>
              <a:ea typeface="Calibri"/>
              <a:cs typeface="Calibri"/>
              <a:sym typeface="Calibri"/>
            </a:endParaRPr>
          </a:p>
        </p:txBody>
      </p:sp>
      <p:cxnSp>
        <p:nvCxnSpPr>
          <p:cNvPr id="211" name="Google Shape;211;p8"/>
          <p:cNvCxnSpPr/>
          <p:nvPr/>
        </p:nvCxnSpPr>
        <p:spPr>
          <a:xfrm>
            <a:off x="476250" y="476250"/>
            <a:ext cx="8177213" cy="0"/>
          </a:xfrm>
          <a:prstGeom prst="straightConnector1">
            <a:avLst/>
          </a:prstGeom>
          <a:noFill/>
          <a:ln cap="flat" cmpd="sng" w="9525">
            <a:solidFill>
              <a:srgbClr val="7A7A7A"/>
            </a:solidFill>
            <a:prstDash val="solid"/>
            <a:round/>
            <a:headEnd len="sm" w="sm" type="none"/>
            <a:tailEnd len="sm" w="sm" type="none"/>
          </a:ln>
        </p:spPr>
      </p:cxnSp>
      <p:pic>
        <p:nvPicPr>
          <p:cNvPr descr="preencoded.png" id="212" name="Google Shape;212;p8"/>
          <p:cNvPicPr preferRelativeResize="0"/>
          <p:nvPr/>
        </p:nvPicPr>
        <p:blipFill rotWithShape="1">
          <a:blip r:embed="rId3">
            <a:alphaModFix/>
          </a:blip>
          <a:srcRect b="0" l="0" r="0" t="0"/>
          <a:stretch/>
        </p:blipFill>
        <p:spPr>
          <a:xfrm>
            <a:off x="7905750" y="204788"/>
            <a:ext cx="748308" cy="14287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9"/>
          <p:cNvSpPr/>
          <p:nvPr/>
        </p:nvSpPr>
        <p:spPr>
          <a:xfrm>
            <a:off x="476250" y="914400"/>
            <a:ext cx="5414963"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Why Liminal Space</a:t>
            </a:r>
            <a:endParaRPr b="0" i="0" sz="2850" u="none" cap="none" strike="noStrike">
              <a:solidFill>
                <a:schemeClr val="dk1"/>
              </a:solidFill>
              <a:latin typeface="Calibri"/>
              <a:ea typeface="Calibri"/>
              <a:cs typeface="Calibri"/>
              <a:sym typeface="Calibri"/>
            </a:endParaRPr>
          </a:p>
        </p:txBody>
      </p:sp>
      <p:sp>
        <p:nvSpPr>
          <p:cNvPr id="219" name="Google Shape;219;p9"/>
          <p:cNvSpPr/>
          <p:nvPr/>
        </p:nvSpPr>
        <p:spPr>
          <a:xfrm>
            <a:off x="6729413" y="1562100"/>
            <a:ext cx="1938337" cy="303371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9"/>
          <p:cNvSpPr/>
          <p:nvPr/>
        </p:nvSpPr>
        <p:spPr>
          <a:xfrm>
            <a:off x="6729413" y="1562100"/>
            <a:ext cx="1938337" cy="76676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9"/>
          <p:cNvSpPr/>
          <p:nvPr/>
        </p:nvSpPr>
        <p:spPr>
          <a:xfrm>
            <a:off x="6729413" y="1562100"/>
            <a:ext cx="1938337" cy="576263"/>
          </a:xfrm>
          <a:prstGeom prst="rect">
            <a:avLst/>
          </a:prstGeom>
          <a:noFill/>
          <a:ln>
            <a:noFill/>
          </a:ln>
        </p:spPr>
        <p:txBody>
          <a:bodyPr anchorCtr="0" anchor="ctr" bIns="0" lIns="0" spcFirstLastPara="1" rIns="0" wrap="square" tIns="0">
            <a:noAutofit/>
          </a:bodyPr>
          <a:lstStyle/>
          <a:p>
            <a:pPr indent="0" lvl="0" marL="0" marR="0" rtl="0" algn="l">
              <a:lnSpc>
                <a:spcPct val="110030"/>
              </a:lnSpc>
              <a:spcBef>
                <a:spcPts val="0"/>
              </a:spcBef>
              <a:spcAft>
                <a:spcPts val="0"/>
              </a:spcAft>
              <a:buClr>
                <a:srgbClr val="2DABC2"/>
              </a:buClr>
              <a:buSzPts val="3918"/>
              <a:buFont typeface="Neuton"/>
              <a:buNone/>
            </a:pPr>
            <a:r>
              <a:rPr b="0" i="0" lang="en-US" sz="3918" u="none" cap="none" strike="noStrike">
                <a:solidFill>
                  <a:srgbClr val="2DABC2"/>
                </a:solidFill>
                <a:latin typeface="Neuton"/>
                <a:ea typeface="Neuton"/>
                <a:cs typeface="Neuton"/>
                <a:sym typeface="Neuton"/>
              </a:rPr>
              <a:t>271</a:t>
            </a:r>
            <a:endParaRPr b="0" i="0" sz="3918" u="none" cap="none" strike="noStrike">
              <a:solidFill>
                <a:schemeClr val="dk1"/>
              </a:solidFill>
              <a:latin typeface="Calibri"/>
              <a:ea typeface="Calibri"/>
              <a:cs typeface="Calibri"/>
              <a:sym typeface="Calibri"/>
            </a:endParaRPr>
          </a:p>
        </p:txBody>
      </p:sp>
      <p:sp>
        <p:nvSpPr>
          <p:cNvPr id="222" name="Google Shape;222;p9"/>
          <p:cNvSpPr/>
          <p:nvPr/>
        </p:nvSpPr>
        <p:spPr>
          <a:xfrm>
            <a:off x="6729413" y="2214563"/>
            <a:ext cx="19145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API ROUTES</a:t>
            </a:r>
            <a:endParaRPr b="0" i="0" sz="713" u="none" cap="none" strike="noStrike">
              <a:solidFill>
                <a:schemeClr val="dk1"/>
              </a:solidFill>
              <a:latin typeface="Calibri"/>
              <a:ea typeface="Calibri"/>
              <a:cs typeface="Calibri"/>
              <a:sym typeface="Calibri"/>
            </a:endParaRPr>
          </a:p>
        </p:txBody>
      </p:sp>
      <p:sp>
        <p:nvSpPr>
          <p:cNvPr id="223" name="Google Shape;223;p9"/>
          <p:cNvSpPr/>
          <p:nvPr/>
        </p:nvSpPr>
        <p:spPr>
          <a:xfrm>
            <a:off x="6729413" y="2705100"/>
            <a:ext cx="1938337" cy="74771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9"/>
          <p:cNvSpPr/>
          <p:nvPr/>
        </p:nvSpPr>
        <p:spPr>
          <a:xfrm>
            <a:off x="6729413" y="2705100"/>
            <a:ext cx="1938337" cy="576263"/>
          </a:xfrm>
          <a:prstGeom prst="rect">
            <a:avLst/>
          </a:prstGeom>
          <a:noFill/>
          <a:ln>
            <a:noFill/>
          </a:ln>
        </p:spPr>
        <p:txBody>
          <a:bodyPr anchorCtr="0" anchor="ctr" bIns="0" lIns="0" spcFirstLastPara="1" rIns="0" wrap="square" tIns="0">
            <a:noAutofit/>
          </a:bodyPr>
          <a:lstStyle/>
          <a:p>
            <a:pPr indent="0" lvl="0" marL="0" marR="0" rtl="0" algn="l">
              <a:lnSpc>
                <a:spcPct val="110030"/>
              </a:lnSpc>
              <a:spcBef>
                <a:spcPts val="0"/>
              </a:spcBef>
              <a:spcAft>
                <a:spcPts val="0"/>
              </a:spcAft>
              <a:buClr>
                <a:srgbClr val="2DABC2"/>
              </a:buClr>
              <a:buSzPts val="3918"/>
              <a:buFont typeface="Neuton"/>
              <a:buNone/>
            </a:pPr>
            <a:r>
              <a:rPr b="0" i="0" lang="en-US" sz="3918" u="none" cap="none" strike="noStrike">
                <a:solidFill>
                  <a:srgbClr val="2DABC2"/>
                </a:solidFill>
                <a:latin typeface="Neuton"/>
                <a:ea typeface="Neuton"/>
                <a:cs typeface="Neuton"/>
                <a:sym typeface="Neuton"/>
              </a:rPr>
              <a:t>125</a:t>
            </a:r>
            <a:endParaRPr b="0" i="0" sz="3918" u="none" cap="none" strike="noStrike">
              <a:solidFill>
                <a:schemeClr val="dk1"/>
              </a:solidFill>
              <a:latin typeface="Calibri"/>
              <a:ea typeface="Calibri"/>
              <a:cs typeface="Calibri"/>
              <a:sym typeface="Calibri"/>
            </a:endParaRPr>
          </a:p>
        </p:txBody>
      </p:sp>
      <p:sp>
        <p:nvSpPr>
          <p:cNvPr id="225" name="Google Shape;225;p9"/>
          <p:cNvSpPr/>
          <p:nvPr/>
        </p:nvSpPr>
        <p:spPr>
          <a:xfrm>
            <a:off x="6729413" y="3338513"/>
            <a:ext cx="19145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DB MIGRATIONS</a:t>
            </a:r>
            <a:endParaRPr b="0" i="0" sz="713" u="none" cap="none" strike="noStrike">
              <a:solidFill>
                <a:schemeClr val="dk1"/>
              </a:solidFill>
              <a:latin typeface="Calibri"/>
              <a:ea typeface="Calibri"/>
              <a:cs typeface="Calibri"/>
              <a:sym typeface="Calibri"/>
            </a:endParaRPr>
          </a:p>
        </p:txBody>
      </p:sp>
      <p:sp>
        <p:nvSpPr>
          <p:cNvPr id="226" name="Google Shape;226;p9"/>
          <p:cNvSpPr/>
          <p:nvPr/>
        </p:nvSpPr>
        <p:spPr>
          <a:xfrm>
            <a:off x="6729413" y="3829050"/>
            <a:ext cx="1938337" cy="766763"/>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9"/>
          <p:cNvSpPr/>
          <p:nvPr/>
        </p:nvSpPr>
        <p:spPr>
          <a:xfrm>
            <a:off x="6729413" y="3829050"/>
            <a:ext cx="1938337" cy="576263"/>
          </a:xfrm>
          <a:prstGeom prst="rect">
            <a:avLst/>
          </a:prstGeom>
          <a:noFill/>
          <a:ln>
            <a:noFill/>
          </a:ln>
        </p:spPr>
        <p:txBody>
          <a:bodyPr anchorCtr="0" anchor="ctr" bIns="0" lIns="0" spcFirstLastPara="1" rIns="0" wrap="square" tIns="0">
            <a:noAutofit/>
          </a:bodyPr>
          <a:lstStyle/>
          <a:p>
            <a:pPr indent="0" lvl="0" marL="0" marR="0" rtl="0" algn="l">
              <a:lnSpc>
                <a:spcPct val="110030"/>
              </a:lnSpc>
              <a:spcBef>
                <a:spcPts val="0"/>
              </a:spcBef>
              <a:spcAft>
                <a:spcPts val="0"/>
              </a:spcAft>
              <a:buClr>
                <a:srgbClr val="2DABC2"/>
              </a:buClr>
              <a:buSzPts val="3918"/>
              <a:buFont typeface="Neuton"/>
              <a:buNone/>
            </a:pPr>
            <a:r>
              <a:rPr b="0" i="0" lang="en-US" sz="3918" u="none" cap="none" strike="noStrike">
                <a:solidFill>
                  <a:srgbClr val="2DABC2"/>
                </a:solidFill>
                <a:latin typeface="Neuton"/>
                <a:ea typeface="Neuton"/>
                <a:cs typeface="Neuton"/>
                <a:sym typeface="Neuton"/>
              </a:rPr>
              <a:t>66</a:t>
            </a:r>
            <a:endParaRPr b="0" i="0" sz="3918" u="none" cap="none" strike="noStrike">
              <a:solidFill>
                <a:schemeClr val="dk1"/>
              </a:solidFill>
              <a:latin typeface="Calibri"/>
              <a:ea typeface="Calibri"/>
              <a:cs typeface="Calibri"/>
              <a:sym typeface="Calibri"/>
            </a:endParaRPr>
          </a:p>
        </p:txBody>
      </p:sp>
      <p:sp>
        <p:nvSpPr>
          <p:cNvPr id="228" name="Google Shape;228;p9"/>
          <p:cNvSpPr/>
          <p:nvPr/>
        </p:nvSpPr>
        <p:spPr>
          <a:xfrm>
            <a:off x="6729413" y="4481513"/>
            <a:ext cx="19145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SOURCE FILES IN THIS REPO</a:t>
            </a:r>
            <a:endParaRPr b="0" i="0" sz="713" u="none" cap="none" strike="noStrike">
              <a:solidFill>
                <a:schemeClr val="dk1"/>
              </a:solidFill>
              <a:latin typeface="Calibri"/>
              <a:ea typeface="Calibri"/>
              <a:cs typeface="Calibri"/>
              <a:sym typeface="Calibri"/>
            </a:endParaRPr>
          </a:p>
        </p:txBody>
      </p:sp>
      <p:pic>
        <p:nvPicPr>
          <p:cNvPr descr="preencoded.png" id="229" name="Google Shape;229;p9"/>
          <p:cNvPicPr preferRelativeResize="0"/>
          <p:nvPr/>
        </p:nvPicPr>
        <p:blipFill rotWithShape="1">
          <a:blip r:embed="rId3">
            <a:alphaModFix/>
          </a:blip>
          <a:srcRect b="0" l="0" r="0" t="0"/>
          <a:stretch/>
        </p:blipFill>
        <p:spPr>
          <a:xfrm>
            <a:off x="485775" y="1562100"/>
            <a:ext cx="5405438" cy="3105150"/>
          </a:xfrm>
          <a:prstGeom prst="rect">
            <a:avLst/>
          </a:prstGeom>
          <a:noFill/>
          <a:ln>
            <a:noFill/>
          </a:ln>
        </p:spPr>
      </p:pic>
      <p:sp>
        <p:nvSpPr>
          <p:cNvPr id="230" name="Google Shape;230;p9"/>
          <p:cNvSpPr/>
          <p:nvPr/>
        </p:nvSpPr>
        <p:spPr>
          <a:xfrm>
            <a:off x="619125" y="1690688"/>
            <a:ext cx="1862138" cy="876300"/>
          </a:xfrm>
          <a:prstGeom prst="rect">
            <a:avLst/>
          </a:prstGeom>
          <a:noFill/>
          <a:ln>
            <a:noFill/>
          </a:ln>
        </p:spPr>
        <p:txBody>
          <a:bodyPr anchorCtr="0" anchor="ctr" bIns="0" lIns="0" spcFirstLastPara="1" rIns="0" wrap="square" tIns="0">
            <a:noAutofit/>
          </a:bodyPr>
          <a:lstStyle/>
          <a:p>
            <a:pPr indent="0" lvl="0" marL="0" marR="0" rtl="0" algn="l">
              <a:lnSpc>
                <a:spcPct val="130109"/>
              </a:lnSpc>
              <a:spcBef>
                <a:spcPts val="0"/>
              </a:spcBef>
              <a:spcAft>
                <a:spcPts val="0"/>
              </a:spcAft>
              <a:buClr>
                <a:srgbClr val="000000"/>
              </a:buClr>
              <a:buSzPts val="641"/>
              <a:buFont typeface="Open Sans"/>
              <a:buNone/>
            </a:pPr>
            <a:r>
              <a:rPr b="0" i="0" lang="en-US" sz="641" u="none" cap="none" strike="noStrike">
                <a:solidFill>
                  <a:srgbClr val="000000"/>
                </a:solidFill>
                <a:latin typeface="Open Sans"/>
                <a:ea typeface="Open Sans"/>
                <a:cs typeface="Open Sans"/>
                <a:sym typeface="Open Sans"/>
              </a:rPr>
              <a:t>Our ontology IS a cognitive science framework. 7 coherence factors → psychological state dimensions. 5 transition phases → developmental stage theory. 12 archetypes → personality psychology.
We're speaking the same language as EverMemOS — from a different tradition.</a:t>
            </a:r>
            <a:endParaRPr b="0" i="0" sz="641" u="none" cap="none" strike="noStrike">
              <a:solidFill>
                <a:schemeClr val="dk1"/>
              </a:solidFill>
              <a:latin typeface="Calibri"/>
              <a:ea typeface="Calibri"/>
              <a:cs typeface="Calibri"/>
              <a:sym typeface="Calibri"/>
            </a:endParaRPr>
          </a:p>
          <a:p>
            <a:pPr indent="0" lvl="0" marL="0" marR="0" rtl="0" algn="l">
              <a:lnSpc>
                <a:spcPct val="130109"/>
              </a:lnSpc>
              <a:spcBef>
                <a:spcPts val="0"/>
              </a:spcBef>
              <a:spcAft>
                <a:spcPts val="0"/>
              </a:spcAft>
              <a:buClr>
                <a:srgbClr val="000000"/>
              </a:buClr>
              <a:buSzPts val="641"/>
              <a:buFont typeface="Open Sans"/>
              <a:buNone/>
            </a:pPr>
            <a:r>
              <a:rPr b="0" i="0" lang="en-US" sz="641" u="none" cap="none" strike="noStrike">
                <a:solidFill>
                  <a:srgbClr val="000000"/>
                </a:solidFill>
                <a:latin typeface="Open Sans"/>
                <a:ea typeface="Open Sans"/>
                <a:cs typeface="Open Sans"/>
                <a:sym typeface="Open Sans"/>
              </a:rPr>
              <a:t/>
            </a:r>
            <a:endParaRPr b="0" i="0" sz="641" u="none" cap="none" strike="noStrike">
              <a:solidFill>
                <a:schemeClr val="dk1"/>
              </a:solidFill>
              <a:latin typeface="Calibri"/>
              <a:ea typeface="Calibri"/>
              <a:cs typeface="Calibri"/>
              <a:sym typeface="Calibri"/>
            </a:endParaRPr>
          </a:p>
        </p:txBody>
      </p:sp>
      <p:sp>
        <p:nvSpPr>
          <p:cNvPr id="231" name="Google Shape;231;p9"/>
          <p:cNvSpPr/>
          <p:nvPr/>
        </p:nvSpPr>
        <p:spPr>
          <a:xfrm>
            <a:off x="476250" y="219075"/>
            <a:ext cx="5429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7A7A7A"/>
              </a:buClr>
              <a:buSzPts val="713"/>
              <a:buFont typeface="Open Sans"/>
              <a:buNone/>
            </a:pPr>
            <a:r>
              <a:rPr b="1" i="0" lang="en-US" sz="713" u="none" cap="none" strike="noStrike">
                <a:solidFill>
                  <a:srgbClr val="7A7A7A"/>
                </a:solidFill>
                <a:latin typeface="Open Sans"/>
                <a:ea typeface="Open Sans"/>
                <a:cs typeface="Open Sans"/>
                <a:sym typeface="Open Sans"/>
              </a:rPr>
              <a:t>SLIDE TITLE</a:t>
            </a:r>
            <a:endParaRPr b="0" i="0" sz="713" u="none" cap="none" strike="noStrike">
              <a:solidFill>
                <a:schemeClr val="dk1"/>
              </a:solidFill>
              <a:latin typeface="Calibri"/>
              <a:ea typeface="Calibri"/>
              <a:cs typeface="Calibri"/>
              <a:sym typeface="Calibri"/>
            </a:endParaRPr>
          </a:p>
        </p:txBody>
      </p:sp>
      <p:cxnSp>
        <p:nvCxnSpPr>
          <p:cNvPr id="232" name="Google Shape;232;p9"/>
          <p:cNvCxnSpPr/>
          <p:nvPr/>
        </p:nvCxnSpPr>
        <p:spPr>
          <a:xfrm>
            <a:off x="476250" y="476250"/>
            <a:ext cx="8177213" cy="0"/>
          </a:xfrm>
          <a:prstGeom prst="straightConnector1">
            <a:avLst/>
          </a:prstGeom>
          <a:noFill/>
          <a:ln cap="flat" cmpd="sng" w="9525">
            <a:solidFill>
              <a:srgbClr val="7A7A7A"/>
            </a:solidFill>
            <a:prstDash val="solid"/>
            <a:round/>
            <a:headEnd len="sm" w="sm" type="none"/>
            <a:tailEnd len="sm" w="sm" type="none"/>
          </a:ln>
        </p:spPr>
      </p:cxnSp>
      <p:pic>
        <p:nvPicPr>
          <p:cNvPr descr="preencoded.png" id="233" name="Google Shape;233;p9"/>
          <p:cNvPicPr preferRelativeResize="0"/>
          <p:nvPr/>
        </p:nvPicPr>
        <p:blipFill rotWithShape="1">
          <a:blip r:embed="rId4">
            <a:alphaModFix/>
          </a:blip>
          <a:srcRect b="0" l="0" r="0" t="0"/>
          <a:stretch/>
        </p:blipFill>
        <p:spPr>
          <a:xfrm>
            <a:off x="7905750" y="204788"/>
            <a:ext cx="748308" cy="142875"/>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00000"/>
        </a:solidFill>
      </p:bgPr>
    </p:bg>
    <p:spTree>
      <p:nvGrpSpPr>
        <p:cNvPr id="238" name="Shape 238"/>
        <p:cNvGrpSpPr/>
        <p:nvPr/>
      </p:nvGrpSpPr>
      <p:grpSpPr>
        <a:xfrm>
          <a:off x="0" y="0"/>
          <a:ext cx="0" cy="0"/>
          <a:chOff x="0" y="0"/>
          <a:chExt cx="0" cy="0"/>
        </a:xfrm>
      </p:grpSpPr>
      <p:sp>
        <p:nvSpPr>
          <p:cNvPr id="239" name="Google Shape;239;p10"/>
          <p:cNvSpPr/>
          <p:nvPr/>
        </p:nvSpPr>
        <p:spPr>
          <a:xfrm>
            <a:off x="476250" y="914400"/>
            <a:ext cx="5414963"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FFFFFF"/>
              </a:buClr>
              <a:buSzPts val="2850"/>
              <a:buFont typeface="Neuton"/>
              <a:buNone/>
            </a:pPr>
            <a:r>
              <a:rPr b="0" i="0" lang="en-US" sz="2850" u="none" cap="none" strike="noStrike">
                <a:solidFill>
                  <a:srgbClr val="FFFFFF"/>
                </a:solidFill>
                <a:latin typeface="Neuton"/>
                <a:ea typeface="Neuton"/>
                <a:cs typeface="Neuton"/>
                <a:sym typeface="Neuton"/>
              </a:rPr>
              <a:t>Why This Integration Works</a:t>
            </a:r>
            <a:endParaRPr b="0" i="0" sz="2850" u="none" cap="none" strike="noStrike">
              <a:solidFill>
                <a:schemeClr val="dk1"/>
              </a:solidFill>
              <a:latin typeface="Calibri"/>
              <a:ea typeface="Calibri"/>
              <a:cs typeface="Calibri"/>
              <a:sym typeface="Calibri"/>
            </a:endParaRPr>
          </a:p>
        </p:txBody>
      </p:sp>
      <p:sp>
        <p:nvSpPr>
          <p:cNvPr id="240" name="Google Shape;240;p10"/>
          <p:cNvSpPr/>
          <p:nvPr/>
        </p:nvSpPr>
        <p:spPr>
          <a:xfrm>
            <a:off x="476250" y="1638300"/>
            <a:ext cx="8177213" cy="302895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0"/>
          <p:cNvSpPr/>
          <p:nvPr/>
        </p:nvSpPr>
        <p:spPr>
          <a:xfrm>
            <a:off x="485775" y="1638300"/>
            <a:ext cx="8158163"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0"/>
          <p:cNvSpPr/>
          <p:nvPr/>
        </p:nvSpPr>
        <p:spPr>
          <a:xfrm>
            <a:off x="485775" y="1638300"/>
            <a:ext cx="3448050"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0"/>
          <p:cNvSpPr/>
          <p:nvPr/>
        </p:nvSpPr>
        <p:spPr>
          <a:xfrm>
            <a:off x="485775" y="1638300"/>
            <a:ext cx="3448050" cy="1285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C53D"/>
              </a:buClr>
              <a:buSzPts val="1283"/>
              <a:buFont typeface="Open Sans"/>
              <a:buNone/>
            </a:pPr>
            <a:r>
              <a:rPr b="0" i="0" lang="en-US" sz="1283" u="none" cap="none" strike="noStrike">
                <a:solidFill>
                  <a:srgbClr val="FFC53D"/>
                </a:solidFill>
                <a:latin typeface="Open Sans"/>
                <a:ea typeface="Open Sans"/>
                <a:cs typeface="Open Sans"/>
                <a:sym typeface="Open Sans"/>
              </a:rPr>
              <a:t>Production app, not a prototype</a:t>
            </a:r>
            <a:endParaRPr b="0" i="0" sz="1283" u="none" cap="none" strike="noStrike">
              <a:solidFill>
                <a:schemeClr val="dk1"/>
              </a:solidFill>
              <a:latin typeface="Calibri"/>
              <a:ea typeface="Calibri"/>
              <a:cs typeface="Calibri"/>
              <a:sym typeface="Calibri"/>
            </a:endParaRPr>
          </a:p>
        </p:txBody>
      </p:sp>
      <p:sp>
        <p:nvSpPr>
          <p:cNvPr id="244" name="Google Shape;244;p10"/>
          <p:cNvSpPr/>
          <p:nvPr/>
        </p:nvSpPr>
        <p:spPr>
          <a:xfrm>
            <a:off x="485775" y="1885950"/>
            <a:ext cx="3448050" cy="295275"/>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FFFFFF"/>
              </a:buClr>
              <a:buSzPts val="855"/>
              <a:buFont typeface="Open Sans"/>
              <a:buNone/>
            </a:pPr>
            <a:r>
              <a:rPr b="0" i="0" lang="en-US" sz="855" u="none" cap="none" strike="noStrike">
                <a:solidFill>
                  <a:srgbClr val="FFFFFF"/>
                </a:solidFill>
                <a:latin typeface="Open Sans"/>
                <a:ea typeface="Open Sans"/>
                <a:cs typeface="Open Sans"/>
                <a:sym typeface="Open Sans"/>
              </a:rPr>
              <a:t>271 API routes, 125 DB migrations. Deployed at theliminalspace.io. Real users, real data.</a:t>
            </a:r>
            <a:endParaRPr b="0" i="0" sz="855" u="none" cap="none" strike="noStrike">
              <a:solidFill>
                <a:schemeClr val="dk1"/>
              </a:solidFill>
              <a:latin typeface="Calibri"/>
              <a:ea typeface="Calibri"/>
              <a:cs typeface="Calibri"/>
              <a:sym typeface="Calibri"/>
            </a:endParaRPr>
          </a:p>
        </p:txBody>
      </p:sp>
      <p:sp>
        <p:nvSpPr>
          <p:cNvPr id="245" name="Google Shape;245;p10"/>
          <p:cNvSpPr/>
          <p:nvPr/>
        </p:nvSpPr>
        <p:spPr>
          <a:xfrm>
            <a:off x="5467350" y="1885950"/>
            <a:ext cx="3176588" cy="295275"/>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FFFFFF"/>
              </a:buClr>
              <a:buSzPts val="855"/>
              <a:buFont typeface="Open Sans"/>
              <a:buNone/>
            </a:pPr>
            <a:r>
              <a:rPr b="0" i="0" lang="en-US" sz="855" u="none" cap="none" strike="noStrike">
                <a:solidFill>
                  <a:srgbClr val="FFFFFF"/>
                </a:solidFill>
                <a:latin typeface="Open Sans"/>
                <a:ea typeface="Open Sans"/>
                <a:cs typeface="Open Sans"/>
                <a:sym typeface="Open Sans"/>
              </a:rPr>
              <a:t>Not a weekend hack — EverMemOS completed an architecture that was already tracking the right data.</a:t>
            </a:r>
            <a:endParaRPr b="0" i="0" sz="855" u="none" cap="none" strike="noStrike">
              <a:solidFill>
                <a:schemeClr val="dk1"/>
              </a:solidFill>
              <a:latin typeface="Calibri"/>
              <a:ea typeface="Calibri"/>
              <a:cs typeface="Calibri"/>
              <a:sym typeface="Calibri"/>
            </a:endParaRPr>
          </a:p>
        </p:txBody>
      </p:sp>
      <p:sp>
        <p:nvSpPr>
          <p:cNvPr id="246" name="Google Shape;246;p10"/>
          <p:cNvSpPr/>
          <p:nvPr/>
        </p:nvSpPr>
        <p:spPr>
          <a:xfrm>
            <a:off x="485775" y="2466975"/>
            <a:ext cx="8158163"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0"/>
          <p:cNvSpPr/>
          <p:nvPr/>
        </p:nvSpPr>
        <p:spPr>
          <a:xfrm>
            <a:off x="485775" y="2466975"/>
            <a:ext cx="3448050"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0"/>
          <p:cNvSpPr/>
          <p:nvPr/>
        </p:nvSpPr>
        <p:spPr>
          <a:xfrm>
            <a:off x="485775" y="2466975"/>
            <a:ext cx="3448050"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0"/>
          <p:cNvSpPr/>
          <p:nvPr/>
        </p:nvSpPr>
        <p:spPr>
          <a:xfrm>
            <a:off x="485775" y="2466975"/>
            <a:ext cx="3448050" cy="1285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C53D"/>
              </a:buClr>
              <a:buSzPts val="1283"/>
              <a:buFont typeface="Open Sans"/>
              <a:buNone/>
            </a:pPr>
            <a:r>
              <a:rPr b="0" i="0" lang="en-US" sz="1283" u="none" cap="none" strike="noStrike">
                <a:solidFill>
                  <a:srgbClr val="FFC53D"/>
                </a:solidFill>
                <a:latin typeface="Open Sans"/>
                <a:ea typeface="Open Sans"/>
                <a:cs typeface="Open Sans"/>
                <a:sym typeface="Open Sans"/>
              </a:rPr>
              <a:t>Full EverMemOS lifecycle used</a:t>
            </a:r>
            <a:endParaRPr b="0" i="0" sz="1283" u="none" cap="none" strike="noStrike">
              <a:solidFill>
                <a:schemeClr val="dk1"/>
              </a:solidFill>
              <a:latin typeface="Calibri"/>
              <a:ea typeface="Calibri"/>
              <a:cs typeface="Calibri"/>
              <a:sym typeface="Calibri"/>
            </a:endParaRPr>
          </a:p>
        </p:txBody>
      </p:sp>
      <p:sp>
        <p:nvSpPr>
          <p:cNvPr id="250" name="Google Shape;250;p10"/>
          <p:cNvSpPr/>
          <p:nvPr/>
        </p:nvSpPr>
        <p:spPr>
          <a:xfrm>
            <a:off x="485775" y="2714625"/>
            <a:ext cx="3448050" cy="295275"/>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FFFFFF"/>
              </a:buClr>
              <a:buSzPts val="855"/>
              <a:buFont typeface="Open Sans"/>
              <a:buNone/>
            </a:pPr>
            <a:r>
              <a:rPr b="0" i="0" lang="en-US" sz="855" u="none" cap="none" strike="noStrike">
                <a:solidFill>
                  <a:srgbClr val="FFFFFF"/>
                </a:solidFill>
                <a:latin typeface="Open Sans"/>
                <a:ea typeface="Open Sans"/>
                <a:cs typeface="Open Sans"/>
                <a:sym typeface="Open Sans"/>
              </a:rPr>
              <a:t>Episodic trace → semantic consolidation → reconstructive recollection. All 3 phases demonstrated.</a:t>
            </a:r>
            <a:endParaRPr b="0" i="0" sz="855" u="none" cap="none" strike="noStrike">
              <a:solidFill>
                <a:schemeClr val="dk1"/>
              </a:solidFill>
              <a:latin typeface="Calibri"/>
              <a:ea typeface="Calibri"/>
              <a:cs typeface="Calibri"/>
              <a:sym typeface="Calibri"/>
            </a:endParaRPr>
          </a:p>
        </p:txBody>
      </p:sp>
      <p:sp>
        <p:nvSpPr>
          <p:cNvPr id="251" name="Google Shape;251;p10"/>
          <p:cNvSpPr/>
          <p:nvPr/>
        </p:nvSpPr>
        <p:spPr>
          <a:xfrm>
            <a:off x="5467350" y="2714625"/>
            <a:ext cx="3176588" cy="295275"/>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FFFFFF"/>
              </a:buClr>
              <a:buSzPts val="855"/>
              <a:buFont typeface="Open Sans"/>
              <a:buNone/>
            </a:pPr>
            <a:r>
              <a:rPr b="0" i="0" lang="en-US" sz="855" u="none" cap="none" strike="noStrike">
                <a:solidFill>
                  <a:srgbClr val="FFFFFF"/>
                </a:solidFill>
                <a:latin typeface="Open Sans"/>
                <a:ea typeface="Open Sans"/>
                <a:cs typeface="Open Sans"/>
                <a:sym typeface="Open Sans"/>
              </a:rPr>
              <a:t>Most competitors only use episodic trace. We demonstrate the full Memory → Reasoning → Action loop.</a:t>
            </a:r>
            <a:endParaRPr b="0" i="0" sz="855" u="none" cap="none" strike="noStrike">
              <a:solidFill>
                <a:schemeClr val="dk1"/>
              </a:solidFill>
              <a:latin typeface="Calibri"/>
              <a:ea typeface="Calibri"/>
              <a:cs typeface="Calibri"/>
              <a:sym typeface="Calibri"/>
            </a:endParaRPr>
          </a:p>
        </p:txBody>
      </p:sp>
      <p:sp>
        <p:nvSpPr>
          <p:cNvPr id="252" name="Google Shape;252;p10"/>
          <p:cNvSpPr/>
          <p:nvPr/>
        </p:nvSpPr>
        <p:spPr>
          <a:xfrm>
            <a:off x="485775" y="3295650"/>
            <a:ext cx="8158163"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0"/>
          <p:cNvSpPr/>
          <p:nvPr/>
        </p:nvSpPr>
        <p:spPr>
          <a:xfrm>
            <a:off x="485775" y="3295650"/>
            <a:ext cx="3448050"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0"/>
          <p:cNvSpPr/>
          <p:nvPr/>
        </p:nvSpPr>
        <p:spPr>
          <a:xfrm>
            <a:off x="485775" y="3295650"/>
            <a:ext cx="3448050"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0"/>
          <p:cNvSpPr/>
          <p:nvPr/>
        </p:nvSpPr>
        <p:spPr>
          <a:xfrm>
            <a:off x="485775" y="3295650"/>
            <a:ext cx="3448050" cy="1285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C53D"/>
              </a:buClr>
              <a:buSzPts val="1283"/>
              <a:buFont typeface="Open Sans"/>
              <a:buNone/>
            </a:pPr>
            <a:r>
              <a:rPr b="0" i="0" lang="en-US" sz="1283" u="none" cap="none" strike="noStrike">
                <a:solidFill>
                  <a:srgbClr val="FFC53D"/>
                </a:solidFill>
                <a:latin typeface="Open Sans"/>
                <a:ea typeface="Open Sans"/>
                <a:cs typeface="Open Sans"/>
                <a:sym typeface="Open Sans"/>
              </a:rPr>
              <a:t>Graceful degradation by design</a:t>
            </a:r>
            <a:endParaRPr b="0" i="0" sz="1283" u="none" cap="none" strike="noStrike">
              <a:solidFill>
                <a:schemeClr val="dk1"/>
              </a:solidFill>
              <a:latin typeface="Calibri"/>
              <a:ea typeface="Calibri"/>
              <a:cs typeface="Calibri"/>
              <a:sym typeface="Calibri"/>
            </a:endParaRPr>
          </a:p>
        </p:txBody>
      </p:sp>
      <p:sp>
        <p:nvSpPr>
          <p:cNvPr id="256" name="Google Shape;256;p10"/>
          <p:cNvSpPr/>
          <p:nvPr/>
        </p:nvSpPr>
        <p:spPr>
          <a:xfrm>
            <a:off x="485775" y="3543300"/>
            <a:ext cx="3448050" cy="295275"/>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FFFFFF"/>
              </a:buClr>
              <a:buSzPts val="855"/>
              <a:buFont typeface="Open Sans"/>
              <a:buNone/>
            </a:pPr>
            <a:r>
              <a:rPr b="0" i="0" lang="en-US" sz="855" u="none" cap="none" strike="noStrike">
                <a:solidFill>
                  <a:srgbClr val="FFFFFF"/>
                </a:solidFill>
                <a:latin typeface="Open Sans"/>
                <a:ea typeface="Open Sans"/>
                <a:cs typeface="Open Sans"/>
                <a:sym typeface="Open Sans"/>
              </a:rPr>
              <a:t>All channels fire-and-forget. App works identically without EverMemOS. It just accumulates when memory is available.</a:t>
            </a:r>
            <a:endParaRPr b="0" i="0" sz="855" u="none" cap="none" strike="noStrike">
              <a:solidFill>
                <a:schemeClr val="dk1"/>
              </a:solidFill>
              <a:latin typeface="Calibri"/>
              <a:ea typeface="Calibri"/>
              <a:cs typeface="Calibri"/>
              <a:sym typeface="Calibri"/>
            </a:endParaRPr>
          </a:p>
        </p:txBody>
      </p:sp>
      <p:sp>
        <p:nvSpPr>
          <p:cNvPr id="257" name="Google Shape;257;p10"/>
          <p:cNvSpPr/>
          <p:nvPr/>
        </p:nvSpPr>
        <p:spPr>
          <a:xfrm>
            <a:off x="5467350" y="3543300"/>
            <a:ext cx="3176588" cy="295275"/>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FFFFFF"/>
              </a:buClr>
              <a:buSzPts val="855"/>
              <a:buFont typeface="Open Sans"/>
              <a:buNone/>
            </a:pPr>
            <a:r>
              <a:rPr b="0" i="0" lang="en-US" sz="855" u="none" cap="none" strike="noStrike">
                <a:solidFill>
                  <a:srgbClr val="FFFFFF"/>
                </a:solidFill>
                <a:latin typeface="Open Sans"/>
                <a:ea typeface="Open Sans"/>
                <a:cs typeface="Open Sans"/>
                <a:sym typeface="Open Sans"/>
              </a:rPr>
              <a:t>16th handler on a 15-handler EventBus. One file, three lines of registration, zero response time impact.</a:t>
            </a:r>
            <a:endParaRPr b="0" i="0" sz="855" u="none" cap="none" strike="noStrike">
              <a:solidFill>
                <a:schemeClr val="dk1"/>
              </a:solidFill>
              <a:latin typeface="Calibri"/>
              <a:ea typeface="Calibri"/>
              <a:cs typeface="Calibri"/>
              <a:sym typeface="Calibri"/>
            </a:endParaRPr>
          </a:p>
        </p:txBody>
      </p:sp>
      <p:sp>
        <p:nvSpPr>
          <p:cNvPr id="258" name="Google Shape;258;p10"/>
          <p:cNvSpPr/>
          <p:nvPr/>
        </p:nvSpPr>
        <p:spPr>
          <a:xfrm>
            <a:off x="476250" y="4124325"/>
            <a:ext cx="8177213"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9" name="Google Shape;259;p10"/>
          <p:cNvSpPr/>
          <p:nvPr/>
        </p:nvSpPr>
        <p:spPr>
          <a:xfrm>
            <a:off x="476250" y="4124325"/>
            <a:ext cx="3448050"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10"/>
          <p:cNvSpPr/>
          <p:nvPr/>
        </p:nvSpPr>
        <p:spPr>
          <a:xfrm>
            <a:off x="476250" y="4124325"/>
            <a:ext cx="3448050" cy="54292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0"/>
          <p:cNvSpPr/>
          <p:nvPr/>
        </p:nvSpPr>
        <p:spPr>
          <a:xfrm>
            <a:off x="476250" y="4124325"/>
            <a:ext cx="3448050" cy="1285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FFC53D"/>
              </a:buClr>
              <a:buSzPts val="1283"/>
              <a:buFont typeface="Open Sans"/>
              <a:buNone/>
            </a:pPr>
            <a:r>
              <a:rPr b="0" i="0" lang="en-US" sz="1283" u="none" cap="none" strike="noStrike">
                <a:solidFill>
                  <a:srgbClr val="FFC53D"/>
                </a:solidFill>
                <a:latin typeface="Open Sans"/>
                <a:ea typeface="Open Sans"/>
                <a:cs typeface="Open Sans"/>
                <a:sym typeface="Open Sans"/>
              </a:rPr>
              <a:t>Category of one</a:t>
            </a:r>
            <a:endParaRPr b="0" i="0" sz="1283" u="none" cap="none" strike="noStrike">
              <a:solidFill>
                <a:schemeClr val="dk1"/>
              </a:solidFill>
              <a:latin typeface="Calibri"/>
              <a:ea typeface="Calibri"/>
              <a:cs typeface="Calibri"/>
              <a:sym typeface="Calibri"/>
            </a:endParaRPr>
          </a:p>
        </p:txBody>
      </p:sp>
      <p:sp>
        <p:nvSpPr>
          <p:cNvPr id="262" name="Google Shape;262;p10"/>
          <p:cNvSpPr/>
          <p:nvPr/>
        </p:nvSpPr>
        <p:spPr>
          <a:xfrm>
            <a:off x="476250" y="4371975"/>
            <a:ext cx="3448050" cy="295275"/>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FFFFFF"/>
              </a:buClr>
              <a:buSzPts val="855"/>
              <a:buFont typeface="Open Sans"/>
              <a:buNone/>
            </a:pPr>
            <a:r>
              <a:rPr b="0" i="0" lang="en-US" sz="855" u="none" cap="none" strike="noStrike">
                <a:solidFill>
                  <a:srgbClr val="FFFFFF"/>
                </a:solidFill>
                <a:latin typeface="Open Sans"/>
                <a:ea typeface="Open Sans"/>
                <a:cs typeface="Open Sans"/>
                <a:sym typeface="Open Sans"/>
              </a:rPr>
              <a:t>Nobody else is using EverMemOS for psychological transformation tracking. The ontology is genuinely novel.</a:t>
            </a:r>
            <a:endParaRPr b="0" i="0" sz="855" u="none" cap="none" strike="noStrike">
              <a:solidFill>
                <a:schemeClr val="dk1"/>
              </a:solidFill>
              <a:latin typeface="Calibri"/>
              <a:ea typeface="Calibri"/>
              <a:cs typeface="Calibri"/>
              <a:sym typeface="Calibri"/>
            </a:endParaRPr>
          </a:p>
        </p:txBody>
      </p:sp>
      <p:sp>
        <p:nvSpPr>
          <p:cNvPr id="263" name="Google Shape;263;p10"/>
          <p:cNvSpPr/>
          <p:nvPr/>
        </p:nvSpPr>
        <p:spPr>
          <a:xfrm>
            <a:off x="5476875" y="4371975"/>
            <a:ext cx="3176588" cy="295275"/>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FFFFFF"/>
              </a:buClr>
              <a:buSzPts val="855"/>
              <a:buFont typeface="Open Sans"/>
              <a:buNone/>
            </a:pPr>
            <a:r>
              <a:rPr b="0" i="0" lang="en-US" sz="855" u="none" cap="none" strike="noStrike">
                <a:solidFill>
                  <a:srgbClr val="FFFFFF"/>
                </a:solidFill>
                <a:latin typeface="Open Sans"/>
                <a:ea typeface="Open Sans"/>
                <a:cs typeface="Open Sans"/>
                <a:sym typeface="Open Sans"/>
              </a:rPr>
              <a:t>Cognitive architecture that remembers your transformation — not a chatbot that remembers your name.</a:t>
            </a:r>
            <a:endParaRPr b="0" i="0" sz="855" u="none" cap="none" strike="noStrike">
              <a:solidFill>
                <a:schemeClr val="dk1"/>
              </a:solidFill>
              <a:latin typeface="Calibri"/>
              <a:ea typeface="Calibri"/>
              <a:cs typeface="Calibri"/>
              <a:sym typeface="Calibri"/>
            </a:endParaRPr>
          </a:p>
        </p:txBody>
      </p:sp>
      <p:pic>
        <p:nvPicPr>
          <p:cNvPr descr="preencoded.png" id="264" name="Google Shape;264;p10"/>
          <p:cNvPicPr preferRelativeResize="0"/>
          <p:nvPr/>
        </p:nvPicPr>
        <p:blipFill rotWithShape="1">
          <a:blip r:embed="rId3">
            <a:alphaModFix/>
          </a:blip>
          <a:srcRect b="0" l="0" r="0" t="0"/>
          <a:stretch/>
        </p:blipFill>
        <p:spPr>
          <a:xfrm>
            <a:off x="4319588" y="2033588"/>
            <a:ext cx="731044" cy="105213"/>
          </a:xfrm>
          <a:prstGeom prst="rect">
            <a:avLst/>
          </a:prstGeom>
          <a:noFill/>
          <a:ln>
            <a:noFill/>
          </a:ln>
        </p:spPr>
      </p:pic>
      <p:pic>
        <p:nvPicPr>
          <p:cNvPr descr="preencoded.png" id="265" name="Google Shape;265;p10"/>
          <p:cNvPicPr preferRelativeResize="0"/>
          <p:nvPr/>
        </p:nvPicPr>
        <p:blipFill rotWithShape="1">
          <a:blip r:embed="rId3">
            <a:alphaModFix/>
          </a:blip>
          <a:srcRect b="0" l="0" r="0" t="0"/>
          <a:stretch/>
        </p:blipFill>
        <p:spPr>
          <a:xfrm>
            <a:off x="4319588" y="2833688"/>
            <a:ext cx="731044" cy="105213"/>
          </a:xfrm>
          <a:prstGeom prst="rect">
            <a:avLst/>
          </a:prstGeom>
          <a:noFill/>
          <a:ln>
            <a:noFill/>
          </a:ln>
        </p:spPr>
      </p:pic>
      <p:pic>
        <p:nvPicPr>
          <p:cNvPr descr="preencoded.png" id="266" name="Google Shape;266;p10"/>
          <p:cNvPicPr preferRelativeResize="0"/>
          <p:nvPr/>
        </p:nvPicPr>
        <p:blipFill rotWithShape="1">
          <a:blip r:embed="rId3">
            <a:alphaModFix/>
          </a:blip>
          <a:srcRect b="0" l="0" r="0" t="0"/>
          <a:stretch/>
        </p:blipFill>
        <p:spPr>
          <a:xfrm>
            <a:off x="4319588" y="3662362"/>
            <a:ext cx="731044" cy="105213"/>
          </a:xfrm>
          <a:prstGeom prst="rect">
            <a:avLst/>
          </a:prstGeom>
          <a:noFill/>
          <a:ln>
            <a:noFill/>
          </a:ln>
        </p:spPr>
      </p:pic>
      <p:pic>
        <p:nvPicPr>
          <p:cNvPr descr="preencoded.png" id="267" name="Google Shape;267;p10"/>
          <p:cNvPicPr preferRelativeResize="0"/>
          <p:nvPr/>
        </p:nvPicPr>
        <p:blipFill rotWithShape="1">
          <a:blip r:embed="rId3">
            <a:alphaModFix/>
          </a:blip>
          <a:srcRect b="0" l="0" r="0" t="0"/>
          <a:stretch/>
        </p:blipFill>
        <p:spPr>
          <a:xfrm>
            <a:off x="4319588" y="4519613"/>
            <a:ext cx="731044" cy="105212"/>
          </a:xfrm>
          <a:prstGeom prst="rect">
            <a:avLst/>
          </a:prstGeom>
          <a:noFill/>
          <a:ln>
            <a:noFill/>
          </a:ln>
        </p:spPr>
      </p:pic>
      <p:sp>
        <p:nvSpPr>
          <p:cNvPr id="268" name="Google Shape;268;p10"/>
          <p:cNvSpPr/>
          <p:nvPr/>
        </p:nvSpPr>
        <p:spPr>
          <a:xfrm>
            <a:off x="476250" y="219075"/>
            <a:ext cx="5429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FFFFFF"/>
              </a:buClr>
              <a:buSzPts val="713"/>
              <a:buFont typeface="Open Sans"/>
              <a:buNone/>
            </a:pPr>
            <a:r>
              <a:rPr b="1" i="0" lang="en-US" sz="713" u="none" cap="none" strike="noStrike">
                <a:solidFill>
                  <a:srgbClr val="FFFFFF"/>
                </a:solidFill>
                <a:latin typeface="Open Sans"/>
                <a:ea typeface="Open Sans"/>
                <a:cs typeface="Open Sans"/>
                <a:sym typeface="Open Sans"/>
              </a:rPr>
              <a:t>SLIDE TITLE</a:t>
            </a:r>
            <a:endParaRPr b="0" i="0" sz="713" u="none" cap="none" strike="noStrike">
              <a:solidFill>
                <a:schemeClr val="dk1"/>
              </a:solidFill>
              <a:latin typeface="Calibri"/>
              <a:ea typeface="Calibri"/>
              <a:cs typeface="Calibri"/>
              <a:sym typeface="Calibri"/>
            </a:endParaRPr>
          </a:p>
        </p:txBody>
      </p:sp>
      <p:cxnSp>
        <p:nvCxnSpPr>
          <p:cNvPr id="269" name="Google Shape;269;p10"/>
          <p:cNvCxnSpPr/>
          <p:nvPr/>
        </p:nvCxnSpPr>
        <p:spPr>
          <a:xfrm>
            <a:off x="476250" y="476250"/>
            <a:ext cx="8177213" cy="0"/>
          </a:xfrm>
          <a:prstGeom prst="straightConnector1">
            <a:avLst/>
          </a:prstGeom>
          <a:noFill/>
          <a:ln cap="flat" cmpd="sng" w="9525">
            <a:solidFill>
              <a:srgbClr val="000000"/>
            </a:solidFill>
            <a:prstDash val="solid"/>
            <a:round/>
            <a:headEnd len="sm" w="sm" type="none"/>
            <a:tailEnd len="sm" w="sm" type="none"/>
          </a:ln>
        </p:spPr>
      </p:cxnSp>
      <p:cxnSp>
        <p:nvCxnSpPr>
          <p:cNvPr id="270" name="Google Shape;270;p10"/>
          <p:cNvCxnSpPr/>
          <p:nvPr/>
        </p:nvCxnSpPr>
        <p:spPr>
          <a:xfrm>
            <a:off x="476250" y="476250"/>
            <a:ext cx="8177213" cy="0"/>
          </a:xfrm>
          <a:prstGeom prst="straightConnector1">
            <a:avLst/>
          </a:prstGeom>
          <a:noFill/>
          <a:ln cap="flat" cmpd="sng" w="9525">
            <a:solidFill>
              <a:srgbClr val="7A7A7A"/>
            </a:solidFill>
            <a:prstDash val="solid"/>
            <a:round/>
            <a:headEnd len="sm" w="sm" type="none"/>
            <a:tailEnd len="sm" w="sm" type="none"/>
          </a:ln>
        </p:spPr>
      </p:cxnSp>
      <p:pic>
        <p:nvPicPr>
          <p:cNvPr descr="preencoded.png" id="271" name="Google Shape;271;p10"/>
          <p:cNvPicPr preferRelativeResize="0"/>
          <p:nvPr/>
        </p:nvPicPr>
        <p:blipFill rotWithShape="1">
          <a:blip r:embed="rId4">
            <a:alphaModFix/>
          </a:blip>
          <a:srcRect b="0" l="0" r="0" t="0"/>
          <a:stretch/>
        </p:blipFill>
        <p:spPr>
          <a:xfrm>
            <a:off x="7915275" y="200025"/>
            <a:ext cx="752475" cy="147638"/>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DE8D8"/>
        </a:solidFill>
      </p:bgPr>
    </p:bg>
    <p:spTree>
      <p:nvGrpSpPr>
        <p:cNvPr id="276" name="Shape 276"/>
        <p:cNvGrpSpPr/>
        <p:nvPr/>
      </p:nvGrpSpPr>
      <p:grpSpPr>
        <a:xfrm>
          <a:off x="0" y="0"/>
          <a:ext cx="0" cy="0"/>
          <a:chOff x="0" y="0"/>
          <a:chExt cx="0" cy="0"/>
        </a:xfrm>
      </p:grpSpPr>
      <p:sp>
        <p:nvSpPr>
          <p:cNvPr id="277" name="Google Shape;277;p11"/>
          <p:cNvSpPr/>
          <p:nvPr/>
        </p:nvSpPr>
        <p:spPr>
          <a:xfrm>
            <a:off x="476250" y="914400"/>
            <a:ext cx="5414963"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Next Steps</a:t>
            </a:r>
            <a:endParaRPr b="0" i="0" sz="2850" u="none" cap="none" strike="noStrike">
              <a:solidFill>
                <a:schemeClr val="dk1"/>
              </a:solidFill>
              <a:latin typeface="Calibri"/>
              <a:ea typeface="Calibri"/>
              <a:cs typeface="Calibri"/>
              <a:sym typeface="Calibri"/>
            </a:endParaRPr>
          </a:p>
        </p:txBody>
      </p:sp>
      <p:sp>
        <p:nvSpPr>
          <p:cNvPr id="278" name="Google Shape;278;p11"/>
          <p:cNvSpPr/>
          <p:nvPr/>
        </p:nvSpPr>
        <p:spPr>
          <a:xfrm>
            <a:off x="476250" y="219075"/>
            <a:ext cx="719138"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PROJECT NAME</a:t>
            </a:r>
            <a:endParaRPr b="0" i="0" sz="713" u="none" cap="none" strike="noStrike">
              <a:solidFill>
                <a:schemeClr val="dk1"/>
              </a:solidFill>
              <a:latin typeface="Calibri"/>
              <a:ea typeface="Calibri"/>
              <a:cs typeface="Calibri"/>
              <a:sym typeface="Calibri"/>
            </a:endParaRPr>
          </a:p>
        </p:txBody>
      </p:sp>
      <p:cxnSp>
        <p:nvCxnSpPr>
          <p:cNvPr id="279" name="Google Shape;279;p11"/>
          <p:cNvCxnSpPr/>
          <p:nvPr/>
        </p:nvCxnSpPr>
        <p:spPr>
          <a:xfrm>
            <a:off x="476250" y="476250"/>
            <a:ext cx="8177213" cy="0"/>
          </a:xfrm>
          <a:prstGeom prst="straightConnector1">
            <a:avLst/>
          </a:prstGeom>
          <a:noFill/>
          <a:ln cap="flat" cmpd="sng" w="9525">
            <a:solidFill>
              <a:srgbClr val="000000"/>
            </a:solidFill>
            <a:prstDash val="solid"/>
            <a:round/>
            <a:headEnd len="sm" w="sm" type="none"/>
            <a:tailEnd len="sm" w="sm" type="none"/>
          </a:ln>
        </p:spPr>
      </p:cxnSp>
      <p:cxnSp>
        <p:nvCxnSpPr>
          <p:cNvPr id="280" name="Google Shape;280;p11"/>
          <p:cNvCxnSpPr/>
          <p:nvPr/>
        </p:nvCxnSpPr>
        <p:spPr>
          <a:xfrm rot="5400000">
            <a:off x="-533400" y="3109913"/>
            <a:ext cx="2019300" cy="0"/>
          </a:xfrm>
          <a:prstGeom prst="straightConnector1">
            <a:avLst/>
          </a:prstGeom>
          <a:noFill/>
          <a:ln cap="flat" cmpd="sng" w="9525">
            <a:solidFill>
              <a:srgbClr val="7A7A7A"/>
            </a:solidFill>
            <a:prstDash val="solid"/>
            <a:round/>
            <a:headEnd len="sm" w="sm" type="none"/>
            <a:tailEnd len="sm" w="sm" type="none"/>
          </a:ln>
        </p:spPr>
      </p:cxnSp>
      <p:cxnSp>
        <p:nvCxnSpPr>
          <p:cNvPr id="281" name="Google Shape;281;p11"/>
          <p:cNvCxnSpPr/>
          <p:nvPr/>
        </p:nvCxnSpPr>
        <p:spPr>
          <a:xfrm rot="5400000">
            <a:off x="240506" y="2336006"/>
            <a:ext cx="471488" cy="0"/>
          </a:xfrm>
          <a:prstGeom prst="straightConnector1">
            <a:avLst/>
          </a:prstGeom>
          <a:noFill/>
          <a:ln cap="flat" cmpd="sng" w="13550">
            <a:solidFill>
              <a:srgbClr val="000000"/>
            </a:solidFill>
            <a:prstDash val="solid"/>
            <a:round/>
            <a:headEnd len="sm" w="sm" type="none"/>
            <a:tailEnd len="sm" w="sm" type="none"/>
          </a:ln>
        </p:spPr>
      </p:cxnSp>
      <p:cxnSp>
        <p:nvCxnSpPr>
          <p:cNvPr id="282" name="Google Shape;282;p11"/>
          <p:cNvCxnSpPr/>
          <p:nvPr/>
        </p:nvCxnSpPr>
        <p:spPr>
          <a:xfrm rot="5400000">
            <a:off x="2321719" y="2807494"/>
            <a:ext cx="471488" cy="0"/>
          </a:xfrm>
          <a:prstGeom prst="straightConnector1">
            <a:avLst/>
          </a:prstGeom>
          <a:noFill/>
          <a:ln cap="flat" cmpd="sng" w="13550">
            <a:solidFill>
              <a:srgbClr val="000000"/>
            </a:solidFill>
            <a:prstDash val="solid"/>
            <a:round/>
            <a:headEnd len="sm" w="sm" type="none"/>
            <a:tailEnd len="sm" w="sm" type="none"/>
          </a:ln>
        </p:spPr>
      </p:cxnSp>
      <p:cxnSp>
        <p:nvCxnSpPr>
          <p:cNvPr id="283" name="Google Shape;283;p11"/>
          <p:cNvCxnSpPr/>
          <p:nvPr/>
        </p:nvCxnSpPr>
        <p:spPr>
          <a:xfrm rot="5400000">
            <a:off x="4402931" y="3350419"/>
            <a:ext cx="471488" cy="0"/>
          </a:xfrm>
          <a:prstGeom prst="straightConnector1">
            <a:avLst/>
          </a:prstGeom>
          <a:noFill/>
          <a:ln cap="flat" cmpd="sng" w="13550">
            <a:solidFill>
              <a:srgbClr val="000000"/>
            </a:solidFill>
            <a:prstDash val="solid"/>
            <a:round/>
            <a:headEnd len="sm" w="sm" type="none"/>
            <a:tailEnd len="sm" w="sm" type="none"/>
          </a:ln>
        </p:spPr>
      </p:cxnSp>
      <p:cxnSp>
        <p:nvCxnSpPr>
          <p:cNvPr id="284" name="Google Shape;284;p11"/>
          <p:cNvCxnSpPr/>
          <p:nvPr/>
        </p:nvCxnSpPr>
        <p:spPr>
          <a:xfrm rot="5400000">
            <a:off x="6488906" y="3888581"/>
            <a:ext cx="471488" cy="0"/>
          </a:xfrm>
          <a:prstGeom prst="straightConnector1">
            <a:avLst/>
          </a:prstGeom>
          <a:noFill/>
          <a:ln cap="flat" cmpd="sng" w="13550">
            <a:solidFill>
              <a:srgbClr val="000000"/>
            </a:solidFill>
            <a:prstDash val="solid"/>
            <a:round/>
            <a:headEnd len="sm" w="sm" type="none"/>
            <a:tailEnd len="sm" w="sm" type="none"/>
          </a:ln>
        </p:spPr>
      </p:cxnSp>
      <p:cxnSp>
        <p:nvCxnSpPr>
          <p:cNvPr id="285" name="Google Shape;285;p11"/>
          <p:cNvCxnSpPr/>
          <p:nvPr/>
        </p:nvCxnSpPr>
        <p:spPr>
          <a:xfrm rot="5400000">
            <a:off x="1552575" y="3109913"/>
            <a:ext cx="2019300" cy="0"/>
          </a:xfrm>
          <a:prstGeom prst="straightConnector1">
            <a:avLst/>
          </a:prstGeom>
          <a:noFill/>
          <a:ln cap="flat" cmpd="sng" w="9525">
            <a:solidFill>
              <a:srgbClr val="7A7A7A"/>
            </a:solidFill>
            <a:prstDash val="solid"/>
            <a:round/>
            <a:headEnd len="sm" w="sm" type="none"/>
            <a:tailEnd len="sm" w="sm" type="none"/>
          </a:ln>
        </p:spPr>
      </p:cxnSp>
      <p:cxnSp>
        <p:nvCxnSpPr>
          <p:cNvPr id="286" name="Google Shape;286;p11"/>
          <p:cNvCxnSpPr/>
          <p:nvPr/>
        </p:nvCxnSpPr>
        <p:spPr>
          <a:xfrm rot="5400000">
            <a:off x="3633788" y="3109913"/>
            <a:ext cx="2019300" cy="0"/>
          </a:xfrm>
          <a:prstGeom prst="straightConnector1">
            <a:avLst/>
          </a:prstGeom>
          <a:noFill/>
          <a:ln cap="flat" cmpd="sng" w="9525">
            <a:solidFill>
              <a:srgbClr val="7A7A7A"/>
            </a:solidFill>
            <a:prstDash val="solid"/>
            <a:round/>
            <a:headEnd len="sm" w="sm" type="none"/>
            <a:tailEnd len="sm" w="sm" type="none"/>
          </a:ln>
        </p:spPr>
      </p:cxnSp>
      <p:cxnSp>
        <p:nvCxnSpPr>
          <p:cNvPr id="287" name="Google Shape;287;p11"/>
          <p:cNvCxnSpPr/>
          <p:nvPr/>
        </p:nvCxnSpPr>
        <p:spPr>
          <a:xfrm rot="5400000">
            <a:off x="5719763" y="3109913"/>
            <a:ext cx="2019300" cy="0"/>
          </a:xfrm>
          <a:prstGeom prst="straightConnector1">
            <a:avLst/>
          </a:prstGeom>
          <a:noFill/>
          <a:ln cap="flat" cmpd="sng" w="9525">
            <a:solidFill>
              <a:srgbClr val="7A7A7A"/>
            </a:solidFill>
            <a:prstDash val="solid"/>
            <a:round/>
            <a:headEnd len="sm" w="sm" type="none"/>
            <a:tailEnd len="sm" w="sm" type="none"/>
          </a:ln>
        </p:spPr>
      </p:cxnSp>
      <p:sp>
        <p:nvSpPr>
          <p:cNvPr id="288" name="Google Shape;288;p11"/>
          <p:cNvSpPr/>
          <p:nvPr/>
        </p:nvSpPr>
        <p:spPr>
          <a:xfrm>
            <a:off x="609600" y="2100263"/>
            <a:ext cx="1809750" cy="17430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1"/>
          <p:cNvSpPr/>
          <p:nvPr/>
        </p:nvSpPr>
        <p:spPr>
          <a:xfrm>
            <a:off x="609600" y="2100263"/>
            <a:ext cx="1809750" cy="17430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1"/>
          <p:cNvSpPr/>
          <p:nvPr/>
        </p:nvSpPr>
        <p:spPr>
          <a:xfrm>
            <a:off x="609600" y="2100263"/>
            <a:ext cx="1809750" cy="614363"/>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1879F"/>
              </a:buClr>
              <a:buSzPts val="1283"/>
              <a:buFont typeface="Open Sans"/>
              <a:buNone/>
            </a:pPr>
            <a:r>
              <a:rPr b="0" i="0" lang="en-US" sz="1283" u="none" cap="none" strike="noStrike">
                <a:solidFill>
                  <a:srgbClr val="01879F"/>
                </a:solidFill>
                <a:latin typeface="Open Sans"/>
                <a:ea typeface="Open Sans"/>
                <a:cs typeface="Open Sans"/>
                <a:sym typeface="Open Sans"/>
              </a:rPr>
              <a:t>Shadow Memory</a:t>
            </a:r>
            <a:endParaRPr b="0" i="0" sz="1283" u="none" cap="none" strike="noStrike">
              <a:solidFill>
                <a:schemeClr val="dk1"/>
              </a:solidFill>
              <a:latin typeface="Calibri"/>
              <a:ea typeface="Calibri"/>
              <a:cs typeface="Calibri"/>
              <a:sym typeface="Calibri"/>
            </a:endParaRPr>
          </a:p>
        </p:txBody>
      </p:sp>
      <p:sp>
        <p:nvSpPr>
          <p:cNvPr id="291" name="Google Shape;291;p11"/>
          <p:cNvSpPr/>
          <p:nvPr/>
        </p:nvSpPr>
        <p:spPr>
          <a:xfrm>
            <a:off x="609600" y="3105150"/>
            <a:ext cx="1809750" cy="73818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Shadow dialogue retrieves past encounters via semantic consolidation. Inquiry deepens across sessions instead of resetting.</a:t>
            </a:r>
            <a:endParaRPr b="0" i="0" sz="855" u="none" cap="none" strike="noStrike">
              <a:solidFill>
                <a:schemeClr val="dk1"/>
              </a:solidFill>
              <a:latin typeface="Calibri"/>
              <a:ea typeface="Calibri"/>
              <a:cs typeface="Calibri"/>
              <a:sym typeface="Calibri"/>
            </a:endParaRPr>
          </a:p>
        </p:txBody>
      </p:sp>
      <p:sp>
        <p:nvSpPr>
          <p:cNvPr id="292" name="Google Shape;292;p11"/>
          <p:cNvSpPr/>
          <p:nvPr/>
        </p:nvSpPr>
        <p:spPr>
          <a:xfrm>
            <a:off x="2695575" y="2100263"/>
            <a:ext cx="1804988" cy="17430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1"/>
          <p:cNvSpPr/>
          <p:nvPr/>
        </p:nvSpPr>
        <p:spPr>
          <a:xfrm>
            <a:off x="2695575" y="2100263"/>
            <a:ext cx="1804988" cy="17430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1"/>
          <p:cNvSpPr/>
          <p:nvPr/>
        </p:nvSpPr>
        <p:spPr>
          <a:xfrm>
            <a:off x="2695575" y="2100263"/>
            <a:ext cx="1804988" cy="614363"/>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1879F"/>
              </a:buClr>
              <a:buSzPts val="1283"/>
              <a:buFont typeface="Open Sans"/>
              <a:buNone/>
            </a:pPr>
            <a:r>
              <a:rPr b="0" i="0" lang="en-US" sz="1283" u="none" cap="none" strike="noStrike">
                <a:solidFill>
                  <a:srgbClr val="01879F"/>
                </a:solidFill>
                <a:latin typeface="Open Sans"/>
                <a:ea typeface="Open Sans"/>
                <a:cs typeface="Open Sans"/>
                <a:sym typeface="Open Sans"/>
              </a:rPr>
              <a:t>Imprint Continuity</a:t>
            </a:r>
            <a:endParaRPr b="0" i="0" sz="1283" u="none" cap="none" strike="noStrike">
              <a:solidFill>
                <a:schemeClr val="dk1"/>
              </a:solidFill>
              <a:latin typeface="Calibri"/>
              <a:ea typeface="Calibri"/>
              <a:cs typeface="Calibri"/>
              <a:sym typeface="Calibri"/>
            </a:endParaRPr>
          </a:p>
        </p:txBody>
      </p:sp>
      <p:sp>
        <p:nvSpPr>
          <p:cNvPr id="295" name="Google Shape;295;p11"/>
          <p:cNvSpPr/>
          <p:nvPr/>
        </p:nvSpPr>
        <p:spPr>
          <a:xfrm>
            <a:off x="2695575" y="3105150"/>
            <a:ext cx="1804988" cy="73818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Semiotic compiler queries recurring motifs from EverMemOS. New Imprints weave the visual thread of your arc.</a:t>
            </a:r>
            <a:endParaRPr b="0" i="0" sz="855" u="none" cap="none" strike="noStrike">
              <a:solidFill>
                <a:schemeClr val="dk1"/>
              </a:solidFill>
              <a:latin typeface="Calibri"/>
              <a:ea typeface="Calibri"/>
              <a:cs typeface="Calibri"/>
              <a:sym typeface="Calibri"/>
            </a:endParaRPr>
          </a:p>
        </p:txBody>
      </p:sp>
      <p:sp>
        <p:nvSpPr>
          <p:cNvPr id="296" name="Google Shape;296;p11"/>
          <p:cNvSpPr/>
          <p:nvPr/>
        </p:nvSpPr>
        <p:spPr>
          <a:xfrm>
            <a:off x="4776788" y="2100263"/>
            <a:ext cx="1809750" cy="17430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1"/>
          <p:cNvSpPr/>
          <p:nvPr/>
        </p:nvSpPr>
        <p:spPr>
          <a:xfrm>
            <a:off x="4776788" y="2100263"/>
            <a:ext cx="1809750" cy="17430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1"/>
          <p:cNvSpPr/>
          <p:nvPr/>
        </p:nvSpPr>
        <p:spPr>
          <a:xfrm>
            <a:off x="4776788" y="2100263"/>
            <a:ext cx="1809750" cy="614363"/>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1879F"/>
              </a:buClr>
              <a:buSzPts val="1283"/>
              <a:buFont typeface="Open Sans"/>
              <a:buNone/>
            </a:pPr>
            <a:r>
              <a:rPr b="0" i="0" lang="en-US" sz="1283" u="none" cap="none" strike="noStrike">
                <a:solidFill>
                  <a:srgbClr val="01879F"/>
                </a:solidFill>
                <a:latin typeface="Open Sans"/>
                <a:ea typeface="Open Sans"/>
                <a:cs typeface="Open Sans"/>
                <a:sym typeface="Open Sans"/>
              </a:rPr>
              <a:t>Temporal Correlation</a:t>
            </a:r>
            <a:endParaRPr b="0" i="0" sz="1283" u="none" cap="none" strike="noStrike">
              <a:solidFill>
                <a:schemeClr val="dk1"/>
              </a:solidFill>
              <a:latin typeface="Calibri"/>
              <a:ea typeface="Calibri"/>
              <a:cs typeface="Calibri"/>
              <a:sym typeface="Calibri"/>
            </a:endParaRPr>
          </a:p>
        </p:txBody>
      </p:sp>
      <p:sp>
        <p:nvSpPr>
          <p:cNvPr id="299" name="Google Shape;299;p11"/>
          <p:cNvSpPr/>
          <p:nvPr/>
        </p:nvSpPr>
        <p:spPr>
          <a:xfrm>
            <a:off x="4776788" y="3105150"/>
            <a:ext cx="1809750" cy="73818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Which archetypes help in which states? Which practices move coherence? Months of data make this answerable.</a:t>
            </a:r>
            <a:endParaRPr b="0" i="0" sz="855" u="none" cap="none" strike="noStrike">
              <a:solidFill>
                <a:schemeClr val="dk1"/>
              </a:solidFill>
              <a:latin typeface="Calibri"/>
              <a:ea typeface="Calibri"/>
              <a:cs typeface="Calibri"/>
              <a:sym typeface="Calibri"/>
            </a:endParaRPr>
          </a:p>
        </p:txBody>
      </p:sp>
      <p:sp>
        <p:nvSpPr>
          <p:cNvPr id="300" name="Google Shape;300;p11"/>
          <p:cNvSpPr/>
          <p:nvPr/>
        </p:nvSpPr>
        <p:spPr>
          <a:xfrm>
            <a:off x="6862763" y="2100263"/>
            <a:ext cx="1790700" cy="17430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1"/>
          <p:cNvSpPr/>
          <p:nvPr/>
        </p:nvSpPr>
        <p:spPr>
          <a:xfrm>
            <a:off x="6862763" y="2100263"/>
            <a:ext cx="1790700" cy="1743075"/>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1"/>
          <p:cNvSpPr/>
          <p:nvPr/>
        </p:nvSpPr>
        <p:spPr>
          <a:xfrm>
            <a:off x="6862763" y="2100263"/>
            <a:ext cx="1790700" cy="614363"/>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1879F"/>
              </a:buClr>
              <a:buSzPts val="1283"/>
              <a:buFont typeface="Open Sans"/>
              <a:buNone/>
            </a:pPr>
            <a:r>
              <a:rPr b="0" i="0" lang="en-US" sz="1283" u="none" cap="none" strike="noStrike">
                <a:solidFill>
                  <a:srgbClr val="01879F"/>
                </a:solidFill>
                <a:latin typeface="Open Sans"/>
                <a:ea typeface="Open Sans"/>
                <a:cs typeface="Open Sans"/>
                <a:sym typeface="Open Sans"/>
              </a:rPr>
              <a:t>Open Source</a:t>
            </a:r>
            <a:endParaRPr b="0" i="0" sz="1283" u="none" cap="none" strike="noStrike">
              <a:solidFill>
                <a:schemeClr val="dk1"/>
              </a:solidFill>
              <a:latin typeface="Calibri"/>
              <a:ea typeface="Calibri"/>
              <a:cs typeface="Calibri"/>
              <a:sym typeface="Calibri"/>
            </a:endParaRPr>
          </a:p>
        </p:txBody>
      </p:sp>
      <p:sp>
        <p:nvSpPr>
          <p:cNvPr id="303" name="Google Shape;303;p11"/>
          <p:cNvSpPr/>
          <p:nvPr/>
        </p:nvSpPr>
        <p:spPr>
          <a:xfrm>
            <a:off x="6862763" y="3105150"/>
            <a:ext cx="1790700" cy="73818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This repo (liminal-evermemos) shows how to integrate EverMemOS into a production EventBus architecture.</a:t>
            </a:r>
            <a:endParaRPr b="0" i="0" sz="855" u="none" cap="none" strike="noStrike">
              <a:solidFill>
                <a:schemeClr val="dk1"/>
              </a:solidFill>
              <a:latin typeface="Calibri"/>
              <a:ea typeface="Calibri"/>
              <a:cs typeface="Calibri"/>
              <a:sym typeface="Calibri"/>
            </a:endParaRPr>
          </a:p>
        </p:txBody>
      </p:sp>
      <p:pic>
        <p:nvPicPr>
          <p:cNvPr descr="preencoded.png" id="304" name="Google Shape;304;p11"/>
          <p:cNvPicPr preferRelativeResize="0"/>
          <p:nvPr/>
        </p:nvPicPr>
        <p:blipFill rotWithShape="1">
          <a:blip r:embed="rId3">
            <a:alphaModFix/>
          </a:blip>
          <a:srcRect b="0" l="0" r="0" t="0"/>
          <a:stretch/>
        </p:blipFill>
        <p:spPr>
          <a:xfrm>
            <a:off x="7905750" y="204788"/>
            <a:ext cx="748308" cy="142875"/>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309" name="Shape 309"/>
        <p:cNvGrpSpPr/>
        <p:nvPr/>
      </p:nvGrpSpPr>
      <p:grpSpPr>
        <a:xfrm>
          <a:off x="0" y="0"/>
          <a:ext cx="0" cy="0"/>
          <a:chOff x="0" y="0"/>
          <a:chExt cx="0" cy="0"/>
        </a:xfrm>
      </p:grpSpPr>
      <p:sp>
        <p:nvSpPr>
          <p:cNvPr id="310" name="Google Shape;310;p12"/>
          <p:cNvSpPr/>
          <p:nvPr/>
        </p:nvSpPr>
        <p:spPr>
          <a:xfrm>
            <a:off x="1171575" y="2095500"/>
            <a:ext cx="2757488" cy="95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2DABC2"/>
              </a:buClr>
              <a:buSzPts val="7125"/>
              <a:buFont typeface="Neuton"/>
              <a:buNone/>
            </a:pPr>
            <a:r>
              <a:rPr b="0" i="0" lang="en-US" sz="7125" u="none" cap="none" strike="noStrike">
                <a:solidFill>
                  <a:srgbClr val="2DABC2"/>
                </a:solidFill>
                <a:latin typeface="Neuton"/>
                <a:ea typeface="Neuton"/>
                <a:cs typeface="Neuton"/>
                <a:sym typeface="Neuton"/>
              </a:rPr>
              <a:t>Q&amp;A</a:t>
            </a:r>
            <a:endParaRPr b="0" i="0" sz="7125" u="none" cap="none" strike="noStrike">
              <a:solidFill>
                <a:schemeClr val="dk1"/>
              </a:solidFill>
              <a:latin typeface="Calibri"/>
              <a:ea typeface="Calibri"/>
              <a:cs typeface="Calibri"/>
              <a:sym typeface="Calibri"/>
            </a:endParaRPr>
          </a:p>
        </p:txBody>
      </p:sp>
      <p:sp>
        <p:nvSpPr>
          <p:cNvPr id="311" name="Google Shape;311;p12"/>
          <p:cNvSpPr/>
          <p:nvPr/>
        </p:nvSpPr>
        <p:spPr>
          <a:xfrm>
            <a:off x="4643438" y="2266950"/>
            <a:ext cx="781050"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2DABC2"/>
              </a:buClr>
              <a:buSzPts val="1283"/>
              <a:buFont typeface="Open Sans"/>
              <a:buNone/>
            </a:pPr>
            <a:r>
              <a:rPr lang="en-US" sz="1283">
                <a:solidFill>
                  <a:srgbClr val="2DABC2"/>
                </a:solidFill>
                <a:latin typeface="Open Sans"/>
                <a:ea typeface="Open Sans"/>
                <a:cs typeface="Open Sans"/>
                <a:sym typeface="Open Sans"/>
              </a:rPr>
              <a:t>Shruti Rajagopal</a:t>
            </a:r>
            <a:endParaRPr b="0" i="0" sz="1283" u="none" cap="none" strike="noStrike">
              <a:solidFill>
                <a:schemeClr val="dk1"/>
              </a:solidFill>
              <a:latin typeface="Calibri"/>
              <a:ea typeface="Calibri"/>
              <a:cs typeface="Calibri"/>
              <a:sym typeface="Calibri"/>
            </a:endParaRPr>
          </a:p>
        </p:txBody>
      </p:sp>
      <p:sp>
        <p:nvSpPr>
          <p:cNvPr id="312" name="Google Shape;312;p12"/>
          <p:cNvSpPr/>
          <p:nvPr/>
        </p:nvSpPr>
        <p:spPr>
          <a:xfrm>
            <a:off x="6729413" y="2271713"/>
            <a:ext cx="942975"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2DABC2"/>
              </a:buClr>
              <a:buSzPts val="1283"/>
              <a:buFont typeface="Open Sans"/>
              <a:buNone/>
            </a:pPr>
            <a:r>
              <a:rPr lang="en-US" sz="1283">
                <a:solidFill>
                  <a:srgbClr val="2DABC2"/>
                </a:solidFill>
                <a:latin typeface="Open Sans"/>
                <a:ea typeface="Open Sans"/>
                <a:cs typeface="Open Sans"/>
                <a:sym typeface="Open Sans"/>
              </a:rPr>
              <a:t>Shayaun Nejad</a:t>
            </a:r>
            <a:endParaRPr b="0" i="0" sz="1283" u="none" cap="none" strike="noStrike">
              <a:solidFill>
                <a:schemeClr val="dk1"/>
              </a:solidFill>
              <a:latin typeface="Calibri"/>
              <a:ea typeface="Calibri"/>
              <a:cs typeface="Calibri"/>
              <a:sym typeface="Calibri"/>
            </a:endParaRPr>
          </a:p>
        </p:txBody>
      </p:sp>
      <p:sp>
        <p:nvSpPr>
          <p:cNvPr id="313" name="Google Shape;313;p12"/>
          <p:cNvSpPr/>
          <p:nvPr/>
        </p:nvSpPr>
        <p:spPr>
          <a:xfrm>
            <a:off x="4643438" y="2576513"/>
            <a:ext cx="1209675" cy="385763"/>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1" lang="en-US" sz="855">
                <a:latin typeface="Open Sans"/>
                <a:ea typeface="Open Sans"/>
                <a:cs typeface="Open Sans"/>
                <a:sym typeface="Open Sans"/>
              </a:rPr>
              <a:t>shruti@theliminalspace.io
Founder &amp; CEO</a:t>
            </a:r>
            <a:r>
              <a:rPr b="1" i="0" lang="en-US" sz="855" u="none" cap="none" strike="noStrike">
                <a:solidFill>
                  <a:srgbClr val="000000"/>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a:p>
            <a:pPr indent="0" lvl="0" marL="0" marR="0" rtl="0" algn="l">
              <a:lnSpc>
                <a:spcPct val="129941"/>
              </a:lnSpc>
              <a:spcBef>
                <a:spcPts val="0"/>
              </a:spcBef>
              <a:spcAft>
                <a:spcPts val="0"/>
              </a:spcAft>
              <a:buClr>
                <a:srgbClr val="000000"/>
              </a:buClr>
              <a:buSzPts val="855"/>
              <a:buFont typeface="Open Sans"/>
              <a:buNone/>
            </a:pPr>
            <a:r>
              <a:rPr lang="en-US" sz="855">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sp>
        <p:nvSpPr>
          <p:cNvPr id="314" name="Google Shape;314;p12"/>
          <p:cNvSpPr/>
          <p:nvPr/>
        </p:nvSpPr>
        <p:spPr>
          <a:xfrm>
            <a:off x="6729413" y="2581275"/>
            <a:ext cx="1223963" cy="385763"/>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1" lang="en-US" sz="855">
                <a:latin typeface="Open Sans"/>
                <a:ea typeface="Open Sans"/>
                <a:cs typeface="Open Sans"/>
                <a:sym typeface="Open Sans"/>
              </a:rPr>
              <a:t>github.com/allsmog
Co-Builder</a:t>
            </a:r>
            <a:r>
              <a:rPr b="1" i="0" lang="en-US" sz="855" u="none" cap="none" strike="noStrike">
                <a:solidFill>
                  <a:srgbClr val="000000"/>
                </a:solidFill>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a:p>
            <a:pPr indent="0" lvl="0" marL="0" marR="0" rtl="0" algn="l">
              <a:lnSpc>
                <a:spcPct val="129941"/>
              </a:lnSpc>
              <a:spcBef>
                <a:spcPts val="0"/>
              </a:spcBef>
              <a:spcAft>
                <a:spcPts val="0"/>
              </a:spcAft>
              <a:buClr>
                <a:srgbClr val="000000"/>
              </a:buClr>
              <a:buSzPts val="855"/>
              <a:buFont typeface="Open Sans"/>
              <a:buNone/>
            </a:pPr>
            <a:r>
              <a:rPr lang="en-US" sz="855">
                <a:latin typeface="Open Sans"/>
                <a:ea typeface="Open Sans"/>
                <a:cs typeface="Open Sans"/>
                <a:sym typeface="Open Sans"/>
              </a:rPr>
              <a:t/>
            </a:r>
            <a:endParaRPr b="0" i="0" sz="855"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9F5"/>
        </a:solidFill>
      </p:bgPr>
    </p:bg>
    <p:spTree>
      <p:nvGrpSpPr>
        <p:cNvPr id="319" name="Shape 319"/>
        <p:cNvGrpSpPr/>
        <p:nvPr/>
      </p:nvGrpSpPr>
      <p:grpSpPr>
        <a:xfrm>
          <a:off x="0" y="0"/>
          <a:ext cx="0" cy="0"/>
          <a:chOff x="0" y="0"/>
          <a:chExt cx="0" cy="0"/>
        </a:xfrm>
      </p:grpSpPr>
      <p:sp>
        <p:nvSpPr>
          <p:cNvPr id="320" name="Google Shape;320;p13"/>
          <p:cNvSpPr/>
          <p:nvPr/>
        </p:nvSpPr>
        <p:spPr>
          <a:xfrm>
            <a:off x="476250" y="219075"/>
            <a:ext cx="604838"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STYLE GUIDE</a:t>
            </a:r>
            <a:endParaRPr b="0" i="0" sz="713" u="none" cap="none" strike="noStrike">
              <a:solidFill>
                <a:schemeClr val="dk1"/>
              </a:solidFill>
              <a:latin typeface="Calibri"/>
              <a:ea typeface="Calibri"/>
              <a:cs typeface="Calibri"/>
              <a:sym typeface="Calibri"/>
            </a:endParaRPr>
          </a:p>
        </p:txBody>
      </p:sp>
      <p:cxnSp>
        <p:nvCxnSpPr>
          <p:cNvPr id="321" name="Google Shape;321;p13"/>
          <p:cNvCxnSpPr/>
          <p:nvPr/>
        </p:nvCxnSpPr>
        <p:spPr>
          <a:xfrm>
            <a:off x="476250" y="552450"/>
            <a:ext cx="8177213" cy="0"/>
          </a:xfrm>
          <a:prstGeom prst="straightConnector1">
            <a:avLst/>
          </a:prstGeom>
          <a:noFill/>
          <a:ln cap="flat" cmpd="sng" w="9525">
            <a:solidFill>
              <a:srgbClr val="000000"/>
            </a:solidFill>
            <a:prstDash val="solid"/>
            <a:round/>
            <a:headEnd len="sm" w="sm" type="none"/>
            <a:tailEnd len="sm" w="sm" type="none"/>
          </a:ln>
        </p:spPr>
      </p:cxnSp>
      <p:pic>
        <p:nvPicPr>
          <p:cNvPr descr="preencoded.png" id="322" name="Google Shape;322;p13"/>
          <p:cNvPicPr preferRelativeResize="0"/>
          <p:nvPr/>
        </p:nvPicPr>
        <p:blipFill rotWithShape="1">
          <a:blip r:embed="rId3">
            <a:alphaModFix/>
          </a:blip>
          <a:srcRect b="0" l="0" r="0" t="0"/>
          <a:stretch/>
        </p:blipFill>
        <p:spPr>
          <a:xfrm>
            <a:off x="7905750" y="204788"/>
            <a:ext cx="748308" cy="142875"/>
          </a:xfrm>
          <a:prstGeom prst="rect">
            <a:avLst/>
          </a:prstGeom>
          <a:noFill/>
          <a:ln>
            <a:noFill/>
          </a:ln>
        </p:spPr>
      </p:pic>
      <p:pic>
        <p:nvPicPr>
          <p:cNvPr descr="preencoded.png" id="323" name="Google Shape;323;p13"/>
          <p:cNvPicPr preferRelativeResize="0"/>
          <p:nvPr/>
        </p:nvPicPr>
        <p:blipFill rotWithShape="1">
          <a:blip r:embed="rId4">
            <a:alphaModFix/>
          </a:blip>
          <a:srcRect b="0" l="0" r="0" t="0"/>
          <a:stretch/>
        </p:blipFill>
        <p:spPr>
          <a:xfrm>
            <a:off x="6734175" y="1452563"/>
            <a:ext cx="1591866" cy="381000"/>
          </a:xfrm>
          <a:prstGeom prst="rect">
            <a:avLst/>
          </a:prstGeom>
          <a:noFill/>
          <a:ln>
            <a:noFill/>
          </a:ln>
        </p:spPr>
      </p:pic>
      <p:sp>
        <p:nvSpPr>
          <p:cNvPr id="324" name="Google Shape;324;p13"/>
          <p:cNvSpPr/>
          <p:nvPr/>
        </p:nvSpPr>
        <p:spPr>
          <a:xfrm>
            <a:off x="476250" y="709613"/>
            <a:ext cx="1743075"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Typography</a:t>
            </a:r>
            <a:endParaRPr b="0" i="0" sz="2850" u="none" cap="none" strike="noStrike">
              <a:solidFill>
                <a:schemeClr val="dk1"/>
              </a:solidFill>
              <a:latin typeface="Calibri"/>
              <a:ea typeface="Calibri"/>
              <a:cs typeface="Calibri"/>
              <a:sym typeface="Calibri"/>
            </a:endParaRPr>
          </a:p>
        </p:txBody>
      </p:sp>
      <p:sp>
        <p:nvSpPr>
          <p:cNvPr id="325" name="Google Shape;325;p13"/>
          <p:cNvSpPr/>
          <p:nvPr/>
        </p:nvSpPr>
        <p:spPr>
          <a:xfrm>
            <a:off x="3852863" y="709613"/>
            <a:ext cx="1743075"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Colors</a:t>
            </a:r>
            <a:endParaRPr b="0" i="0" sz="2850" u="none" cap="none" strike="noStrike">
              <a:solidFill>
                <a:schemeClr val="dk1"/>
              </a:solidFill>
              <a:latin typeface="Calibri"/>
              <a:ea typeface="Calibri"/>
              <a:cs typeface="Calibri"/>
              <a:sym typeface="Calibri"/>
            </a:endParaRPr>
          </a:p>
        </p:txBody>
      </p:sp>
      <p:sp>
        <p:nvSpPr>
          <p:cNvPr id="326" name="Google Shape;326;p13"/>
          <p:cNvSpPr/>
          <p:nvPr/>
        </p:nvSpPr>
        <p:spPr>
          <a:xfrm>
            <a:off x="6729413" y="709613"/>
            <a:ext cx="1743000"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Logos</a:t>
            </a:r>
            <a:endParaRPr b="0" i="0" sz="2850" u="none" cap="none" strike="noStrike">
              <a:solidFill>
                <a:schemeClr val="dk1"/>
              </a:solidFill>
              <a:latin typeface="Calibri"/>
              <a:ea typeface="Calibri"/>
              <a:cs typeface="Calibri"/>
              <a:sym typeface="Calibri"/>
            </a:endParaRPr>
          </a:p>
        </p:txBody>
      </p:sp>
      <p:sp>
        <p:nvSpPr>
          <p:cNvPr id="327" name="Google Shape;327;p13"/>
          <p:cNvSpPr/>
          <p:nvPr/>
        </p:nvSpPr>
        <p:spPr>
          <a:xfrm>
            <a:off x="476250" y="1285875"/>
            <a:ext cx="2633663" cy="3462338"/>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3"/>
          <p:cNvSpPr/>
          <p:nvPr/>
        </p:nvSpPr>
        <p:spPr>
          <a:xfrm>
            <a:off x="476250" y="1285875"/>
            <a:ext cx="2633663" cy="108585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9" name="Google Shape;329;p13"/>
          <p:cNvSpPr/>
          <p:nvPr/>
        </p:nvSpPr>
        <p:spPr>
          <a:xfrm>
            <a:off x="476250" y="1285875"/>
            <a:ext cx="2633663" cy="9525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00000"/>
              </a:buClr>
              <a:buSzPts val="7125"/>
              <a:buFont typeface="Neuton"/>
              <a:buNone/>
            </a:pPr>
            <a:r>
              <a:rPr b="0" i="0" lang="en-US" sz="7125" u="none" cap="none" strike="noStrike">
                <a:solidFill>
                  <a:srgbClr val="000000"/>
                </a:solidFill>
                <a:latin typeface="Neuton"/>
                <a:ea typeface="Neuton"/>
                <a:cs typeface="Neuton"/>
                <a:sym typeface="Neuton"/>
              </a:rPr>
              <a:t>Header</a:t>
            </a:r>
            <a:endParaRPr b="0" i="0" sz="7125" u="none" cap="none" strike="noStrike">
              <a:solidFill>
                <a:schemeClr val="dk1"/>
              </a:solidFill>
              <a:latin typeface="Calibri"/>
              <a:ea typeface="Calibri"/>
              <a:cs typeface="Calibri"/>
              <a:sym typeface="Calibri"/>
            </a:endParaRPr>
          </a:p>
        </p:txBody>
      </p:sp>
      <p:sp>
        <p:nvSpPr>
          <p:cNvPr id="330" name="Google Shape;330;p13"/>
          <p:cNvSpPr/>
          <p:nvPr/>
        </p:nvSpPr>
        <p:spPr>
          <a:xfrm>
            <a:off x="476250" y="2266950"/>
            <a:ext cx="2633663" cy="104775"/>
          </a:xfrm>
          <a:prstGeom prst="rect">
            <a:avLst/>
          </a:prstGeom>
          <a:noFill/>
          <a:ln>
            <a:noFill/>
          </a:ln>
        </p:spPr>
        <p:txBody>
          <a:bodyPr anchorCtr="0" anchor="ctr" bIns="0" lIns="0" spcFirstLastPara="1" rIns="0" wrap="square" tIns="0">
            <a:noAutofit/>
          </a:bodyPr>
          <a:lstStyle/>
          <a:p>
            <a:pPr indent="0" lvl="0" marL="0" marR="0" rtl="0" algn="l">
              <a:lnSpc>
                <a:spcPct val="120124"/>
              </a:lnSpc>
              <a:spcBef>
                <a:spcPts val="0"/>
              </a:spcBef>
              <a:spcAft>
                <a:spcPts val="0"/>
              </a:spcAft>
              <a:buClr>
                <a:srgbClr val="7A7A7A"/>
              </a:buClr>
              <a:buSzPts val="641"/>
              <a:buFont typeface="Open Sans"/>
              <a:buNone/>
            </a:pPr>
            <a:r>
              <a:rPr b="0" i="0" lang="en-US" sz="641" u="none" cap="none" strike="noStrike">
                <a:solidFill>
                  <a:srgbClr val="7A7A7A"/>
                </a:solidFill>
                <a:latin typeface="Open Sans"/>
                <a:ea typeface="Open Sans"/>
                <a:cs typeface="Open Sans"/>
                <a:sym typeface="Open Sans"/>
              </a:rPr>
              <a:t>NEUTON, LIGHT</a:t>
            </a:r>
            <a:endParaRPr b="0" i="0" sz="641" u="none" cap="none" strike="noStrike">
              <a:solidFill>
                <a:schemeClr val="dk1"/>
              </a:solidFill>
              <a:latin typeface="Calibri"/>
              <a:ea typeface="Calibri"/>
              <a:cs typeface="Calibri"/>
              <a:sym typeface="Calibri"/>
            </a:endParaRPr>
          </a:p>
        </p:txBody>
      </p:sp>
      <p:sp>
        <p:nvSpPr>
          <p:cNvPr id="331" name="Google Shape;331;p13"/>
          <p:cNvSpPr/>
          <p:nvPr/>
        </p:nvSpPr>
        <p:spPr>
          <a:xfrm>
            <a:off x="476250" y="2514600"/>
            <a:ext cx="1171575" cy="55245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2" name="Google Shape;332;p13"/>
          <p:cNvSpPr/>
          <p:nvPr/>
        </p:nvSpPr>
        <p:spPr>
          <a:xfrm>
            <a:off x="476250" y="2514600"/>
            <a:ext cx="1171575" cy="419100"/>
          </a:xfrm>
          <a:prstGeom prst="rect">
            <a:avLst/>
          </a:prstGeom>
          <a:noFill/>
          <a:ln>
            <a:noFill/>
          </a:ln>
        </p:spPr>
        <p:txBody>
          <a:bodyPr anchorCtr="0" anchor="ctr" bIns="0" lIns="0" spcFirstLastPara="1" rIns="0" wrap="square" tIns="0">
            <a:noAutofit/>
          </a:bodyPr>
          <a:lstStyle/>
          <a:p>
            <a:pPr indent="0" lvl="0" marL="0" marR="0" rtl="0" algn="l">
              <a:lnSpc>
                <a:spcPct val="110000"/>
              </a:lnSpc>
              <a:spcBef>
                <a:spcPts val="0"/>
              </a:spcBef>
              <a:spcAft>
                <a:spcPts val="0"/>
              </a:spcAft>
              <a:buClr>
                <a:srgbClr val="000000"/>
              </a:buClr>
              <a:buSzPts val="2850"/>
              <a:buFont typeface="Neuton"/>
              <a:buNone/>
            </a:pPr>
            <a:r>
              <a:rPr b="0" i="0" lang="en-US" sz="2850" u="none" cap="none" strike="noStrike">
                <a:solidFill>
                  <a:srgbClr val="000000"/>
                </a:solidFill>
                <a:latin typeface="Neuton"/>
                <a:ea typeface="Neuton"/>
                <a:cs typeface="Neuton"/>
                <a:sym typeface="Neuton"/>
              </a:rPr>
              <a:t>Title</a:t>
            </a:r>
            <a:endParaRPr b="0" i="0" sz="2850" u="none" cap="none" strike="noStrike">
              <a:solidFill>
                <a:schemeClr val="dk1"/>
              </a:solidFill>
              <a:latin typeface="Calibri"/>
              <a:ea typeface="Calibri"/>
              <a:cs typeface="Calibri"/>
              <a:sym typeface="Calibri"/>
            </a:endParaRPr>
          </a:p>
        </p:txBody>
      </p:sp>
      <p:sp>
        <p:nvSpPr>
          <p:cNvPr id="333" name="Google Shape;333;p13"/>
          <p:cNvSpPr/>
          <p:nvPr/>
        </p:nvSpPr>
        <p:spPr>
          <a:xfrm>
            <a:off x="476250" y="2962275"/>
            <a:ext cx="1171575" cy="104775"/>
          </a:xfrm>
          <a:prstGeom prst="rect">
            <a:avLst/>
          </a:prstGeom>
          <a:noFill/>
          <a:ln>
            <a:noFill/>
          </a:ln>
        </p:spPr>
        <p:txBody>
          <a:bodyPr anchorCtr="0" anchor="ctr" bIns="0" lIns="0" spcFirstLastPara="1" rIns="0" wrap="square" tIns="0">
            <a:noAutofit/>
          </a:bodyPr>
          <a:lstStyle/>
          <a:p>
            <a:pPr indent="0" lvl="0" marL="0" marR="0" rtl="0" algn="l">
              <a:lnSpc>
                <a:spcPct val="120124"/>
              </a:lnSpc>
              <a:spcBef>
                <a:spcPts val="0"/>
              </a:spcBef>
              <a:spcAft>
                <a:spcPts val="0"/>
              </a:spcAft>
              <a:buClr>
                <a:srgbClr val="7A7A7A"/>
              </a:buClr>
              <a:buSzPts val="641"/>
              <a:buFont typeface="Open Sans"/>
              <a:buNone/>
            </a:pPr>
            <a:r>
              <a:rPr b="0" i="0" lang="en-US" sz="641" u="none" cap="none" strike="noStrike">
                <a:solidFill>
                  <a:srgbClr val="7A7A7A"/>
                </a:solidFill>
                <a:latin typeface="Open Sans"/>
                <a:ea typeface="Open Sans"/>
                <a:cs typeface="Open Sans"/>
                <a:sym typeface="Open Sans"/>
              </a:rPr>
              <a:t>NEUTON, LIGHT</a:t>
            </a:r>
            <a:endParaRPr b="0" i="0" sz="641" u="none" cap="none" strike="noStrike">
              <a:solidFill>
                <a:schemeClr val="dk1"/>
              </a:solidFill>
              <a:latin typeface="Calibri"/>
              <a:ea typeface="Calibri"/>
              <a:cs typeface="Calibri"/>
              <a:sym typeface="Calibri"/>
            </a:endParaRPr>
          </a:p>
        </p:txBody>
      </p:sp>
      <p:sp>
        <p:nvSpPr>
          <p:cNvPr id="334" name="Google Shape;334;p13"/>
          <p:cNvSpPr/>
          <p:nvPr/>
        </p:nvSpPr>
        <p:spPr>
          <a:xfrm>
            <a:off x="476250" y="3209925"/>
            <a:ext cx="1400175" cy="338138"/>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5" name="Google Shape;335;p13"/>
          <p:cNvSpPr/>
          <p:nvPr/>
        </p:nvSpPr>
        <p:spPr>
          <a:xfrm>
            <a:off x="476250" y="3209925"/>
            <a:ext cx="1400175" cy="204788"/>
          </a:xfrm>
          <a:prstGeom prst="rect">
            <a:avLst/>
          </a:prstGeom>
          <a:noFill/>
          <a:ln>
            <a:noFill/>
          </a:ln>
        </p:spPr>
        <p:txBody>
          <a:bodyPr anchorCtr="0" anchor="ctr" bIns="0" lIns="0" spcFirstLastPara="1" rIns="0" wrap="square" tIns="0">
            <a:noAutofit/>
          </a:bodyPr>
          <a:lstStyle/>
          <a:p>
            <a:pPr indent="0" lvl="0" marL="0" marR="0" rtl="0" algn="l">
              <a:lnSpc>
                <a:spcPct val="119953"/>
              </a:lnSpc>
              <a:spcBef>
                <a:spcPts val="0"/>
              </a:spcBef>
              <a:spcAft>
                <a:spcPts val="0"/>
              </a:spcAft>
              <a:buClr>
                <a:srgbClr val="000000"/>
              </a:buClr>
              <a:buSzPts val="1283"/>
              <a:buFont typeface="Open Sans"/>
              <a:buNone/>
            </a:pPr>
            <a:r>
              <a:rPr b="0" i="0" lang="en-US" sz="1283" u="none" cap="none" strike="noStrike">
                <a:solidFill>
                  <a:srgbClr val="000000"/>
                </a:solidFill>
                <a:latin typeface="Open Sans"/>
                <a:ea typeface="Open Sans"/>
                <a:cs typeface="Open Sans"/>
                <a:sym typeface="Open Sans"/>
              </a:rPr>
              <a:t>Body Large</a:t>
            </a:r>
            <a:endParaRPr b="0" i="0" sz="1283" u="none" cap="none" strike="noStrike">
              <a:solidFill>
                <a:schemeClr val="dk1"/>
              </a:solidFill>
              <a:latin typeface="Calibri"/>
              <a:ea typeface="Calibri"/>
              <a:cs typeface="Calibri"/>
              <a:sym typeface="Calibri"/>
            </a:endParaRPr>
          </a:p>
        </p:txBody>
      </p:sp>
      <p:sp>
        <p:nvSpPr>
          <p:cNvPr id="336" name="Google Shape;336;p13"/>
          <p:cNvSpPr/>
          <p:nvPr/>
        </p:nvSpPr>
        <p:spPr>
          <a:xfrm>
            <a:off x="476250" y="3443288"/>
            <a:ext cx="1400175" cy="104775"/>
          </a:xfrm>
          <a:prstGeom prst="rect">
            <a:avLst/>
          </a:prstGeom>
          <a:noFill/>
          <a:ln>
            <a:noFill/>
          </a:ln>
        </p:spPr>
        <p:txBody>
          <a:bodyPr anchorCtr="0" anchor="ctr" bIns="0" lIns="0" spcFirstLastPara="1" rIns="0" wrap="square" tIns="0">
            <a:noAutofit/>
          </a:bodyPr>
          <a:lstStyle/>
          <a:p>
            <a:pPr indent="0" lvl="0" marL="0" marR="0" rtl="0" algn="l">
              <a:lnSpc>
                <a:spcPct val="120124"/>
              </a:lnSpc>
              <a:spcBef>
                <a:spcPts val="0"/>
              </a:spcBef>
              <a:spcAft>
                <a:spcPts val="0"/>
              </a:spcAft>
              <a:buClr>
                <a:srgbClr val="7A7A7A"/>
              </a:buClr>
              <a:buSzPts val="641"/>
              <a:buFont typeface="Open Sans"/>
              <a:buNone/>
            </a:pPr>
            <a:r>
              <a:rPr b="0" i="0" lang="en-US" sz="641" u="none" cap="none" strike="noStrike">
                <a:solidFill>
                  <a:srgbClr val="7A7A7A"/>
                </a:solidFill>
                <a:latin typeface="Open Sans"/>
                <a:ea typeface="Open Sans"/>
                <a:cs typeface="Open Sans"/>
                <a:sym typeface="Open Sans"/>
              </a:rPr>
              <a:t>OPEN SANS, REGULAR</a:t>
            </a:r>
            <a:endParaRPr b="0" i="0" sz="641" u="none" cap="none" strike="noStrike">
              <a:solidFill>
                <a:schemeClr val="dk1"/>
              </a:solidFill>
              <a:latin typeface="Calibri"/>
              <a:ea typeface="Calibri"/>
              <a:cs typeface="Calibri"/>
              <a:sym typeface="Calibri"/>
            </a:endParaRPr>
          </a:p>
        </p:txBody>
      </p:sp>
      <p:sp>
        <p:nvSpPr>
          <p:cNvPr id="337" name="Google Shape;337;p13"/>
          <p:cNvSpPr/>
          <p:nvPr/>
        </p:nvSpPr>
        <p:spPr>
          <a:xfrm>
            <a:off x="476250" y="3690937"/>
            <a:ext cx="1400175" cy="280988"/>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8" name="Google Shape;338;p13"/>
          <p:cNvSpPr/>
          <p:nvPr/>
        </p:nvSpPr>
        <p:spPr>
          <a:xfrm>
            <a:off x="476250" y="3690937"/>
            <a:ext cx="1400175" cy="147638"/>
          </a:xfrm>
          <a:prstGeom prst="rect">
            <a:avLst/>
          </a:prstGeom>
          <a:noFill/>
          <a:ln>
            <a:noFill/>
          </a:ln>
        </p:spPr>
        <p:txBody>
          <a:bodyPr anchorCtr="0" anchor="ctr" bIns="0" lIns="0" spcFirstLastPara="1" rIns="0" wrap="square" tIns="0">
            <a:noAutofit/>
          </a:bodyPr>
          <a:lstStyle/>
          <a:p>
            <a:pPr indent="0" lvl="0" marL="0" marR="0" rtl="0" algn="l">
              <a:lnSpc>
                <a:spcPct val="129941"/>
              </a:lnSpc>
              <a:spcBef>
                <a:spcPts val="0"/>
              </a:spcBef>
              <a:spcAft>
                <a:spcPts val="0"/>
              </a:spcAft>
              <a:buClr>
                <a:srgbClr val="000000"/>
              </a:buClr>
              <a:buSzPts val="855"/>
              <a:buFont typeface="Open Sans"/>
              <a:buNone/>
            </a:pPr>
            <a:r>
              <a:rPr b="0" i="0" lang="en-US" sz="855" u="none" cap="none" strike="noStrike">
                <a:solidFill>
                  <a:srgbClr val="000000"/>
                </a:solidFill>
                <a:latin typeface="Open Sans"/>
                <a:ea typeface="Open Sans"/>
                <a:cs typeface="Open Sans"/>
                <a:sym typeface="Open Sans"/>
              </a:rPr>
              <a:t>Body Medium</a:t>
            </a:r>
            <a:endParaRPr b="0" i="0" sz="855" u="none" cap="none" strike="noStrike">
              <a:solidFill>
                <a:schemeClr val="dk1"/>
              </a:solidFill>
              <a:latin typeface="Calibri"/>
              <a:ea typeface="Calibri"/>
              <a:cs typeface="Calibri"/>
              <a:sym typeface="Calibri"/>
            </a:endParaRPr>
          </a:p>
        </p:txBody>
      </p:sp>
      <p:sp>
        <p:nvSpPr>
          <p:cNvPr id="339" name="Google Shape;339;p13"/>
          <p:cNvSpPr/>
          <p:nvPr/>
        </p:nvSpPr>
        <p:spPr>
          <a:xfrm>
            <a:off x="476250" y="3867150"/>
            <a:ext cx="1400175" cy="104775"/>
          </a:xfrm>
          <a:prstGeom prst="rect">
            <a:avLst/>
          </a:prstGeom>
          <a:noFill/>
          <a:ln>
            <a:noFill/>
          </a:ln>
        </p:spPr>
        <p:txBody>
          <a:bodyPr anchorCtr="0" anchor="ctr" bIns="0" lIns="0" spcFirstLastPara="1" rIns="0" wrap="square" tIns="0">
            <a:noAutofit/>
          </a:bodyPr>
          <a:lstStyle/>
          <a:p>
            <a:pPr indent="0" lvl="0" marL="0" marR="0" rtl="0" algn="l">
              <a:lnSpc>
                <a:spcPct val="120124"/>
              </a:lnSpc>
              <a:spcBef>
                <a:spcPts val="0"/>
              </a:spcBef>
              <a:spcAft>
                <a:spcPts val="0"/>
              </a:spcAft>
              <a:buClr>
                <a:srgbClr val="7A7A7A"/>
              </a:buClr>
              <a:buSzPts val="641"/>
              <a:buFont typeface="Open Sans"/>
              <a:buNone/>
            </a:pPr>
            <a:r>
              <a:rPr b="0" i="0" lang="en-US" sz="641" u="none" cap="none" strike="noStrike">
                <a:solidFill>
                  <a:srgbClr val="7A7A7A"/>
                </a:solidFill>
                <a:latin typeface="Open Sans"/>
                <a:ea typeface="Open Sans"/>
                <a:cs typeface="Open Sans"/>
                <a:sym typeface="Open Sans"/>
              </a:rPr>
              <a:t>OPEN SANS, REGULAR</a:t>
            </a:r>
            <a:endParaRPr b="0" i="0" sz="641" u="none" cap="none" strike="noStrike">
              <a:solidFill>
                <a:schemeClr val="dk1"/>
              </a:solidFill>
              <a:latin typeface="Calibri"/>
              <a:ea typeface="Calibri"/>
              <a:cs typeface="Calibri"/>
              <a:sym typeface="Calibri"/>
            </a:endParaRPr>
          </a:p>
        </p:txBody>
      </p:sp>
      <p:sp>
        <p:nvSpPr>
          <p:cNvPr id="340" name="Google Shape;340;p13"/>
          <p:cNvSpPr/>
          <p:nvPr/>
        </p:nvSpPr>
        <p:spPr>
          <a:xfrm>
            <a:off x="476250" y="4114800"/>
            <a:ext cx="1400175" cy="242888"/>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1" name="Google Shape;341;p13"/>
          <p:cNvSpPr/>
          <p:nvPr/>
        </p:nvSpPr>
        <p:spPr>
          <a:xfrm>
            <a:off x="476250" y="4114800"/>
            <a:ext cx="1400175" cy="109538"/>
          </a:xfrm>
          <a:prstGeom prst="rect">
            <a:avLst/>
          </a:prstGeom>
          <a:noFill/>
          <a:ln>
            <a:noFill/>
          </a:ln>
        </p:spPr>
        <p:txBody>
          <a:bodyPr anchorCtr="0" anchor="ctr" bIns="0" lIns="0" spcFirstLastPara="1" rIns="0" wrap="square" tIns="0">
            <a:noAutofit/>
          </a:bodyPr>
          <a:lstStyle/>
          <a:p>
            <a:pPr indent="0" lvl="0" marL="0" marR="0" rtl="0" algn="l">
              <a:lnSpc>
                <a:spcPct val="130109"/>
              </a:lnSpc>
              <a:spcBef>
                <a:spcPts val="0"/>
              </a:spcBef>
              <a:spcAft>
                <a:spcPts val="0"/>
              </a:spcAft>
              <a:buClr>
                <a:srgbClr val="000000"/>
              </a:buClr>
              <a:buSzPts val="641"/>
              <a:buFont typeface="Open Sans"/>
              <a:buNone/>
            </a:pPr>
            <a:r>
              <a:rPr b="0" i="0" lang="en-US" sz="641" u="none" cap="none" strike="noStrike">
                <a:solidFill>
                  <a:srgbClr val="000000"/>
                </a:solidFill>
                <a:latin typeface="Open Sans"/>
                <a:ea typeface="Open Sans"/>
                <a:cs typeface="Open Sans"/>
                <a:sym typeface="Open Sans"/>
              </a:rPr>
              <a:t>Body Small</a:t>
            </a:r>
            <a:endParaRPr b="0" i="0" sz="641" u="none" cap="none" strike="noStrike">
              <a:solidFill>
                <a:schemeClr val="dk1"/>
              </a:solidFill>
              <a:latin typeface="Calibri"/>
              <a:ea typeface="Calibri"/>
              <a:cs typeface="Calibri"/>
              <a:sym typeface="Calibri"/>
            </a:endParaRPr>
          </a:p>
        </p:txBody>
      </p:sp>
      <p:sp>
        <p:nvSpPr>
          <p:cNvPr id="342" name="Google Shape;342;p13"/>
          <p:cNvSpPr/>
          <p:nvPr/>
        </p:nvSpPr>
        <p:spPr>
          <a:xfrm>
            <a:off x="476250" y="4252913"/>
            <a:ext cx="1400175" cy="104775"/>
          </a:xfrm>
          <a:prstGeom prst="rect">
            <a:avLst/>
          </a:prstGeom>
          <a:noFill/>
          <a:ln>
            <a:noFill/>
          </a:ln>
        </p:spPr>
        <p:txBody>
          <a:bodyPr anchorCtr="0" anchor="ctr" bIns="0" lIns="0" spcFirstLastPara="1" rIns="0" wrap="square" tIns="0">
            <a:noAutofit/>
          </a:bodyPr>
          <a:lstStyle/>
          <a:p>
            <a:pPr indent="0" lvl="0" marL="0" marR="0" rtl="0" algn="l">
              <a:lnSpc>
                <a:spcPct val="120124"/>
              </a:lnSpc>
              <a:spcBef>
                <a:spcPts val="0"/>
              </a:spcBef>
              <a:spcAft>
                <a:spcPts val="0"/>
              </a:spcAft>
              <a:buClr>
                <a:srgbClr val="7A7A7A"/>
              </a:buClr>
              <a:buSzPts val="641"/>
              <a:buFont typeface="Open Sans"/>
              <a:buNone/>
            </a:pPr>
            <a:r>
              <a:rPr b="0" i="0" lang="en-US" sz="641" u="none" cap="none" strike="noStrike">
                <a:solidFill>
                  <a:srgbClr val="7A7A7A"/>
                </a:solidFill>
                <a:latin typeface="Open Sans"/>
                <a:ea typeface="Open Sans"/>
                <a:cs typeface="Open Sans"/>
                <a:sym typeface="Open Sans"/>
              </a:rPr>
              <a:t>OPEN SANS, REGULAR</a:t>
            </a:r>
            <a:endParaRPr b="0" i="0" sz="641" u="none" cap="none" strike="noStrike">
              <a:solidFill>
                <a:schemeClr val="dk1"/>
              </a:solidFill>
              <a:latin typeface="Calibri"/>
              <a:ea typeface="Calibri"/>
              <a:cs typeface="Calibri"/>
              <a:sym typeface="Calibri"/>
            </a:endParaRPr>
          </a:p>
        </p:txBody>
      </p:sp>
      <p:sp>
        <p:nvSpPr>
          <p:cNvPr id="343" name="Google Shape;343;p13"/>
          <p:cNvSpPr/>
          <p:nvPr/>
        </p:nvSpPr>
        <p:spPr>
          <a:xfrm>
            <a:off x="476250" y="4500563"/>
            <a:ext cx="1400175" cy="24765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4" name="Google Shape;344;p13"/>
          <p:cNvSpPr/>
          <p:nvPr/>
        </p:nvSpPr>
        <p:spPr>
          <a:xfrm>
            <a:off x="476250" y="4500563"/>
            <a:ext cx="140017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LABEL</a:t>
            </a:r>
            <a:endParaRPr b="1" i="0" sz="713" u="none" cap="none" strike="noStrike">
              <a:solidFill>
                <a:schemeClr val="dk1"/>
              </a:solidFill>
              <a:latin typeface="Open Sans"/>
              <a:ea typeface="Open Sans"/>
              <a:cs typeface="Open Sans"/>
              <a:sym typeface="Open Sans"/>
            </a:endParaRPr>
          </a:p>
        </p:txBody>
      </p:sp>
      <p:sp>
        <p:nvSpPr>
          <p:cNvPr id="345" name="Google Shape;345;p13"/>
          <p:cNvSpPr/>
          <p:nvPr/>
        </p:nvSpPr>
        <p:spPr>
          <a:xfrm>
            <a:off x="476250" y="4643438"/>
            <a:ext cx="1400175" cy="104775"/>
          </a:xfrm>
          <a:prstGeom prst="rect">
            <a:avLst/>
          </a:prstGeom>
          <a:noFill/>
          <a:ln>
            <a:noFill/>
          </a:ln>
        </p:spPr>
        <p:txBody>
          <a:bodyPr anchorCtr="0" anchor="ctr" bIns="0" lIns="0" spcFirstLastPara="1" rIns="0" wrap="square" tIns="0">
            <a:noAutofit/>
          </a:bodyPr>
          <a:lstStyle/>
          <a:p>
            <a:pPr indent="0" lvl="0" marL="0" marR="0" rtl="0" algn="l">
              <a:lnSpc>
                <a:spcPct val="120124"/>
              </a:lnSpc>
              <a:spcBef>
                <a:spcPts val="0"/>
              </a:spcBef>
              <a:spcAft>
                <a:spcPts val="0"/>
              </a:spcAft>
              <a:buClr>
                <a:srgbClr val="7A7A7A"/>
              </a:buClr>
              <a:buSzPts val="641"/>
              <a:buFont typeface="Open Sans"/>
              <a:buNone/>
            </a:pPr>
            <a:r>
              <a:rPr b="0" i="0" lang="en-US" sz="641" u="none" cap="none" strike="noStrike">
                <a:solidFill>
                  <a:srgbClr val="7A7A7A"/>
                </a:solidFill>
                <a:latin typeface="Open Sans"/>
                <a:ea typeface="Open Sans"/>
                <a:cs typeface="Open Sans"/>
                <a:sym typeface="Open Sans"/>
              </a:rPr>
              <a:t>OPEN SANS, BOLD</a:t>
            </a:r>
            <a:endParaRPr b="0" i="0" sz="641" u="none" cap="none" strike="noStrike">
              <a:solidFill>
                <a:schemeClr val="dk1"/>
              </a:solidFill>
              <a:latin typeface="Calibri"/>
              <a:ea typeface="Calibri"/>
              <a:cs typeface="Calibri"/>
              <a:sym typeface="Calibri"/>
            </a:endParaRPr>
          </a:p>
        </p:txBody>
      </p:sp>
      <p:sp>
        <p:nvSpPr>
          <p:cNvPr id="346" name="Google Shape;346;p13"/>
          <p:cNvSpPr/>
          <p:nvPr/>
        </p:nvSpPr>
        <p:spPr>
          <a:xfrm>
            <a:off x="3852863" y="2124075"/>
            <a:ext cx="581025"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Brand Blue</a:t>
            </a:r>
            <a:endParaRPr b="0" i="0" sz="713" u="none" cap="none" strike="noStrike">
              <a:solidFill>
                <a:schemeClr val="dk1"/>
              </a:solidFill>
              <a:latin typeface="Calibri"/>
              <a:ea typeface="Calibri"/>
              <a:cs typeface="Calibri"/>
              <a:sym typeface="Calibri"/>
            </a:endParaRPr>
          </a:p>
        </p:txBody>
      </p:sp>
      <p:sp>
        <p:nvSpPr>
          <p:cNvPr id="347" name="Google Shape;347;p13"/>
          <p:cNvSpPr/>
          <p:nvPr/>
        </p:nvSpPr>
        <p:spPr>
          <a:xfrm>
            <a:off x="4648200" y="2124075"/>
            <a:ext cx="709613"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Brand Yellow</a:t>
            </a:r>
            <a:endParaRPr b="0" i="0" sz="713" u="none" cap="none" strike="noStrike">
              <a:solidFill>
                <a:schemeClr val="dk1"/>
              </a:solidFill>
              <a:latin typeface="Calibri"/>
              <a:ea typeface="Calibri"/>
              <a:cs typeface="Calibri"/>
              <a:sym typeface="Calibri"/>
            </a:endParaRPr>
          </a:p>
        </p:txBody>
      </p:sp>
      <p:sp>
        <p:nvSpPr>
          <p:cNvPr id="348" name="Google Shape;348;p13"/>
          <p:cNvSpPr/>
          <p:nvPr/>
        </p:nvSpPr>
        <p:spPr>
          <a:xfrm>
            <a:off x="3829050" y="3114675"/>
            <a:ext cx="709613"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Text Primary</a:t>
            </a:r>
            <a:endParaRPr b="0" i="0" sz="713" u="none" cap="none" strike="noStrike">
              <a:solidFill>
                <a:schemeClr val="dk1"/>
              </a:solidFill>
              <a:latin typeface="Calibri"/>
              <a:ea typeface="Calibri"/>
              <a:cs typeface="Calibri"/>
              <a:sym typeface="Calibri"/>
            </a:endParaRPr>
          </a:p>
        </p:txBody>
      </p:sp>
      <p:sp>
        <p:nvSpPr>
          <p:cNvPr id="349" name="Google Shape;349;p13"/>
          <p:cNvSpPr/>
          <p:nvPr/>
        </p:nvSpPr>
        <p:spPr>
          <a:xfrm>
            <a:off x="3867150" y="4057650"/>
            <a:ext cx="709613"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Bg Primary</a:t>
            </a:r>
            <a:endParaRPr b="0" i="0" sz="713" u="none" cap="none" strike="noStrike">
              <a:solidFill>
                <a:schemeClr val="dk1"/>
              </a:solidFill>
              <a:latin typeface="Calibri"/>
              <a:ea typeface="Calibri"/>
              <a:cs typeface="Calibri"/>
              <a:sym typeface="Calibri"/>
            </a:endParaRPr>
          </a:p>
        </p:txBody>
      </p:sp>
      <p:sp>
        <p:nvSpPr>
          <p:cNvPr id="350" name="Google Shape;350;p13"/>
          <p:cNvSpPr/>
          <p:nvPr/>
        </p:nvSpPr>
        <p:spPr>
          <a:xfrm>
            <a:off x="4643438" y="4057650"/>
            <a:ext cx="709613"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Bg Secondary</a:t>
            </a:r>
            <a:endParaRPr b="0" i="0" sz="713" u="none" cap="none" strike="noStrike">
              <a:solidFill>
                <a:schemeClr val="dk1"/>
              </a:solidFill>
              <a:latin typeface="Calibri"/>
              <a:ea typeface="Calibri"/>
              <a:cs typeface="Calibri"/>
              <a:sym typeface="Calibri"/>
            </a:endParaRPr>
          </a:p>
        </p:txBody>
      </p:sp>
      <p:sp>
        <p:nvSpPr>
          <p:cNvPr id="351" name="Google Shape;351;p13"/>
          <p:cNvSpPr/>
          <p:nvPr/>
        </p:nvSpPr>
        <p:spPr>
          <a:xfrm>
            <a:off x="4610100" y="3114675"/>
            <a:ext cx="842963"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Text Secondary</a:t>
            </a:r>
            <a:endParaRPr b="0" i="0" sz="713" u="none" cap="none" strike="noStrike">
              <a:solidFill>
                <a:schemeClr val="dk1"/>
              </a:solidFill>
              <a:latin typeface="Calibri"/>
              <a:ea typeface="Calibri"/>
              <a:cs typeface="Calibri"/>
              <a:sym typeface="Calibri"/>
            </a:endParaRPr>
          </a:p>
        </p:txBody>
      </p:sp>
      <p:sp>
        <p:nvSpPr>
          <p:cNvPr id="352" name="Google Shape;352;p13"/>
          <p:cNvSpPr/>
          <p:nvPr/>
        </p:nvSpPr>
        <p:spPr>
          <a:xfrm>
            <a:off x="5505450" y="3114675"/>
            <a:ext cx="842963" cy="114300"/>
          </a:xfrm>
          <a:prstGeom prst="rect">
            <a:avLst/>
          </a:prstGeom>
          <a:noFill/>
          <a:ln>
            <a:noFill/>
          </a:ln>
        </p:spPr>
        <p:txBody>
          <a:bodyPr anchorCtr="0" anchor="ctr" bIns="0" lIns="0" spcFirstLastPara="1" rIns="0" wrap="square" tIns="0">
            <a:noAutofit/>
          </a:bodyPr>
          <a:lstStyle/>
          <a:p>
            <a:pPr indent="0" lvl="0" marL="0" marR="0" rtl="0" algn="l">
              <a:lnSpc>
                <a:spcPct val="119915"/>
              </a:lnSpc>
              <a:spcBef>
                <a:spcPts val="0"/>
              </a:spcBef>
              <a:spcAft>
                <a:spcPts val="0"/>
              </a:spcAft>
              <a:buClr>
                <a:srgbClr val="000000"/>
              </a:buClr>
              <a:buSzPts val="713"/>
              <a:buFont typeface="Open Sans"/>
              <a:buNone/>
            </a:pPr>
            <a:r>
              <a:rPr b="1" i="0" lang="en-US" sz="713" u="none" cap="none" strike="noStrike">
                <a:solidFill>
                  <a:srgbClr val="000000"/>
                </a:solidFill>
                <a:latin typeface="Open Sans"/>
                <a:ea typeface="Open Sans"/>
                <a:cs typeface="Open Sans"/>
                <a:sym typeface="Open Sans"/>
              </a:rPr>
              <a:t>Text Inverse</a:t>
            </a:r>
            <a:endParaRPr b="0" i="0" sz="713" u="none" cap="none" strike="noStrike">
              <a:solidFill>
                <a:schemeClr val="dk1"/>
              </a:solidFill>
              <a:latin typeface="Calibri"/>
              <a:ea typeface="Calibri"/>
              <a:cs typeface="Calibri"/>
              <a:sym typeface="Calibri"/>
            </a:endParaRPr>
          </a:p>
        </p:txBody>
      </p:sp>
      <p:sp>
        <p:nvSpPr>
          <p:cNvPr id="353" name="Google Shape;353;p13"/>
          <p:cNvSpPr/>
          <p:nvPr/>
        </p:nvSpPr>
        <p:spPr>
          <a:xfrm>
            <a:off x="3852863" y="1500188"/>
            <a:ext cx="571500" cy="571500"/>
          </a:xfrm>
          <a:prstGeom prst="rect">
            <a:avLst/>
          </a:prstGeom>
          <a:solidFill>
            <a:srgbClr val="2DABC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4" name="Google Shape;354;p13"/>
          <p:cNvSpPr/>
          <p:nvPr/>
        </p:nvSpPr>
        <p:spPr>
          <a:xfrm>
            <a:off x="4662488" y="1500188"/>
            <a:ext cx="571500" cy="571500"/>
          </a:xfrm>
          <a:prstGeom prst="rect">
            <a:avLst/>
          </a:prstGeom>
          <a:solidFill>
            <a:srgbClr val="FFC53D"/>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5" name="Google Shape;355;p13"/>
          <p:cNvSpPr/>
          <p:nvPr/>
        </p:nvSpPr>
        <p:spPr>
          <a:xfrm>
            <a:off x="3852863" y="2476500"/>
            <a:ext cx="571500" cy="571500"/>
          </a:xfrm>
          <a:prstGeom prst="rect">
            <a:avLst/>
          </a:prstGeom>
          <a:solidFill>
            <a:srgbClr val="00000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 name="Google Shape;356;p13"/>
          <p:cNvSpPr/>
          <p:nvPr/>
        </p:nvSpPr>
        <p:spPr>
          <a:xfrm>
            <a:off x="5500688" y="2476500"/>
            <a:ext cx="571500" cy="571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 name="Google Shape;357;p13"/>
          <p:cNvSpPr/>
          <p:nvPr/>
        </p:nvSpPr>
        <p:spPr>
          <a:xfrm>
            <a:off x="4667250" y="2476500"/>
            <a:ext cx="571500" cy="571500"/>
          </a:xfrm>
          <a:prstGeom prst="rect">
            <a:avLst/>
          </a:prstGeom>
          <a:solidFill>
            <a:srgbClr val="7A7A7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 name="Google Shape;358;p13"/>
          <p:cNvSpPr/>
          <p:nvPr/>
        </p:nvSpPr>
        <p:spPr>
          <a:xfrm>
            <a:off x="4667250" y="3443288"/>
            <a:ext cx="571500" cy="571500"/>
          </a:xfrm>
          <a:prstGeom prst="rect">
            <a:avLst/>
          </a:prstGeom>
          <a:solidFill>
            <a:srgbClr val="EDE8D8"/>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 name="Google Shape;359;p13"/>
          <p:cNvSpPr/>
          <p:nvPr/>
        </p:nvSpPr>
        <p:spPr>
          <a:xfrm>
            <a:off x="3852863" y="3443288"/>
            <a:ext cx="571500" cy="571500"/>
          </a:xfrm>
          <a:prstGeom prst="rect">
            <a:avLst/>
          </a:prstGeom>
          <a:solidFill>
            <a:srgbClr val="FAF9F5"/>
          </a:solidFill>
          <a:ln cap="flat" cmpd="sng" w="9525">
            <a:solidFill>
              <a:srgbClr val="BBBBB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descr="preencoded.png" id="360" name="Google Shape;360;p13"/>
          <p:cNvPicPr preferRelativeResize="0"/>
          <p:nvPr/>
        </p:nvPicPr>
        <p:blipFill rotWithShape="1">
          <a:blip r:embed="rId5">
            <a:alphaModFix/>
          </a:blip>
          <a:srcRect b="0" l="0" r="0" t="0"/>
          <a:stretch/>
        </p:blipFill>
        <p:spPr>
          <a:xfrm>
            <a:off x="6734175" y="1990725"/>
            <a:ext cx="1600200" cy="390525"/>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2026-02-20T19:38:20Z</dcterms:created>
  <dc:creator>PptxGenJS</dc:creator>
</cp:coreProperties>
</file>